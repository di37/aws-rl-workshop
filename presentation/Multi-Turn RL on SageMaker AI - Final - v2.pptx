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1" r:id="rId5"/>
    <p:sldId id="283" r:id="rId6"/>
    <p:sldId id="274" r:id="rId7"/>
    <p:sldId id="272" r:id="rId8"/>
    <p:sldId id="284" r:id="rId9"/>
    <p:sldId id="273" r:id="rId10"/>
    <p:sldId id="275" r:id="rId11"/>
    <p:sldId id="277" r:id="rId12"/>
    <p:sldId id="285" r:id="rId13"/>
    <p:sldId id="262" r:id="rId14"/>
    <p:sldId id="287" r:id="rId15"/>
    <p:sldId id="288" r:id="rId16"/>
    <p:sldId id="289" r:id="rId17"/>
    <p:sldId id="290" r:id="rId18"/>
    <p:sldId id="291" r:id="rId19"/>
    <p:sldId id="292" r:id="rId20"/>
    <p:sldId id="265" r:id="rId21"/>
    <p:sldId id="293" r:id="rId22"/>
    <p:sldId id="267" r:id="rId23"/>
    <p:sldId id="281" r:id="rId24"/>
    <p:sldId id="280" r:id="rId25"/>
    <p:sldId id="27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73"/>
    <p:restoredTop sz="77434"/>
  </p:normalViewPr>
  <p:slideViewPr>
    <p:cSldViewPr snapToGrid="0" snapToObjects="1">
      <p:cViewPr varScale="1">
        <p:scale>
          <a:sx n="117" d="100"/>
          <a:sy n="117" d="100"/>
        </p:scale>
        <p:origin x="2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041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0:00 to 0:30 · Welcome</a:t>
            </a:r>
          </a:p>
          <a:p>
            <a:r>
              <a:rPr dirty="0"/>
              <a:t>Welcome. I'm Isham Rashik, AI Engineer at Future OS in Expo City Dubai. In the next 20 minutes: how an AI support agent learned to make better decisions across a whole conversation, using multi-turn reinforcement learning on Amazon SageMaker AI.</a:t>
            </a:r>
          </a:p>
          <a:p>
            <a:r>
              <a:rPr dirty="0"/>
              <a:t>Part 1 is the ideas, about 7 minutes, no </a:t>
            </a:r>
            <a:r>
              <a:rPr dirty="0" err="1"/>
              <a:t>maths</a:t>
            </a:r>
            <a:r>
              <a:rPr dirty="0"/>
              <a:t>. Part 2 is a real run on AWS with real numbers, about 10 minutes. Then your questions. Every number you'll see comes from runs on AWS on 1 and 2 October.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0:30 · Part 1 (a few seconds)</a:t>
            </a:r>
          </a:p>
          <a:p>
            <a:r>
              <a:rPr dirty="0"/>
              <a:t>Part 1: an introduction to reinforcement learning, then where SageMaker fits. Our robot says hello; it will learn a lot in the next 20 minutes. Move straight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0:30 to 1:30 · Three ways machines learn</a:t>
            </a:r>
          </a:p>
          <a:p>
            <a:r>
              <a:rPr dirty="0"/>
              <a:t>Supervised learning learns from answers, like flashcards with the answer on the back: show it thousands of photos tagged cat or dog, and it learns to tag new ones.</a:t>
            </a:r>
          </a:p>
          <a:p>
            <a:r>
              <a:rPr dirty="0"/>
              <a:t>Unsupervised learning finds groups by itself, like a shop sorting its customers by how they buy: big weekly shoppers, morning coffee regulars, bargain hunters. Nobody gave it those labels; it spotted the groups in the purchase data.</a:t>
            </a:r>
          </a:p>
          <a:p>
            <a:r>
              <a:rPr dirty="0"/>
              <a:t>Reinforcement learning learns from a score, by trial and error, like a new office coffee machine: you press buttons until coffee comes out, then remember which ones worked.</a:t>
            </a:r>
          </a:p>
          <a:p>
            <a:r>
              <a:rPr dirty="0"/>
              <a:t>The key difference: supervised learning needs the right answer for every example; reinforcement learning only needs a way to score the result. Our support agent is the third kind.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to 2:00 · Learning by trial and error</a:t>
            </a:r>
          </a:p>
          <a:p>
            <a:r>
              <a:t>Think of a child learning to ride a bike; here it's our robot. First try: it falls. Next tries: it wobbles. Eventually: it rides, and gets a star. Nobody hands it a manual; it learns from what happens.</a:t>
            </a:r>
          </a:p>
          <a:p>
            <a:r>
              <a:t>Notice the labels at the bottom: agent, environment, reward. The next slide shows how they fit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2:00 to 3:00 · The RL loop</a:t>
            </a:r>
          </a:p>
          <a:p>
            <a:r>
              <a:rPr dirty="0"/>
              <a:t>The words from the bike, plus one. The agent decides what to do: the rider. The environment is the world it acts in: the road. The state is what the agent sees right now: its speed and its wobble. The reward is how well it did: staying up.</a:t>
            </a:r>
          </a:p>
          <a:p>
            <a:r>
              <a:rPr dirty="0"/>
              <a:t>The loop: the agent reads the state and takes an action (pedal, steer). The environment answers with a new state and a reward. Then again, thousands of times. That's how AI agents learn to act, not just talk.</a:t>
            </a:r>
          </a:p>
          <a:p>
            <a:r>
              <a:rPr dirty="0"/>
              <a:t>Bridge to Part 2: same loop, different world. The agent is our support bot, the environment is a support simulator, the state is what the ticket looks like now (say, the router light is red), and the reward is 0.25 for every right step.</a:t>
            </a:r>
          </a:p>
          <a:p>
            <a:r>
              <a:rPr dirty="0"/>
              <a:t>If asked about the title: a Markov decision process, or MDP, is the textbook name for this loop. "Markov" means the next state depends only on the current state and the action, not on the whole history.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5:30 to 6:15 · Why not just…?</a:t>
            </a:r>
          </a:p>
          <a:p>
            <a:r>
              <a:rPr dirty="0"/>
              <a:t>Better instructions? A spoiler from Part 2: the model already had the rules and the list of moves in its instructions, and it still pulled the plug first. Instructions can't easily teach judgement across turns.</a:t>
            </a:r>
          </a:p>
          <a:p>
            <a:r>
              <a:rPr dirty="0"/>
              <a:t>Fine-tuning on examples? Someone has to write the perfect reply for every turn of every ticket, and the model only copies them; it never sees what its own moves lead to.</a:t>
            </a:r>
          </a:p>
          <a:p>
            <a:r>
              <a:rPr dirty="0"/>
              <a:t>Learning from a score needs only tickets and a way to score the result. That's our pick.</a:t>
            </a:r>
          </a:p>
          <a:p>
            <a:r>
              <a:rPr dirty="0"/>
              <a:t>Fine-tuning makes it sound right; RL makes it fix things.</a:t>
            </a:r>
          </a:p>
          <a:p>
            <a:r>
              <a:rPr dirty="0"/>
              <a:t>If asked: many teams do both, fine-tuning first for format and tone, then RL for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3:00 to 3:30 · How RL shaped the LLMs you use</a:t>
            </a:r>
          </a:p>
          <a:p>
            <a:r>
              <a:t>Pre-training is reading: a model reads a huge slice of the internet. That makes it fluent, not helpful. RL is what made it useful: in 2022 ChatGPT learned from human feedback; in 2024 reasoning models such as OpenAI o1 learned to think before answering; in 2025 DeepSeek-R1 put the recipe in the open; and now agents learn to act, which is this talk.</a:t>
            </a:r>
          </a:p>
          <a:p>
            <a:r>
              <a:t>Punchline: pre-training reads the internet; RL teaches it to behave. Next: the same RL loop inside ChatGPT and DeepSeek-R1.</a:t>
            </a:r>
          </a:p>
          <a:p>
            <a:r>
              <a:t>If asked: OpenAI's model card says GPT-OSS, the model we used, was itself post-trained with a large RL stage; we just gave it extra practice on our task.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3:30 to 4:15 · Same loop, two famous models</a:t>
            </a:r>
          </a:p>
          <a:p>
            <a:r>
              <a:rPr dirty="0"/>
              <a:t>The four words from the loop fit both of these models. Read it column by column.</a:t>
            </a:r>
          </a:p>
          <a:p>
            <a:r>
              <a:rPr dirty="0"/>
              <a:t>ChatGPT, 2022, trained with RLHF: the agent is the language model; the environment is conversations built from training prompts; the state is the prompt, the conversation so far and the reply generated so far; the reward is higher when people rank the reply as better. In practice a reward model, trained on those human rankings, does the scoring.</a:t>
            </a:r>
          </a:p>
          <a:p>
            <a:r>
              <a:rPr dirty="0"/>
              <a:t>DeepSeek-R1, 2025, reasoning RL: the agent is the DeepSeek model; the environment is reasoning problems and tasks; the state is the prompt plus its reasoning so far; the reward is for correct answers and desirable reasoning and output </a:t>
            </a:r>
            <a:r>
              <a:rPr dirty="0" err="1"/>
              <a:t>behaviour</a:t>
            </a:r>
            <a:r>
              <a:rPr dirty="0"/>
              <a:t> (its paper's rewards check accuracy and format).</a:t>
            </a:r>
          </a:p>
          <a:p>
            <a:r>
              <a:rPr dirty="0"/>
              <a:t>OpenAI o1, from the timeline, follows the same reasoning-RL idea as R1; R1's recipe is the one that's public.</a:t>
            </a:r>
          </a:p>
          <a:p>
            <a:r>
              <a:rPr dirty="0"/>
              <a:t>Next: our own support agent, in the same words.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6:15 to 6:45 · What multi-turn means</a:t>
            </a:r>
          </a:p>
          <a:p>
            <a:r>
              <a:rPr dirty="0"/>
              <a:t>Single turn: one question, one answer, done. Multi-turn: a whole conversation, where every move changes what happens next, like a support chat that has to end with the problem fixed.</a:t>
            </a:r>
          </a:p>
          <a:p>
            <a:r>
              <a:rPr dirty="0"/>
              <a:t>One good reply is not the same as finishing the job. So we score the whole conversation: in our run, a quarter point for every right step, and full marks only when the ticket is solved.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7:30 · Part 2 (a few seconds)</a:t>
            </a:r>
          </a:p>
          <a:p>
            <a:r>
              <a:t>Part 2: the demo, about 10 minutes. A real run on AWS on 1 and 2 October: a real agent, a real training job, real numbers.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7:30 to 8:30 · Meet our support agent</a:t>
            </a:r>
          </a:p>
          <a:p>
            <a:r>
              <a:rPr dirty="0"/>
              <a:t>Meet our support agent: a small AI agent running on Amazon Bedrock </a:t>
            </a:r>
            <a:r>
              <a:rPr dirty="0" err="1"/>
              <a:t>AgentCore</a:t>
            </a:r>
            <a:r>
              <a:rPr dirty="0"/>
              <a:t> with the GPT-OSS-20B model. The customer says: my internet is down. Its goal: fix it within 4 moves.</a:t>
            </a:r>
          </a:p>
          <a:p>
            <a:r>
              <a:rPr dirty="0"/>
              <a:t>Ask the room: what should it do first? Hands up for A, restart the router; B, check for an outage; C, close the ticket. Point at the small print: be honest, it's A.</a:t>
            </a:r>
          </a:p>
          <a:p>
            <a:r>
              <a:rPr dirty="0"/>
              <a:t>Then click: our robot pops up, already holding the plug. Most people pick A, and so did our AI before training. Let the laugh land, and hold that thought: it comes back in "Same ticket, two models".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4:15 to 5:00 · Same loop, our support agent</a:t>
            </a:r>
          </a:p>
          <a:p>
            <a:r>
              <a:rPr dirty="0"/>
              <a:t>Say it as the questions the agent asks itself. Agent: what should I do next? Environment: what happens after I act? State: what do I know right now? Action: which move do I make? Reward: did that move bring me closer to solving the ticket?</a:t>
            </a:r>
          </a:p>
          <a:p>
            <a:r>
              <a:rPr dirty="0"/>
              <a:t>In our run, the agent is the AI support agent deciding which troubleshooting step to take next. The environment is the support simulator, which responds to each action and updates what happens next. The state is the current ticket situation plus what has already happened in the conversation, for example "no outage nearby", "router light is red", "account settings are wrong". The actions are the moves: check outage, check router lights, check account, restart router, escalate, apply fix and so on. The reward is +0.25 for each helpful step and 1.0 when the ticket is fully solved; a wrong move gets no reward and uses up one of the limited turns.</a:t>
            </a:r>
          </a:p>
          <a:p>
            <a:r>
              <a:rPr dirty="0"/>
              <a:t>The full loop: a ticket comes in, the agent chooses an action, the simulator responds, a reward is given, and the agent learns to make better decisions next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6:45 to 7:30 · Where SageMaker fits</a:t>
            </a:r>
          </a:p>
          <a:p>
            <a:r>
              <a:rPr dirty="0"/>
              <a:t>Walk the loop once. SageMaker hands a ticket to our agent, which runs on Amazon Bedrock </a:t>
            </a:r>
            <a:r>
              <a:rPr dirty="0" err="1"/>
              <a:t>AgentCore</a:t>
            </a:r>
            <a:r>
              <a:rPr dirty="0"/>
              <a:t>. The agent asks the model, GPT-OSS-20B, for its next move. The environment, a support simulator, applies the move, says what happened and scores it: 0.25 per right step, 1.0 when solved.</a:t>
            </a:r>
          </a:p>
          <a:p>
            <a:r>
              <a:rPr dirty="0"/>
              <a:t>SageMaker then nudges a small add-on to the model, called </a:t>
            </a:r>
            <a:r>
              <a:rPr dirty="0" err="1"/>
              <a:t>LoRA</a:t>
            </a:r>
            <a:r>
              <a:rPr dirty="0"/>
              <a:t> (the base model stays unchanged), and runs the next round.</a:t>
            </a:r>
          </a:p>
          <a:p>
            <a:r>
              <a:rPr dirty="0"/>
              <a:t>It's serverless: you babysit zero GPUs, and you pay per token.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1 of 7: the data</a:t>
            </a:r>
          </a:p>
          <a:p>
            <a:r>
              <a:t>Two files and nothing else: 64 training tickets for practice, and 32 held-out tickets kept aside for the test. Each row is just the customer's opening message. There are no answers or labels; the simulator scores every move.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2 of 7: the training loop</a:t>
            </a:r>
          </a:p>
          <a:p>
            <a:r>
              <a:t>Each round takes 32 of the 64 tickets, and the agent tries each one four times: 128 conversations. Every conversation gets a score, then SageMaker nudges the model, only its small LoRA add-on, and the next round uses the updated model. Ten rounds: 1,280 conversations in 19.2 minutes for $2.83. Every training ticket comes up in five rounds, four tries each.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3 of 7: one conversation</a:t>
            </a:r>
          </a:p>
          <a:p>
            <a:r>
              <a:t>SageMaker hands a ticket to our agent on AgentCore. The agent asks GPT-OSS-20B what to do next, the model picks a move, and the simulator applies it and sends back the new state and the moves left. Up to four turns, or until it's solved; then the reward goes back to SageMaker. The base model stays frozen; only the LoRA add-on learns.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4 of 7: the simulator</a:t>
            </a:r>
          </a:p>
          <a:p>
            <a:r>
              <a:t>Four steps, one right move each: check for an outage, check the router lights, check the account, apply the fix. The wrong moves (restart or replace the router, escalate, close the ticket) leave the state unchanged and use up a turn. The order the moves are listed in is shuffled every time, so the model can't just learn positions.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5 of 7: the reward</a:t>
            </a:r>
          </a:p>
          <a:p>
            <a:r>
              <a:t>The reward is correct steps divided by four: 0.25 per correct step, and 1.0 only when the ticket is solved. One wrong move costs a turn, so the best it can then do is 0.75; two wrong moves, 0.5.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6 of 7: how it learns</a:t>
            </a:r>
          </a:p>
          <a:p>
            <a:r>
              <a:t>For each ticket, the four tries are compared with each other. Tries that score above their group's average make their moves more likely; tries below it make theirs less likely. No answer key, just better or worse than its own attempts. These four scores are an illustration. Across training, the average reward rose from 0.89 in round 1 to 0.96 in round 10.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10:30 to 12:00 · Training, recorded</a:t>
            </a:r>
          </a:p>
          <a:p>
            <a:r>
              <a:rPr dirty="0"/>
              <a:t>10 rounds × 32 tickets × 4 tries = 1,280 practice conversations, in 19 minutes: shorter than this talk. It cost $2.83, billed per token: cheaper than a cappuccino in Business Bay. The robot with the barbell: this is its gym.</a:t>
            </a:r>
          </a:p>
          <a:p>
            <a:r>
              <a:rPr dirty="0"/>
              <a:t>In plain words: 64 customer tickets, each </a:t>
            </a:r>
            <a:r>
              <a:rPr dirty="0" err="1"/>
              <a:t>practised</a:t>
            </a:r>
            <a:r>
              <a:rPr dirty="0"/>
              <a:t> 20 times. Each ticket comes up in 5 of the 10 rounds, with 4 tries each time.</a:t>
            </a:r>
          </a:p>
          <a:p>
            <a:r>
              <a:rPr dirty="0"/>
              <a:t>If asked why only 32 tickets a round: all 64 are used. 32 is the batch size, the number of tickets each learning update uses, so two rounds make one full pass over the 64 and ten rounds make five passes. Smaller batches give more learning updates for the same spend: the same 1,280 conversations make 10 updates instead of 5. Using all 64 in every round for 10 rounds would roughly double the time and the cost, to about 40 minutes and $5.70.</a:t>
            </a:r>
          </a:p>
          <a:p>
            <a:r>
              <a:rPr dirty="0"/>
              <a:t>The average score, with partial credit, climbed from 0.89 in round 1 to 0.96 in round 10; the chart starts at 0.8 so the change is visible.</a:t>
            </a:r>
          </a:p>
          <a:p>
            <a:r>
              <a:rPr dirty="0"/>
              <a:t>These are training tickets, so it could simply have got good at those. The real test is next: tickets it has never seen.</a:t>
            </a:r>
          </a:p>
          <a:p>
            <a:r>
              <a:rPr dirty="0"/>
              <a:t>Source: the SageMaker training job on 2 October 2026, 19.2 minutes. Optional: show the job in the SageMaker console, without zooming in on account IDs.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training works, step 7 of 7: the test</a:t>
            </a:r>
          </a:p>
          <a:p>
            <a:r>
              <a:t>Then the real test: 32 held-out tickets it never saw, two tries each, with the same agent and instructions, base model vs trained model. Fully solved went from 0.58 to 0.78, solved within two tries from 0.81 to 0.94, and the average score from 0.88 to 0.93.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13:00 to 14:00 · Not magic</a:t>
            </a:r>
          </a:p>
          <a:p>
            <a:r>
              <a:rPr dirty="0"/>
              <a:t>Each square is one of the 32 held-out tickets, comparing its average score before and after training: 13 got better, 13 stayed the same and 6 got worse.</a:t>
            </a:r>
          </a:p>
          <a:p>
            <a:r>
              <a:rPr dirty="0"/>
              <a:t>Like any team after a training day: most improve, a few have an off day. With only two test tries per ticket (training used four), single tickets are noisy, so judge the total: 58% to 78% fully solved. Real progress, not magic; more rounds and more data would tighten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16:30 to 17:30 · Audience vote</a:t>
            </a:r>
          </a:p>
          <a:p>
            <a:r>
              <a:rPr dirty="0"/>
              <a:t>Would you trust the trained agent to complete this task? Hands up: A, yes, ship it; B, not yet; C, only with a human watching. Point at the robot sweating while it waits for the verdict.</a:t>
            </a:r>
          </a:p>
          <a:p>
            <a:r>
              <a:rPr dirty="0"/>
              <a:t>The honest answer is B or C: 78% needs monitoring, guardrails and a human hand-off. But it's +20 points from ten rounds of practice.</a:t>
            </a:r>
          </a:p>
          <a:p>
            <a:r>
              <a:rPr dirty="0"/>
              <a:t>Then click for the band: agent plus rewards plus SageMaker equals better decisions. That's the whole talk in one 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17:30 to 18:00 · Where else could this work?</a:t>
            </a:r>
          </a:p>
          <a:p>
            <a:r>
              <a:rPr dirty="0"/>
              <a:t>The same recipe fits any job with several steps and a clear finish line you can score: IT helpdesks (VPN, laptops, printers), account access, travel changes such as rebooking a missed flight, and getting a new joiner set up on day one. These are ideas, not results from our run.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18:00 to 20:00 · Three things to remember, then questions</a:t>
            </a:r>
          </a:p>
          <a:p>
            <a:r>
              <a:rPr dirty="0"/>
              <a:t>Learn from feedback: a score, not a script, shaped its habits. Improve across turns: diagnose first, every turn counts. Continue to train: ten rounds took it from 58% to 78%, and the loop doesn't stop there: add rounds and fresh tickets and train again. On SageMaker, another run costs about $2.83 and 19 minutes.</a:t>
            </a:r>
          </a:p>
          <a:p>
            <a:r>
              <a:rPr dirty="0"/>
              <a:t>Click to show the closing quote, and read it aloud. Thank you. Then point at the two codes: the left one opens the code on GitHub (rebuild every number offline for free, or repeat the study in your own AWS account for about $6–8); the right one is my LinkedIn. Leave this slide up and take 2 or 3 questions, short answers.</a:t>
            </a:r>
          </a:p>
          <a:p>
            <a:r>
              <a:rPr dirty="0"/>
              <a:t>Why not better instructions? We kept the agent and the instructions identical; only the model's habits changed.</a:t>
            </a:r>
          </a:p>
          <a:p>
            <a:r>
              <a:rPr dirty="0"/>
              <a:t>Cost and time? $5.78 in total, $2.83 of it for training; 19 minutes of training, about six hours end to end.</a:t>
            </a:r>
          </a:p>
          <a:p>
            <a:r>
              <a:rPr dirty="0"/>
              <a:t>What is </a:t>
            </a:r>
            <a:r>
              <a:rPr dirty="0" err="1"/>
              <a:t>LoRA</a:t>
            </a:r>
            <a:r>
              <a:rPr dirty="0"/>
              <a:t>? A small set of add-on weights; the base model stays unchanged.</a:t>
            </a:r>
          </a:p>
          <a:p>
            <a:r>
              <a:rPr dirty="0"/>
              <a:t>Why did 6 tickets get worse? Two tries per ticket is noisy; judge the total.</a:t>
            </a:r>
          </a:p>
          <a:p>
            <a:r>
              <a:rPr dirty="0"/>
              <a:t>Did it </a:t>
            </a:r>
            <a:r>
              <a:rPr dirty="0" err="1"/>
              <a:t>memorise</a:t>
            </a:r>
            <a:r>
              <a:rPr dirty="0"/>
              <a:t>? No: it was tested on 32 held-out tickets it never trained on.</a:t>
            </a:r>
          </a:p>
          <a:p>
            <a:r>
              <a:rPr dirty="0"/>
              <a:t>Could it cheat the reward? The score comes from the environment's state machine, so only real progress counts.</a:t>
            </a:r>
          </a:p>
          <a:p>
            <a:r>
              <a:rPr dirty="0"/>
              <a:t>Why not a SageMaker endpoint? No GPU capacity at the time and nothing billed; Bedrock import is the guide's second option.</a:t>
            </a:r>
          </a:p>
          <a:p>
            <a:r>
              <a:rPr dirty="0"/>
              <a:t>Can I reproduce it? Yes: every number rebuilds offline for free, and a full rerun costs about $6 to $8.</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58804" y="927695"/>
            <a:ext cx="10274308" cy="430499"/>
          </a:xfrm>
          <a:prstGeom prst="rect">
            <a:avLst/>
          </a:prstGeom>
          <a:noFill/>
          <a:ln/>
        </p:spPr>
        <p:txBody>
          <a:bodyPr wrap="square" lIns="0" tIns="0" rIns="0" bIns="0" rtlCol="0" anchor="t"/>
          <a:lstStyle>
            <a:lvl1pPr marL="0" indent="0" algn="l">
              <a:lnSpc>
                <a:spcPct val="115000"/>
              </a:lnSpc>
              <a:buNone/>
              <a:defRPr lang="en-US" sz="3000" dirty="0">
                <a:solidFill>
                  <a:srgbClr val="000000"/>
                </a:solidFill>
                <a:latin typeface="Radio Canada" pitchFamily="34" charset="0"/>
                <a:ea typeface="Radio Canada" pitchFamily="34" charset="-122"/>
                <a:cs typeface="Radio Canad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958804" y="1662994"/>
            <a:ext cx="10420396" cy="4382206"/>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Radio Canada" pitchFamily="34" charset="0"/>
                <a:ea typeface="Radio Canada" pitchFamily="34" charset="-122"/>
                <a:cs typeface="Radio Canada"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58804" y="927695"/>
            <a:ext cx="10274308" cy="430499"/>
          </a:xfrm>
          <a:prstGeom prst="rect">
            <a:avLst/>
          </a:prstGeom>
          <a:noFill/>
          <a:ln/>
        </p:spPr>
        <p:txBody>
          <a:bodyPr wrap="square" lIns="0" tIns="0" rIns="0" bIns="0" rtlCol="0" anchor="t"/>
          <a:lstStyle>
            <a:lvl1pPr marL="0" indent="0" algn="l">
              <a:lnSpc>
                <a:spcPct val="115000"/>
              </a:lnSpc>
              <a:buNone/>
              <a:defRPr lang="en-US" sz="3000" dirty="0">
                <a:solidFill>
                  <a:srgbClr val="000000"/>
                </a:solidFill>
                <a:latin typeface="Radio Canada" pitchFamily="34" charset="0"/>
                <a:ea typeface="Radio Canada" pitchFamily="34" charset="-122"/>
                <a:cs typeface="Radio Canad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958804" y="1662994"/>
            <a:ext cx="10420396" cy="4382206"/>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Radio Canada" pitchFamily="34" charset="0"/>
                <a:ea typeface="Radio Canada" pitchFamily="34" charset="-122"/>
                <a:cs typeface="Radio Canada"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11436338" y="6339"/>
            <a:ext cx="749274" cy="749274"/>
          </a:xfrm>
          <a:prstGeom prst="rect">
            <a:avLst/>
          </a:prstGeom>
          <a:solidFill>
            <a:srgbClr val="222836"/>
          </a:solidFill>
          <a:ln/>
        </p:spPr>
        <p:txBody>
          <a:bodyPr/>
          <a:lstStyle/>
          <a:p>
            <a:endParaRPr lang="en-AE"/>
          </a:p>
        </p:txBody>
      </p:sp>
      <p:sp>
        <p:nvSpPr>
          <p:cNvPr id="4" name="Shape 1"/>
          <p:cNvSpPr/>
          <p:nvPr/>
        </p:nvSpPr>
        <p:spPr>
          <a:xfrm>
            <a:off x="6339" y="3054318"/>
            <a:ext cx="749274" cy="749274"/>
          </a:xfrm>
          <a:prstGeom prst="rect">
            <a:avLst/>
          </a:prstGeom>
          <a:solidFill>
            <a:srgbClr val="F09601"/>
          </a:solidFill>
          <a:ln/>
        </p:spPr>
        <p:txBody>
          <a:bodyPr/>
          <a:lstStyle/>
          <a:p>
            <a:endParaRPr lang="en-AE"/>
          </a:p>
        </p:txBody>
      </p:sp>
      <p:sp>
        <p:nvSpPr>
          <p:cNvPr id="5" name="Shape 2"/>
          <p:cNvSpPr/>
          <p:nvPr/>
        </p:nvSpPr>
        <p:spPr>
          <a:xfrm>
            <a:off x="9912331" y="3054318"/>
            <a:ext cx="749274" cy="749274"/>
          </a:xfrm>
          <a:prstGeom prst="rect">
            <a:avLst/>
          </a:prstGeom>
          <a:solidFill>
            <a:srgbClr val="F09601"/>
          </a:solidFill>
          <a:ln/>
        </p:spPr>
        <p:txBody>
          <a:bodyPr/>
          <a:lstStyle/>
          <a:p>
            <a:endParaRPr lang="en-AE"/>
          </a:p>
        </p:txBody>
      </p:sp>
      <p:sp>
        <p:nvSpPr>
          <p:cNvPr id="6" name="Shape 3"/>
          <p:cNvSpPr/>
          <p:nvPr/>
        </p:nvSpPr>
        <p:spPr>
          <a:xfrm>
            <a:off x="7626338" y="3816339"/>
            <a:ext cx="749274" cy="749274"/>
          </a:xfrm>
          <a:prstGeom prst="rect">
            <a:avLst/>
          </a:prstGeom>
          <a:solidFill>
            <a:srgbClr val="222836"/>
          </a:solidFill>
          <a:ln/>
        </p:spPr>
        <p:txBody>
          <a:bodyPr/>
          <a:lstStyle/>
          <a:p>
            <a:endParaRPr lang="en-AE"/>
          </a:p>
        </p:txBody>
      </p:sp>
      <p:sp>
        <p:nvSpPr>
          <p:cNvPr id="7" name="Shape 4"/>
          <p:cNvSpPr/>
          <p:nvPr/>
        </p:nvSpPr>
        <p:spPr>
          <a:xfrm>
            <a:off x="768325" y="768325"/>
            <a:ext cx="7607288" cy="3035267"/>
          </a:xfrm>
          <a:prstGeom prst="rect">
            <a:avLst/>
          </a:prstGeom>
          <a:solidFill>
            <a:srgbClr val="FFFFFF"/>
          </a:solidFill>
          <a:ln/>
        </p:spPr>
        <p:txBody>
          <a:bodyPr/>
          <a:lstStyle/>
          <a:p>
            <a:endParaRPr lang="en-AE"/>
          </a:p>
        </p:txBody>
      </p:sp>
      <p:sp>
        <p:nvSpPr>
          <p:cNvPr id="8" name="Text 5"/>
          <p:cNvSpPr>
            <a:spLocks noGrp="1"/>
          </p:cNvSpPr>
          <p:nvPr>
            <p:ph type="title"/>
          </p:nvPr>
        </p:nvSpPr>
        <p:spPr>
          <a:xfrm>
            <a:off x="958804" y="1145287"/>
            <a:ext cx="7443119" cy="1785603"/>
          </a:xfrm>
          <a:prstGeom prst="rect">
            <a:avLst/>
          </a:prstGeom>
          <a:noFill/>
          <a:ln/>
        </p:spPr>
        <p:txBody>
          <a:bodyPr wrap="square" lIns="0" tIns="0" rIns="0" bIns="0" rtlCol="0" anchor="t">
            <a:normAutofit/>
          </a:bodyPr>
          <a:lstStyle/>
          <a:p>
            <a:pPr marL="0" indent="0" algn="l">
              <a:lnSpc>
                <a:spcPts val="4620"/>
              </a:lnSpc>
              <a:buNone/>
            </a:pPr>
            <a:r>
              <a:rPr lang="en-US" sz="4400" b="1" i="0" kern="0" spc="-50" dirty="0">
                <a:solidFill>
                  <a:srgbClr val="000000"/>
                </a:solidFill>
                <a:latin typeface="Radio Canada" pitchFamily="34" charset="0"/>
                <a:ea typeface="Radio Canada" pitchFamily="34" charset="-122"/>
                <a:cs typeface="Radio Canada" pitchFamily="34" charset="-120"/>
              </a:rPr>
              <a:t>Multi-Turn Reinforcement Learning on Amazon SageMaker</a:t>
            </a:r>
            <a:endParaRPr lang="en-US" sz="4400" dirty="0"/>
          </a:p>
        </p:txBody>
      </p:sp>
      <p:sp>
        <p:nvSpPr>
          <p:cNvPr id="9" name="Text 6"/>
          <p:cNvSpPr/>
          <p:nvPr/>
        </p:nvSpPr>
        <p:spPr>
          <a:xfrm>
            <a:off x="958804" y="3095969"/>
            <a:ext cx="7443119"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From Concepts to Practice</a:t>
            </a:r>
            <a:endParaRPr lang="en-US" sz="2100" dirty="0"/>
          </a:p>
        </p:txBody>
      </p:sp>
      <p:sp>
        <p:nvSpPr>
          <p:cNvPr id="10" name="Shape 7"/>
          <p:cNvSpPr/>
          <p:nvPr/>
        </p:nvSpPr>
        <p:spPr>
          <a:xfrm>
            <a:off x="768325" y="3816339"/>
            <a:ext cx="6845267" cy="749274"/>
          </a:xfrm>
          <a:prstGeom prst="rect">
            <a:avLst/>
          </a:prstGeom>
          <a:solidFill>
            <a:srgbClr val="FFFFFF"/>
          </a:solidFill>
          <a:ln/>
        </p:spPr>
        <p:txBody>
          <a:bodyPr/>
          <a:lstStyle/>
          <a:p>
            <a:endParaRPr lang="en-AE"/>
          </a:p>
        </p:txBody>
      </p:sp>
      <p:sp>
        <p:nvSpPr>
          <p:cNvPr id="11" name="Text 8"/>
          <p:cNvSpPr/>
          <p:nvPr/>
        </p:nvSpPr>
        <p:spPr>
          <a:xfrm>
            <a:off x="958804" y="3975709"/>
            <a:ext cx="2566912" cy="455899"/>
          </a:xfrm>
          <a:prstGeom prst="rect">
            <a:avLst/>
          </a:prstGeom>
          <a:noFill/>
          <a:ln/>
        </p:spPr>
        <p:txBody>
          <a:bodyPr wrap="none" lIns="0" tIns="0" rIns="0" bIns="0" rtlCol="0" anchor="t">
            <a:normAutofit/>
          </a:bodyPr>
          <a:lstStyle/>
          <a:p>
            <a:pPr marL="0" indent="0" algn="l">
              <a:lnSpc>
                <a:spcPts val="3390"/>
              </a:lnSpc>
              <a:buNone/>
            </a:pPr>
            <a:r>
              <a:rPr lang="en-US" sz="3000" b="1" dirty="0">
                <a:solidFill>
                  <a:srgbClr val="000000"/>
                </a:solidFill>
                <a:latin typeface="Radio Canada" pitchFamily="34" charset="0"/>
                <a:ea typeface="Radio Canada" pitchFamily="34" charset="-122"/>
                <a:cs typeface="Radio Canada" pitchFamily="34" charset="-120"/>
              </a:rPr>
              <a:t>Isham Rashik</a:t>
            </a:r>
            <a:endParaRPr lang="en-US" sz="3000" dirty="0"/>
          </a:p>
        </p:txBody>
      </p:sp>
      <p:sp>
        <p:nvSpPr>
          <p:cNvPr id="12" name="Text 9"/>
          <p:cNvSpPr/>
          <p:nvPr/>
        </p:nvSpPr>
        <p:spPr>
          <a:xfrm>
            <a:off x="3641431" y="4141074"/>
            <a:ext cx="3972161"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222836"/>
                </a:solidFill>
                <a:latin typeface="Radio Canada" pitchFamily="34" charset="0"/>
                <a:ea typeface="Radio Canada" pitchFamily="34" charset="-122"/>
                <a:cs typeface="Radio Canada" pitchFamily="34" charset="-120"/>
              </a:rPr>
              <a:t>AI Engineer · Future OS, Expo City, Dubai</a:t>
            </a:r>
            <a:endParaRPr lang="en-US" sz="1400" dirty="0"/>
          </a:p>
        </p:txBody>
      </p:sp>
      <p:sp>
        <p:nvSpPr>
          <p:cNvPr id="13" name="Shape 10"/>
          <p:cNvSpPr/>
          <p:nvPr/>
        </p:nvSpPr>
        <p:spPr>
          <a:xfrm>
            <a:off x="9169372" y="787386"/>
            <a:ext cx="2235193" cy="2235193"/>
          </a:xfrm>
          <a:prstGeom prst="rect">
            <a:avLst/>
          </a:prstGeom>
          <a:solidFill>
            <a:srgbClr val="222836"/>
          </a:solidFill>
          <a:ln w="50800">
            <a:solidFill>
              <a:srgbClr val="CF7322"/>
            </a:solidFill>
            <a:prstDash val="solid"/>
          </a:ln>
        </p:spPr>
        <p:txBody>
          <a:bodyPr/>
          <a:lstStyle/>
          <a:p>
            <a:endParaRPr lang="en-AE"/>
          </a:p>
        </p:txBody>
      </p:sp>
      <p:pic>
        <p:nvPicPr>
          <p:cNvPr id="14" name="Image 1" descr="Portrait of Isham Rashik"/>
          <p:cNvPicPr>
            <a:picLocks noChangeAspect="1"/>
          </p:cNvPicPr>
          <p:nvPr/>
        </p:nvPicPr>
        <p:blipFill>
          <a:blip r:embed="rId4"/>
          <a:srcRect/>
          <a:stretch/>
        </p:blipFill>
        <p:spPr>
          <a:xfrm>
            <a:off x="9194684" y="812698"/>
            <a:ext cx="2184397" cy="2184397"/>
          </a:xfrm>
          <a:prstGeom prst="rect">
            <a:avLst/>
          </a:prstGeom>
        </p:spPr>
      </p:pic>
      <p:sp>
        <p:nvSpPr>
          <p:cNvPr id="15" name="Shape 11"/>
          <p:cNvSpPr/>
          <p:nvPr/>
        </p:nvSpPr>
        <p:spPr>
          <a:xfrm>
            <a:off x="0" y="5333972"/>
            <a:ext cx="12191986" cy="1523972"/>
          </a:xfrm>
          <a:prstGeom prst="rect">
            <a:avLst/>
          </a:prstGeom>
          <a:solidFill>
            <a:srgbClr val="222836"/>
          </a:solidFill>
          <a:ln/>
        </p:spPr>
        <p:txBody>
          <a:bodyPr/>
          <a:lstStyle/>
          <a:p>
            <a:endParaRPr lang="en-AE"/>
          </a:p>
        </p:txBody>
      </p:sp>
      <p:sp>
        <p:nvSpPr>
          <p:cNvPr id="16" name="Text 12"/>
          <p:cNvSpPr/>
          <p:nvPr/>
        </p:nvSpPr>
        <p:spPr>
          <a:xfrm>
            <a:off x="952500" y="5806570"/>
            <a:ext cx="4998309"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F09601"/>
                </a:solidFill>
                <a:latin typeface="Radio Canada" pitchFamily="34" charset="0"/>
                <a:ea typeface="Radio Canada" pitchFamily="34" charset="-122"/>
                <a:cs typeface="Radio Canada" pitchFamily="34" charset="-120"/>
              </a:rPr>
              <a:t>Date:</a:t>
            </a:r>
            <a:r>
              <a:rPr lang="en-US" sz="1400" dirty="0">
                <a:solidFill>
                  <a:srgbClr val="FFFFFF"/>
                </a:solidFill>
                <a:latin typeface="Radio Canada" pitchFamily="34" charset="0"/>
                <a:ea typeface="Radio Canada" pitchFamily="34" charset="-122"/>
                <a:cs typeface="Radio Canada" pitchFamily="34" charset="-120"/>
              </a:rPr>
              <a:t> </a:t>
            </a:r>
            <a:r>
              <a:rPr lang="en-US" sz="1400" b="1" dirty="0">
                <a:solidFill>
                  <a:srgbClr val="FFFFFF"/>
                </a:solidFill>
                <a:latin typeface="Radio Canada" pitchFamily="34" charset="0"/>
                <a:ea typeface="Radio Canada" pitchFamily="34" charset="-122"/>
                <a:cs typeface="Radio Canada" pitchFamily="34" charset="-120"/>
              </a:rPr>
              <a:t>Saturday, 3 October 2026</a:t>
            </a:r>
            <a:endParaRPr lang="en-US" sz="1400" dirty="0"/>
          </a:p>
        </p:txBody>
      </p:sp>
      <p:sp>
        <p:nvSpPr>
          <p:cNvPr id="17" name="Text 13"/>
          <p:cNvSpPr/>
          <p:nvPr/>
        </p:nvSpPr>
        <p:spPr>
          <a:xfrm>
            <a:off x="952500" y="6143570"/>
            <a:ext cx="5823272"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F09601"/>
                </a:solidFill>
                <a:latin typeface="Radio Canada" pitchFamily="34" charset="0"/>
                <a:ea typeface="Radio Canada" pitchFamily="34" charset="-122"/>
                <a:cs typeface="Radio Canada" pitchFamily="34" charset="-120"/>
              </a:rPr>
              <a:t>Location:</a:t>
            </a:r>
            <a:r>
              <a:rPr lang="en-US" sz="1400" dirty="0">
                <a:solidFill>
                  <a:srgbClr val="FFFFFF"/>
                </a:solidFill>
                <a:latin typeface="Radio Canada" pitchFamily="34" charset="0"/>
                <a:ea typeface="Radio Canada" pitchFamily="34" charset="-122"/>
                <a:cs typeface="Radio Canada" pitchFamily="34" charset="-120"/>
              </a:rPr>
              <a:t> Deriv office, One by Omniyat, Business Bay, Dubai</a:t>
            </a:r>
            <a:endParaRPr lang="en-US" sz="1400" dirty="0"/>
          </a:p>
        </p:txBody>
      </p:sp>
      <p:sp>
        <p:nvSpPr>
          <p:cNvPr id="18" name="Text 14"/>
          <p:cNvSpPr/>
          <p:nvPr/>
        </p:nvSpPr>
        <p:spPr>
          <a:xfrm>
            <a:off x="8179765" y="5626018"/>
            <a:ext cx="3465132" cy="355612"/>
          </a:xfrm>
          <a:prstGeom prst="rect">
            <a:avLst/>
          </a:prstGeom>
          <a:noFill/>
          <a:ln/>
        </p:spPr>
        <p:txBody>
          <a:bodyPr wrap="square" lIns="0" tIns="0" rIns="0" bIns="0" rtlCol="0" anchor="t">
            <a:normAutofit fontScale="85000" lnSpcReduction="10000"/>
          </a:bodyPr>
          <a:lstStyle/>
          <a:p>
            <a:pPr marL="0" indent="0" algn="ctr">
              <a:lnSpc>
                <a:spcPts val="2600"/>
              </a:lnSpc>
              <a:buNone/>
            </a:pPr>
            <a:r>
              <a:rPr lang="en-US" sz="2600" b="1" dirty="0">
                <a:solidFill>
                  <a:srgbClr val="FFFFFF"/>
                </a:solidFill>
                <a:latin typeface="Poppins" pitchFamily="34" charset="0"/>
                <a:ea typeface="Poppins" pitchFamily="34" charset="-122"/>
                <a:cs typeface="Poppins" pitchFamily="34" charset="-120"/>
              </a:rPr>
              <a:t>AWS COMMUNITY DAY</a:t>
            </a:r>
            <a:endParaRPr lang="en-US" sz="2600" dirty="0"/>
          </a:p>
        </p:txBody>
      </p:sp>
      <p:sp>
        <p:nvSpPr>
          <p:cNvPr id="19" name="Shape 15"/>
          <p:cNvSpPr/>
          <p:nvPr/>
        </p:nvSpPr>
        <p:spPr>
          <a:xfrm>
            <a:off x="8553035" y="6153078"/>
            <a:ext cx="920736" cy="25390"/>
          </a:xfrm>
          <a:prstGeom prst="rect">
            <a:avLst/>
          </a:prstGeom>
          <a:solidFill>
            <a:srgbClr val="FFFFFF"/>
          </a:solidFill>
          <a:ln/>
        </p:spPr>
        <p:txBody>
          <a:bodyPr/>
          <a:lstStyle/>
          <a:p>
            <a:endParaRPr lang="en-AE"/>
          </a:p>
        </p:txBody>
      </p:sp>
      <p:sp>
        <p:nvSpPr>
          <p:cNvPr id="20" name="Text 16"/>
          <p:cNvSpPr/>
          <p:nvPr/>
        </p:nvSpPr>
        <p:spPr>
          <a:xfrm>
            <a:off x="9568993" y="6051482"/>
            <a:ext cx="544008" cy="254017"/>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FF9900"/>
                </a:solidFill>
                <a:latin typeface="Poppins" pitchFamily="34" charset="0"/>
                <a:ea typeface="Poppins" pitchFamily="34" charset="-122"/>
                <a:cs typeface="Poppins" pitchFamily="34" charset="-120"/>
              </a:rPr>
              <a:t>UAE</a:t>
            </a:r>
            <a:endParaRPr lang="en-US" sz="1800" dirty="0"/>
          </a:p>
        </p:txBody>
      </p:sp>
      <p:sp>
        <p:nvSpPr>
          <p:cNvPr id="21" name="Shape 17"/>
          <p:cNvSpPr/>
          <p:nvPr/>
        </p:nvSpPr>
        <p:spPr>
          <a:xfrm>
            <a:off x="10117556" y="6153078"/>
            <a:ext cx="920736" cy="25390"/>
          </a:xfrm>
          <a:prstGeom prst="rect">
            <a:avLst/>
          </a:prstGeom>
          <a:solidFill>
            <a:srgbClr val="FFFFFF"/>
          </a:solidFill>
          <a:ln/>
        </p:spPr>
        <p:txBody>
          <a:bodyPr/>
          <a:lstStyle/>
          <a:p>
            <a:endParaRPr lang="en-AE"/>
          </a:p>
        </p:txBody>
      </p:sp>
      <p:sp>
        <p:nvSpPr>
          <p:cNvPr id="22" name="Text 18"/>
          <p:cNvSpPr/>
          <p:nvPr/>
        </p:nvSpPr>
        <p:spPr>
          <a:xfrm>
            <a:off x="9090318" y="6394372"/>
            <a:ext cx="1410725" cy="215914"/>
          </a:xfrm>
          <a:prstGeom prst="rect">
            <a:avLst/>
          </a:prstGeom>
          <a:noFill/>
          <a:ln/>
        </p:spPr>
        <p:txBody>
          <a:bodyPr wrap="square" lIns="0" tIns="0" rIns="0" bIns="0" rtlCol="0" anchor="t">
            <a:normAutofit/>
          </a:bodyPr>
          <a:lstStyle/>
          <a:p>
            <a:pPr marL="0" indent="0" algn="ctr">
              <a:lnSpc>
                <a:spcPts val="1500"/>
              </a:lnSpc>
              <a:buNone/>
            </a:pPr>
            <a:r>
              <a:rPr lang="en-US" sz="1500" b="1" dirty="0">
                <a:solidFill>
                  <a:srgbClr val="FFFFFF"/>
                </a:solidFill>
                <a:latin typeface="Poppins" pitchFamily="34" charset="0"/>
                <a:ea typeface="Poppins" pitchFamily="34" charset="-122"/>
                <a:cs typeface="Poppins" pitchFamily="34" charset="-120"/>
              </a:rPr>
              <a:t>5TH EDITION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21"/>
            <a:ext cx="12191986" cy="6857979"/>
          </a:xfrm>
          <a:prstGeom prst="rect">
            <a:avLst/>
          </a:prstGeom>
        </p:spPr>
      </p:pic>
      <p:sp>
        <p:nvSpPr>
          <p:cNvPr id="3" name="Text 0"/>
          <p:cNvSpPr/>
          <p:nvPr/>
        </p:nvSpPr>
        <p:spPr>
          <a:xfrm>
            <a:off x="761986" y="1905000"/>
            <a:ext cx="5886450" cy="355612"/>
          </a:xfrm>
          <a:prstGeom prst="rect">
            <a:avLst/>
          </a:prstGeom>
          <a:noFill/>
          <a:ln/>
        </p:spPr>
        <p:txBody>
          <a:bodyPr wrap="square" lIns="0" tIns="0" rIns="0" bIns="0" rtlCol="0" anchor="t">
            <a:normAutofit/>
          </a:bodyPr>
          <a:lstStyle/>
          <a:p>
            <a:pPr marL="0" indent="0" algn="l">
              <a:lnSpc>
                <a:spcPts val="2600"/>
              </a:lnSpc>
              <a:buNone/>
            </a:pPr>
            <a:r>
              <a:rPr lang="en-US" sz="2600" b="1" kern="0" spc="100" dirty="0">
                <a:solidFill>
                  <a:srgbClr val="FF9900"/>
                </a:solidFill>
                <a:latin typeface="Poppins" pitchFamily="34" charset="0"/>
                <a:ea typeface="Poppins" pitchFamily="34" charset="-122"/>
                <a:cs typeface="Poppins" pitchFamily="34" charset="-120"/>
              </a:rPr>
              <a:t>PART 1</a:t>
            </a:r>
            <a:endParaRPr lang="en-US" sz="2600" dirty="0"/>
          </a:p>
        </p:txBody>
      </p:sp>
      <p:sp>
        <p:nvSpPr>
          <p:cNvPr id="4" name="Text 1"/>
          <p:cNvSpPr>
            <a:spLocks noGrp="1"/>
          </p:cNvSpPr>
          <p:nvPr>
            <p:ph type="title"/>
          </p:nvPr>
        </p:nvSpPr>
        <p:spPr>
          <a:xfrm>
            <a:off x="761986" y="2611132"/>
            <a:ext cx="8502650" cy="1198868"/>
          </a:xfrm>
          <a:prstGeom prst="rect">
            <a:avLst/>
          </a:prstGeom>
          <a:noFill/>
          <a:ln/>
        </p:spPr>
        <p:txBody>
          <a:bodyPr wrap="square" lIns="0" tIns="0" rIns="0" bIns="0" rtlCol="0" anchor="t">
            <a:normAutofit/>
          </a:bodyPr>
          <a:lstStyle/>
          <a:p>
            <a:pPr marL="0" indent="0" algn="l">
              <a:lnSpc>
                <a:spcPts val="4620"/>
              </a:lnSpc>
              <a:buNone/>
            </a:pPr>
            <a:r>
              <a:rPr lang="en-US" sz="4400" b="1" i="0" kern="0" spc="-50" dirty="0">
                <a:solidFill>
                  <a:srgbClr val="FFFFFF"/>
                </a:solidFill>
                <a:latin typeface="Radio Canada" pitchFamily="34" charset="0"/>
                <a:ea typeface="Radio Canada" pitchFamily="34" charset="-122"/>
                <a:cs typeface="Radio Canada" pitchFamily="34" charset="-120"/>
              </a:rPr>
              <a:t>Introduction to Reinforcement Learning</a:t>
            </a:r>
            <a:endParaRPr lang="en-US" sz="4400" dirty="0"/>
          </a:p>
        </p:txBody>
      </p:sp>
      <p:pic>
        <p:nvPicPr>
          <p:cNvPr id="6" name="Image 1" descr="The robot agent waving hello"/>
          <p:cNvPicPr>
            <a:picLocks noChangeAspect="1"/>
          </p:cNvPicPr>
          <p:nvPr/>
        </p:nvPicPr>
        <p:blipFill>
          <a:blip r:embed="rId4"/>
          <a:srcRect/>
          <a:stretch/>
        </p:blipFill>
        <p:spPr>
          <a:xfrm>
            <a:off x="9651986" y="3810000"/>
            <a:ext cx="1396986" cy="17144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1530345"/>
            <a:ext cx="749274" cy="749274"/>
          </a:xfrm>
          <a:prstGeom prst="rect">
            <a:avLst/>
          </a:prstGeom>
          <a:solidFill>
            <a:srgbClr val="F09601"/>
          </a:solidFill>
          <a:ln/>
        </p:spPr>
        <p:txBody>
          <a:bodyPr/>
          <a:lstStyle/>
          <a:p>
            <a:endParaRPr lang="en-AE"/>
          </a:p>
        </p:txBody>
      </p:sp>
      <p:sp>
        <p:nvSpPr>
          <p:cNvPr id="4" name="Shape 1"/>
          <p:cNvSpPr/>
          <p:nvPr/>
        </p:nvSpPr>
        <p:spPr>
          <a:xfrm>
            <a:off x="3816339" y="5340345"/>
            <a:ext cx="749274" cy="749274"/>
          </a:xfrm>
          <a:prstGeom prst="rect">
            <a:avLst/>
          </a:prstGeom>
          <a:solidFill>
            <a:srgbClr val="222836"/>
          </a:solidFill>
          <a:ln/>
        </p:spPr>
        <p:txBody>
          <a:bodyPr/>
          <a:lstStyle/>
          <a:p>
            <a:endParaRPr lang="en-AE"/>
          </a:p>
        </p:txBody>
      </p:sp>
      <p:sp>
        <p:nvSpPr>
          <p:cNvPr id="5" name="Shape 2"/>
          <p:cNvSpPr/>
          <p:nvPr/>
        </p:nvSpPr>
        <p:spPr>
          <a:xfrm>
            <a:off x="7626338" y="5340345"/>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Three ways machines learn</a:t>
            </a:r>
            <a:endParaRPr lang="en-US" sz="3000" dirty="0"/>
          </a:p>
        </p:txBody>
      </p:sp>
      <p:sp>
        <p:nvSpPr>
          <p:cNvPr id="8" name="Shape 5"/>
          <p:cNvSpPr/>
          <p:nvPr/>
        </p:nvSpPr>
        <p:spPr>
          <a:xfrm>
            <a:off x="768325" y="1530345"/>
            <a:ext cx="3035267" cy="3797288"/>
          </a:xfrm>
          <a:prstGeom prst="rect">
            <a:avLst/>
          </a:prstGeom>
          <a:solidFill>
            <a:srgbClr val="FFFFFF"/>
          </a:solidFill>
          <a:ln/>
        </p:spPr>
        <p:txBody>
          <a:bodyPr/>
          <a:lstStyle/>
          <a:p>
            <a:endParaRPr lang="en-AE"/>
          </a:p>
        </p:txBody>
      </p:sp>
      <p:pic>
        <p:nvPicPr>
          <p:cNvPr id="9" name="Image 1" descr="Flashcards: a cat picture with a tick for the right answer"/>
          <p:cNvPicPr>
            <a:picLocks noChangeAspect="1"/>
          </p:cNvPicPr>
          <p:nvPr/>
        </p:nvPicPr>
        <p:blipFill>
          <a:blip r:embed="rId4"/>
          <a:srcRect/>
          <a:stretch/>
        </p:blipFill>
        <p:spPr>
          <a:xfrm>
            <a:off x="1142945" y="2324233"/>
            <a:ext cx="2285993" cy="1371596"/>
          </a:xfrm>
          <a:prstGeom prst="rect">
            <a:avLst/>
          </a:prstGeom>
        </p:spPr>
      </p:pic>
      <p:sp>
        <p:nvSpPr>
          <p:cNvPr id="10" name="Text 6"/>
          <p:cNvSpPr/>
          <p:nvPr/>
        </p:nvSpPr>
        <p:spPr>
          <a:xfrm>
            <a:off x="1431768" y="3797426"/>
            <a:ext cx="1708381" cy="356060"/>
          </a:xfrm>
          <a:prstGeom prst="rect">
            <a:avLst/>
          </a:prstGeom>
          <a:noFill/>
          <a:ln/>
        </p:spPr>
        <p:txBody>
          <a:bodyPr wrap="square" lIns="0" tIns="0" rIns="0" bIns="0" rtlCol="0" anchor="t">
            <a:normAutofit/>
          </a:bodyPr>
          <a:lstStyle/>
          <a:p>
            <a:pPr marL="0" indent="0" algn="ctr">
              <a:lnSpc>
                <a:spcPts val="2604"/>
              </a:lnSpc>
              <a:buNone/>
            </a:pPr>
            <a:r>
              <a:rPr lang="en-US" sz="2100" b="1" dirty="0">
                <a:solidFill>
                  <a:srgbClr val="000000"/>
                </a:solidFill>
                <a:latin typeface="Radio Canada" pitchFamily="34" charset="0"/>
                <a:ea typeface="Radio Canada" pitchFamily="34" charset="-122"/>
                <a:cs typeface="Radio Canada" pitchFamily="34" charset="-120"/>
              </a:rPr>
              <a:t>Supervised</a:t>
            </a:r>
            <a:endParaRPr lang="en-US" sz="2100" dirty="0"/>
          </a:p>
        </p:txBody>
      </p:sp>
      <p:sp>
        <p:nvSpPr>
          <p:cNvPr id="11" name="Text 7"/>
          <p:cNvSpPr/>
          <p:nvPr/>
        </p:nvSpPr>
        <p:spPr>
          <a:xfrm>
            <a:off x="966187" y="4229681"/>
            <a:ext cx="2639508" cy="329430"/>
          </a:xfrm>
          <a:prstGeom prst="rect">
            <a:avLst/>
          </a:prstGeom>
          <a:noFill/>
          <a:ln/>
        </p:spPr>
        <p:txBody>
          <a:bodyPr wrap="square" lIns="0" tIns="0" rIns="0" bIns="0" rtlCol="0" anchor="t">
            <a:normAutofit/>
          </a:bodyPr>
          <a:lstStyle/>
          <a:p>
            <a:pPr marL="0" indent="0" algn="ctr">
              <a:lnSpc>
                <a:spcPts val="2394"/>
              </a:lnSpc>
              <a:buNone/>
            </a:pPr>
            <a:r>
              <a:rPr lang="en-US" sz="1800" dirty="0">
                <a:solidFill>
                  <a:srgbClr val="222836"/>
                </a:solidFill>
                <a:latin typeface="Radio Canada" pitchFamily="34" charset="0"/>
                <a:ea typeface="Radio Canada" pitchFamily="34" charset="-122"/>
                <a:cs typeface="Radio Canada" pitchFamily="34" charset="-120"/>
              </a:rPr>
              <a:t>Learns from answers</a:t>
            </a:r>
            <a:endParaRPr lang="en-US" sz="1800" dirty="0"/>
          </a:p>
        </p:txBody>
      </p:sp>
      <p:sp>
        <p:nvSpPr>
          <p:cNvPr id="12" name="Shape 8"/>
          <p:cNvSpPr/>
          <p:nvPr/>
        </p:nvSpPr>
        <p:spPr>
          <a:xfrm>
            <a:off x="4578325" y="1530345"/>
            <a:ext cx="3035267" cy="3797288"/>
          </a:xfrm>
          <a:prstGeom prst="rect">
            <a:avLst/>
          </a:prstGeom>
          <a:solidFill>
            <a:srgbClr val="FFFFFF"/>
          </a:solidFill>
          <a:ln/>
        </p:spPr>
        <p:txBody>
          <a:bodyPr/>
          <a:lstStyle/>
          <a:p>
            <a:endParaRPr lang="en-AE"/>
          </a:p>
        </p:txBody>
      </p:sp>
      <p:pic>
        <p:nvPicPr>
          <p:cNvPr id="13" name="Image 2" descr="Customers in three groups nobody labelled: shoppers with bags, coffee regulars, bargain hunters with a % tag"/>
          <p:cNvPicPr>
            <a:picLocks noChangeAspect="1"/>
          </p:cNvPicPr>
          <p:nvPr/>
        </p:nvPicPr>
        <p:blipFill>
          <a:blip r:embed="rId5"/>
          <a:srcRect/>
          <a:stretch/>
        </p:blipFill>
        <p:spPr>
          <a:xfrm>
            <a:off x="4952945" y="2324233"/>
            <a:ext cx="2285993" cy="1371596"/>
          </a:xfrm>
          <a:prstGeom prst="rect">
            <a:avLst/>
          </a:prstGeom>
        </p:spPr>
      </p:pic>
      <p:sp>
        <p:nvSpPr>
          <p:cNvPr id="14" name="Text 9"/>
          <p:cNvSpPr/>
          <p:nvPr/>
        </p:nvSpPr>
        <p:spPr>
          <a:xfrm>
            <a:off x="5048915" y="3797426"/>
            <a:ext cx="2094053" cy="356060"/>
          </a:xfrm>
          <a:prstGeom prst="rect">
            <a:avLst/>
          </a:prstGeom>
          <a:noFill/>
          <a:ln/>
        </p:spPr>
        <p:txBody>
          <a:bodyPr wrap="square" lIns="0" tIns="0" rIns="0" bIns="0" rtlCol="0" anchor="t">
            <a:normAutofit/>
          </a:bodyPr>
          <a:lstStyle/>
          <a:p>
            <a:pPr marL="0" indent="0" algn="ctr">
              <a:lnSpc>
                <a:spcPts val="2604"/>
              </a:lnSpc>
              <a:buNone/>
            </a:pPr>
            <a:r>
              <a:rPr lang="en-US" sz="2100" b="1" dirty="0">
                <a:solidFill>
                  <a:srgbClr val="000000"/>
                </a:solidFill>
                <a:latin typeface="Radio Canada" pitchFamily="34" charset="0"/>
                <a:ea typeface="Radio Canada" pitchFamily="34" charset="-122"/>
                <a:cs typeface="Radio Canada" pitchFamily="34" charset="-120"/>
              </a:rPr>
              <a:t>Unsupervised</a:t>
            </a:r>
            <a:endParaRPr lang="en-US" sz="2100" dirty="0"/>
          </a:p>
        </p:txBody>
      </p:sp>
      <p:sp>
        <p:nvSpPr>
          <p:cNvPr id="15" name="Text 10"/>
          <p:cNvSpPr/>
          <p:nvPr/>
        </p:nvSpPr>
        <p:spPr>
          <a:xfrm>
            <a:off x="4733396" y="4229681"/>
            <a:ext cx="2725126" cy="329430"/>
          </a:xfrm>
          <a:prstGeom prst="rect">
            <a:avLst/>
          </a:prstGeom>
          <a:noFill/>
          <a:ln/>
        </p:spPr>
        <p:txBody>
          <a:bodyPr wrap="square" lIns="0" tIns="0" rIns="0" bIns="0" rtlCol="0" anchor="t">
            <a:normAutofit/>
          </a:bodyPr>
          <a:lstStyle/>
          <a:p>
            <a:pPr marL="0" indent="0" algn="ctr">
              <a:lnSpc>
                <a:spcPts val="2394"/>
              </a:lnSpc>
              <a:buNone/>
            </a:pPr>
            <a:r>
              <a:rPr lang="en-US" sz="1800" dirty="0">
                <a:solidFill>
                  <a:srgbClr val="222836"/>
                </a:solidFill>
                <a:latin typeface="Radio Canada" pitchFamily="34" charset="0"/>
                <a:ea typeface="Radio Canada" pitchFamily="34" charset="-122"/>
                <a:cs typeface="Radio Canada" pitchFamily="34" charset="-120"/>
              </a:rPr>
              <a:t>Finds groups by itself</a:t>
            </a:r>
            <a:endParaRPr lang="en-US" sz="1800" dirty="0"/>
          </a:p>
        </p:txBody>
      </p:sp>
      <p:sp>
        <p:nvSpPr>
          <p:cNvPr id="16" name="Shape 11"/>
          <p:cNvSpPr/>
          <p:nvPr/>
        </p:nvSpPr>
        <p:spPr>
          <a:xfrm>
            <a:off x="8401025" y="1543045"/>
            <a:ext cx="3009867" cy="3771888"/>
          </a:xfrm>
          <a:prstGeom prst="rect">
            <a:avLst/>
          </a:prstGeom>
          <a:solidFill>
            <a:srgbClr val="FFFFFF"/>
          </a:solidFill>
          <a:ln w="25400">
            <a:solidFill>
              <a:srgbClr val="F09601"/>
            </a:solidFill>
            <a:prstDash val="solid"/>
          </a:ln>
        </p:spPr>
        <p:txBody>
          <a:bodyPr/>
          <a:lstStyle/>
          <a:p>
            <a:endParaRPr lang="en-AE"/>
          </a:p>
        </p:txBody>
      </p:sp>
      <p:pic>
        <p:nvPicPr>
          <p:cNvPr id="17" name="Image 3" descr="A coffee machine with buttons, a cup and a reward star"/>
          <p:cNvPicPr>
            <a:picLocks noChangeAspect="1"/>
          </p:cNvPicPr>
          <p:nvPr/>
        </p:nvPicPr>
        <p:blipFill>
          <a:blip r:embed="rId6"/>
          <a:srcRect/>
          <a:stretch/>
        </p:blipFill>
        <p:spPr>
          <a:xfrm>
            <a:off x="8762944" y="2133995"/>
            <a:ext cx="2285993" cy="1371596"/>
          </a:xfrm>
          <a:prstGeom prst="rect">
            <a:avLst/>
          </a:prstGeom>
        </p:spPr>
      </p:pic>
      <p:sp>
        <p:nvSpPr>
          <p:cNvPr id="18" name="Text 12"/>
          <p:cNvSpPr/>
          <p:nvPr/>
        </p:nvSpPr>
        <p:spPr>
          <a:xfrm>
            <a:off x="8757794" y="3607188"/>
            <a:ext cx="2296294" cy="356060"/>
          </a:xfrm>
          <a:prstGeom prst="rect">
            <a:avLst/>
          </a:prstGeom>
          <a:noFill/>
          <a:ln/>
        </p:spPr>
        <p:txBody>
          <a:bodyPr wrap="square" lIns="0" tIns="0" rIns="0" bIns="0" rtlCol="0" anchor="t">
            <a:normAutofit/>
          </a:bodyPr>
          <a:lstStyle/>
          <a:p>
            <a:pPr marL="0" indent="0" algn="ctr">
              <a:lnSpc>
                <a:spcPts val="2604"/>
              </a:lnSpc>
              <a:buNone/>
            </a:pPr>
            <a:r>
              <a:rPr lang="en-US" sz="2100" b="1" dirty="0">
                <a:solidFill>
                  <a:srgbClr val="000000"/>
                </a:solidFill>
                <a:latin typeface="Radio Canada" pitchFamily="34" charset="0"/>
                <a:ea typeface="Radio Canada" pitchFamily="34" charset="-122"/>
                <a:cs typeface="Radio Canada" pitchFamily="34" charset="-120"/>
              </a:rPr>
              <a:t>Reinforcement</a:t>
            </a:r>
            <a:endParaRPr lang="en-US" sz="2100" dirty="0"/>
          </a:p>
        </p:txBody>
      </p:sp>
      <p:sp>
        <p:nvSpPr>
          <p:cNvPr id="19" name="Text 13"/>
          <p:cNvSpPr/>
          <p:nvPr/>
        </p:nvSpPr>
        <p:spPr>
          <a:xfrm>
            <a:off x="8658613" y="4039443"/>
            <a:ext cx="2494690" cy="329430"/>
          </a:xfrm>
          <a:prstGeom prst="rect">
            <a:avLst/>
          </a:prstGeom>
          <a:noFill/>
          <a:ln/>
        </p:spPr>
        <p:txBody>
          <a:bodyPr wrap="square" lIns="0" tIns="0" rIns="0" bIns="0" rtlCol="0" anchor="t">
            <a:normAutofit/>
          </a:bodyPr>
          <a:lstStyle/>
          <a:p>
            <a:pPr marL="0" indent="0" algn="ctr">
              <a:lnSpc>
                <a:spcPts val="2394"/>
              </a:lnSpc>
              <a:buNone/>
            </a:pPr>
            <a:r>
              <a:rPr lang="en-US" sz="1800" dirty="0">
                <a:solidFill>
                  <a:srgbClr val="222836"/>
                </a:solidFill>
                <a:latin typeface="Radio Canada" pitchFamily="34" charset="0"/>
                <a:ea typeface="Radio Canada" pitchFamily="34" charset="-122"/>
                <a:cs typeface="Radio Canada" pitchFamily="34" charset="-120"/>
              </a:rPr>
              <a:t>Learns from a score</a:t>
            </a:r>
            <a:endParaRPr lang="en-US" sz="1800" dirty="0"/>
          </a:p>
        </p:txBody>
      </p:sp>
      <p:sp>
        <p:nvSpPr>
          <p:cNvPr id="20" name="Text 14"/>
          <p:cNvSpPr/>
          <p:nvPr/>
        </p:nvSpPr>
        <p:spPr>
          <a:xfrm>
            <a:off x="9490480" y="4445068"/>
            <a:ext cx="830957" cy="278880"/>
          </a:xfrm>
          <a:custGeom>
            <a:avLst/>
            <a:gdLst/>
            <a:ahLst/>
            <a:cxnLst/>
            <a:rect l="l" t="t" r="r" b="b"/>
            <a:pathLst>
              <a:path w="830957" h="278880">
                <a:moveTo>
                  <a:pt x="139440" y="0"/>
                </a:moveTo>
                <a:lnTo>
                  <a:pt x="691517" y="0"/>
                </a:lnTo>
                <a:arcTo wR="139440" hR="139440" stAng="16200000" swAng="5400000"/>
                <a:lnTo>
                  <a:pt x="830957" y="139440"/>
                </a:lnTo>
                <a:arcTo wR="139440" hR="139440" stAng="0" swAng="5400000"/>
                <a:lnTo>
                  <a:pt x="139440" y="278880"/>
                </a:lnTo>
                <a:arcTo wR="139440" hR="139440" stAng="5400000" swAng="5400000"/>
                <a:lnTo>
                  <a:pt x="0" y="139440"/>
                </a:lnTo>
                <a:arcTo wR="139440" hR="139440" stAng="10800000" swAng="5400000"/>
                <a:close/>
              </a:path>
            </a:pathLst>
          </a:custGeom>
          <a:solidFill>
            <a:srgbClr val="F09601"/>
          </a:solidFill>
          <a:ln/>
        </p:spPr>
        <p:txBody>
          <a:bodyPr wrap="none" lIns="0" tIns="0" rIns="0" bIns="0" rtlCol="0" anchor="ctr">
            <a:normAutofit/>
          </a:bodyPr>
          <a:lstStyle/>
          <a:p>
            <a:pPr marL="0" indent="0" algn="ctr">
              <a:lnSpc>
                <a:spcPts val="2196"/>
              </a:lnSpc>
              <a:buNone/>
            </a:pPr>
            <a:r>
              <a:rPr lang="en-US" sz="1200" b="1" dirty="0">
                <a:solidFill>
                  <a:srgbClr val="222836"/>
                </a:solidFill>
                <a:latin typeface="Radio Canada" pitchFamily="34" charset="0"/>
                <a:ea typeface="Radio Canada" pitchFamily="34" charset="-122"/>
                <a:cs typeface="Radio Canada" pitchFamily="34" charset="-120"/>
              </a:rPr>
              <a:t>This talk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1530347"/>
            <a:ext cx="749274" cy="749274"/>
          </a:xfrm>
          <a:prstGeom prst="rect">
            <a:avLst/>
          </a:prstGeom>
          <a:solidFill>
            <a:srgbClr val="F09601"/>
          </a:solidFill>
          <a:ln/>
        </p:spPr>
        <p:txBody>
          <a:bodyPr/>
          <a:lstStyle/>
          <a:p>
            <a:endParaRPr lang="en-AE"/>
          </a:p>
        </p:txBody>
      </p:sp>
      <p:sp>
        <p:nvSpPr>
          <p:cNvPr id="4" name="Shape 1"/>
          <p:cNvSpPr/>
          <p:nvPr/>
        </p:nvSpPr>
        <p:spPr>
          <a:xfrm>
            <a:off x="11436338" y="3054319"/>
            <a:ext cx="749274" cy="749274"/>
          </a:xfrm>
          <a:prstGeom prst="rect">
            <a:avLst/>
          </a:prstGeom>
          <a:solidFill>
            <a:srgbClr val="222836"/>
          </a:solidFill>
          <a:ln/>
        </p:spPr>
        <p:txBody>
          <a:bodyPr/>
          <a:lstStyle/>
          <a:p>
            <a:endParaRPr lang="en-AE"/>
          </a:p>
        </p:txBody>
      </p:sp>
      <p:sp>
        <p:nvSpPr>
          <p:cNvPr id="5" name="Shape 2"/>
          <p:cNvSpPr/>
          <p:nvPr/>
        </p:nvSpPr>
        <p:spPr>
          <a:xfrm>
            <a:off x="6339" y="5340347"/>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Learning by trial and error</a:t>
            </a:r>
            <a:endParaRPr lang="en-US" sz="3000" dirty="0"/>
          </a:p>
        </p:txBody>
      </p:sp>
      <p:sp>
        <p:nvSpPr>
          <p:cNvPr id="8" name="Shape 5"/>
          <p:cNvSpPr/>
          <p:nvPr/>
        </p:nvSpPr>
        <p:spPr>
          <a:xfrm>
            <a:off x="768325" y="1530347"/>
            <a:ext cx="10655267" cy="3797288"/>
          </a:xfrm>
          <a:prstGeom prst="rect">
            <a:avLst/>
          </a:prstGeom>
          <a:solidFill>
            <a:srgbClr val="FFFFFF"/>
          </a:solidFill>
          <a:ln/>
        </p:spPr>
        <p:txBody>
          <a:bodyPr/>
          <a:lstStyle/>
          <a:p>
            <a:endParaRPr lang="en-AE"/>
          </a:p>
        </p:txBody>
      </p:sp>
      <p:pic>
        <p:nvPicPr>
          <p:cNvPr id="9" name="Image 1" descr="The robot learning to ride a bike: it falls, then wobbles, then rides with a star"/>
          <p:cNvPicPr>
            <a:picLocks noChangeAspect="1"/>
          </p:cNvPicPr>
          <p:nvPr/>
        </p:nvPicPr>
        <p:blipFill>
          <a:blip r:embed="rId4"/>
          <a:srcRect t="-23" b="-23"/>
          <a:stretch/>
        </p:blipFill>
        <p:spPr>
          <a:xfrm>
            <a:off x="1828794" y="1587500"/>
            <a:ext cx="8534397" cy="3022589"/>
          </a:xfrm>
          <a:prstGeom prst="rect">
            <a:avLst/>
          </a:prstGeom>
        </p:spPr>
      </p:pic>
      <p:sp>
        <p:nvSpPr>
          <p:cNvPr id="10" name="Text 6"/>
          <p:cNvSpPr/>
          <p:nvPr/>
        </p:nvSpPr>
        <p:spPr>
          <a:xfrm>
            <a:off x="2181213" y="4698974"/>
            <a:ext cx="1962150" cy="356060"/>
          </a:xfrm>
          <a:prstGeom prst="rect">
            <a:avLst/>
          </a:prstGeom>
          <a:noFill/>
          <a:ln/>
        </p:spPr>
        <p:txBody>
          <a:bodyPr wrap="square" lIns="0" tIns="0" rIns="0" bIns="0" rtlCol="0" anchor="t">
            <a:normAutofit/>
          </a:bodyPr>
          <a:lstStyle/>
          <a:p>
            <a:pPr marL="0" indent="0" algn="ctr">
              <a:lnSpc>
                <a:spcPts val="2604"/>
              </a:lnSpc>
              <a:buNone/>
            </a:pPr>
            <a:r>
              <a:rPr lang="en-US" sz="2100" b="1" dirty="0">
                <a:solidFill>
                  <a:srgbClr val="000000"/>
                </a:solidFill>
                <a:latin typeface="Radio Canada" pitchFamily="34" charset="0"/>
                <a:ea typeface="Radio Canada" pitchFamily="34" charset="-122"/>
                <a:cs typeface="Radio Canada" pitchFamily="34" charset="-120"/>
              </a:rPr>
              <a:t>Fall</a:t>
            </a:r>
            <a:endParaRPr lang="en-US" sz="2100" dirty="0"/>
          </a:p>
        </p:txBody>
      </p:sp>
      <p:sp>
        <p:nvSpPr>
          <p:cNvPr id="11" name="Text 7"/>
          <p:cNvSpPr/>
          <p:nvPr/>
        </p:nvSpPr>
        <p:spPr>
          <a:xfrm>
            <a:off x="5114918" y="4698974"/>
            <a:ext cx="1962150" cy="356060"/>
          </a:xfrm>
          <a:prstGeom prst="rect">
            <a:avLst/>
          </a:prstGeom>
          <a:noFill/>
          <a:ln/>
        </p:spPr>
        <p:txBody>
          <a:bodyPr wrap="square" lIns="0" tIns="0" rIns="0" bIns="0" rtlCol="0" anchor="t">
            <a:normAutofit/>
          </a:bodyPr>
          <a:lstStyle/>
          <a:p>
            <a:pPr marL="0" indent="0" algn="ctr">
              <a:lnSpc>
                <a:spcPts val="2604"/>
              </a:lnSpc>
              <a:buNone/>
            </a:pPr>
            <a:r>
              <a:rPr lang="en-US" sz="2100" b="1" dirty="0">
                <a:solidFill>
                  <a:srgbClr val="000000"/>
                </a:solidFill>
                <a:latin typeface="Radio Canada" pitchFamily="34" charset="0"/>
                <a:ea typeface="Radio Canada" pitchFamily="34" charset="-122"/>
                <a:cs typeface="Radio Canada" pitchFamily="34" charset="-120"/>
              </a:rPr>
              <a:t>Wobble</a:t>
            </a:r>
            <a:endParaRPr lang="en-US" sz="2100" dirty="0"/>
          </a:p>
        </p:txBody>
      </p:sp>
      <p:sp>
        <p:nvSpPr>
          <p:cNvPr id="12" name="Text 8"/>
          <p:cNvSpPr/>
          <p:nvPr/>
        </p:nvSpPr>
        <p:spPr>
          <a:xfrm>
            <a:off x="8048623" y="4698974"/>
            <a:ext cx="1962150" cy="356060"/>
          </a:xfrm>
          <a:prstGeom prst="rect">
            <a:avLst/>
          </a:prstGeom>
          <a:noFill/>
          <a:ln/>
        </p:spPr>
        <p:txBody>
          <a:bodyPr wrap="square" lIns="0" tIns="0" rIns="0" bIns="0" rtlCol="0" anchor="t">
            <a:normAutofit/>
          </a:bodyPr>
          <a:lstStyle/>
          <a:p>
            <a:pPr marL="0" indent="0" algn="ctr">
              <a:lnSpc>
                <a:spcPts val="2604"/>
              </a:lnSpc>
              <a:buNone/>
            </a:pPr>
            <a:r>
              <a:rPr lang="en-US" sz="2100" b="1" dirty="0">
                <a:solidFill>
                  <a:srgbClr val="CF7322"/>
                </a:solidFill>
                <a:latin typeface="Radio Canada" pitchFamily="34" charset="0"/>
                <a:ea typeface="Radio Canada" pitchFamily="34" charset="-122"/>
                <a:cs typeface="Radio Canada" pitchFamily="34" charset="-120"/>
              </a:rPr>
              <a:t>Ride</a:t>
            </a:r>
            <a:endParaRPr lang="en-US" sz="2100" dirty="0"/>
          </a:p>
        </p:txBody>
      </p:sp>
      <p:sp>
        <p:nvSpPr>
          <p:cNvPr id="13" name="Text 9"/>
          <p:cNvSpPr/>
          <p:nvPr/>
        </p:nvSpPr>
        <p:spPr>
          <a:xfrm>
            <a:off x="768325" y="5340347"/>
            <a:ext cx="3035267" cy="749274"/>
          </a:xfrm>
          <a:prstGeom prst="rect">
            <a:avLst/>
          </a:prstGeom>
          <a:solidFill>
            <a:srgbClr val="FFFFFF"/>
          </a:solidFill>
          <a:ln/>
        </p:spPr>
        <p:txBody>
          <a:bodyPr wrap="square" lIns="0" tIns="0" rIns="0" bIns="0" rtlCol="0" anchor="ctr">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Agent:</a:t>
            </a:r>
            <a:r>
              <a:rPr lang="en-US" sz="1800" dirty="0">
                <a:solidFill>
                  <a:srgbClr val="000000"/>
                </a:solidFill>
                <a:latin typeface="Radio Canada" pitchFamily="34" charset="0"/>
                <a:ea typeface="Radio Canada" pitchFamily="34" charset="-122"/>
                <a:cs typeface="Radio Canada" pitchFamily="34" charset="-120"/>
              </a:rPr>
              <a:t> the rider</a:t>
            </a:r>
            <a:endParaRPr lang="en-US" sz="1800" dirty="0"/>
          </a:p>
        </p:txBody>
      </p:sp>
      <p:sp>
        <p:nvSpPr>
          <p:cNvPr id="14" name="Text 10"/>
          <p:cNvSpPr/>
          <p:nvPr/>
        </p:nvSpPr>
        <p:spPr>
          <a:xfrm>
            <a:off x="4578325" y="5340347"/>
            <a:ext cx="3035267" cy="749274"/>
          </a:xfrm>
          <a:prstGeom prst="rect">
            <a:avLst/>
          </a:prstGeom>
          <a:solidFill>
            <a:srgbClr val="FFFFFF"/>
          </a:solidFill>
          <a:ln/>
        </p:spPr>
        <p:txBody>
          <a:bodyPr wrap="square" lIns="0" tIns="0" rIns="0" bIns="0" rtlCol="0" anchor="ctr">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Environment:</a:t>
            </a:r>
            <a:r>
              <a:rPr lang="en-US" sz="1800" dirty="0">
                <a:solidFill>
                  <a:srgbClr val="000000"/>
                </a:solidFill>
                <a:latin typeface="Radio Canada" pitchFamily="34" charset="0"/>
                <a:ea typeface="Radio Canada" pitchFamily="34" charset="-122"/>
                <a:cs typeface="Radio Canada" pitchFamily="34" charset="-120"/>
              </a:rPr>
              <a:t> the road</a:t>
            </a:r>
            <a:endParaRPr lang="en-US" sz="1800" dirty="0"/>
          </a:p>
        </p:txBody>
      </p:sp>
      <p:sp>
        <p:nvSpPr>
          <p:cNvPr id="15" name="Text 11"/>
          <p:cNvSpPr/>
          <p:nvPr/>
        </p:nvSpPr>
        <p:spPr>
          <a:xfrm>
            <a:off x="8388325" y="5340347"/>
            <a:ext cx="3035267" cy="749274"/>
          </a:xfrm>
          <a:prstGeom prst="rect">
            <a:avLst/>
          </a:prstGeom>
          <a:solidFill>
            <a:srgbClr val="FFFFFF"/>
          </a:solidFill>
          <a:ln/>
        </p:spPr>
        <p:txBody>
          <a:bodyPr wrap="square" lIns="0" tIns="0" rIns="0" bIns="0" rtlCol="0" anchor="ctr">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Reward:</a:t>
            </a:r>
            <a:r>
              <a:rPr lang="en-US" sz="1800" dirty="0">
                <a:solidFill>
                  <a:srgbClr val="000000"/>
                </a:solidFill>
                <a:latin typeface="Radio Canada" pitchFamily="34" charset="0"/>
                <a:ea typeface="Radio Canada" pitchFamily="34" charset="-122"/>
                <a:cs typeface="Radio Canada" pitchFamily="34" charset="-120"/>
              </a:rPr>
              <a:t> staying up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The RL loop aka MDP – Markov Decision Process</a:t>
            </a:r>
            <a:endParaRPr lang="en-US" sz="3000" dirty="0"/>
          </a:p>
        </p:txBody>
      </p:sp>
      <p:sp>
        <p:nvSpPr>
          <p:cNvPr id="8" name="Rectangle 7"/>
          <p:cNvSpPr/>
          <p:nvPr/>
        </p:nvSpPr>
        <p:spPr>
          <a:xfrm>
            <a:off x="768350" y="1530350"/>
            <a:ext cx="3035300" cy="3797300"/>
          </a:xfrm>
          <a:prstGeom prst="rect">
            <a:avLst/>
          </a:prstGeom>
          <a:solidFill>
            <a:srgbClr val="FFFFFF"/>
          </a:solidFill>
          <a:ln>
            <a:noFill/>
          </a:ln>
        </p:spPr>
        <p:txBody>
          <a:bodyPr rtlCol="0" anchor="ctr"/>
          <a:lstStyle/>
          <a:p>
            <a:pPr algn="ctr"/>
            <a:endParaRPr/>
          </a:p>
        </p:txBody>
      </p:sp>
      <p:sp>
        <p:nvSpPr>
          <p:cNvPr id="9" name="Rectangle 8"/>
          <p:cNvSpPr/>
          <p:nvPr/>
        </p:nvSpPr>
        <p:spPr>
          <a:xfrm>
            <a:off x="3816350" y="1530350"/>
            <a:ext cx="4559300" cy="1511300"/>
          </a:xfrm>
          <a:prstGeom prst="rect">
            <a:avLst/>
          </a:prstGeom>
          <a:solidFill>
            <a:srgbClr val="FFFFFF"/>
          </a:solidFill>
          <a:ln>
            <a:noFill/>
          </a:ln>
        </p:spPr>
        <p:txBody>
          <a:bodyPr rtlCol="0" anchor="ctr"/>
          <a:lstStyle/>
          <a:p>
            <a:pPr algn="ctr"/>
            <a:endParaRPr/>
          </a:p>
        </p:txBody>
      </p:sp>
      <p:sp>
        <p:nvSpPr>
          <p:cNvPr id="10" name="Rectangle 9"/>
          <p:cNvSpPr/>
          <p:nvPr/>
        </p:nvSpPr>
        <p:spPr>
          <a:xfrm>
            <a:off x="3816350" y="3054350"/>
            <a:ext cx="4559300" cy="2273300"/>
          </a:xfrm>
          <a:prstGeom prst="rect">
            <a:avLst/>
          </a:prstGeom>
          <a:solidFill>
            <a:srgbClr val="FFFFFF"/>
          </a:solidFill>
          <a:ln>
            <a:noFill/>
          </a:ln>
        </p:spPr>
        <p:txBody>
          <a:bodyPr rtlCol="0" anchor="ctr"/>
          <a:lstStyle/>
          <a:p>
            <a:pPr algn="ctr"/>
            <a:endParaRPr/>
          </a:p>
        </p:txBody>
      </p:sp>
      <p:sp>
        <p:nvSpPr>
          <p:cNvPr id="11" name="Rectangle 10"/>
          <p:cNvSpPr/>
          <p:nvPr/>
        </p:nvSpPr>
        <p:spPr>
          <a:xfrm>
            <a:off x="8388350" y="1530350"/>
            <a:ext cx="3035300" cy="3797300"/>
          </a:xfrm>
          <a:prstGeom prst="rect">
            <a:avLst/>
          </a:prstGeom>
          <a:solidFill>
            <a:srgbClr val="FFFFFF"/>
          </a:solidFill>
          <a:ln>
            <a:noFill/>
          </a:ln>
        </p:spPr>
        <p:txBody>
          <a:bodyPr rtlCol="0" anchor="ctr"/>
          <a:lstStyle/>
          <a:p>
            <a:pPr algn="ctr"/>
            <a:endParaRPr/>
          </a:p>
        </p:txBody>
      </p:sp>
      <p:pic>
        <p:nvPicPr>
          <p:cNvPr id="12" name="Picture 11" descr="The agent: our robot riding its bike"/>
          <p:cNvPicPr>
            <a:picLocks noChangeAspect="1"/>
          </p:cNvPicPr>
          <p:nvPr/>
        </p:nvPicPr>
        <p:blipFill>
          <a:blip r:embed="rId4"/>
          <a:stretch>
            <a:fillRect/>
          </a:stretch>
        </p:blipFill>
        <p:spPr>
          <a:xfrm>
            <a:off x="1333500" y="1879600"/>
            <a:ext cx="1905000" cy="1974850"/>
          </a:xfrm>
          <a:prstGeom prst="rect">
            <a:avLst/>
          </a:prstGeom>
        </p:spPr>
      </p:pic>
      <p:pic>
        <p:nvPicPr>
          <p:cNvPr id="13" name="Picture 12" descr="The environment: a road over a hill, with a tree and the sun"/>
          <p:cNvPicPr>
            <a:picLocks noChangeAspect="1"/>
          </p:cNvPicPr>
          <p:nvPr/>
        </p:nvPicPr>
        <p:blipFill>
          <a:blip r:embed="rId5"/>
          <a:stretch>
            <a:fillRect/>
          </a:stretch>
        </p:blipFill>
        <p:spPr>
          <a:xfrm>
            <a:off x="8953500" y="1879600"/>
            <a:ext cx="1905000" cy="1974850"/>
          </a:xfrm>
          <a:prstGeom prst="rect">
            <a:avLst/>
          </a:prstGeom>
        </p:spPr>
      </p:pic>
      <p:pic>
        <p:nvPicPr>
          <p:cNvPr id="14" name="Picture 13" descr="The state: a speed gauge"/>
          <p:cNvPicPr>
            <a:picLocks noChangeAspect="1"/>
          </p:cNvPicPr>
          <p:nvPr/>
        </p:nvPicPr>
        <p:blipFill>
          <a:blip r:embed="rId6"/>
          <a:stretch>
            <a:fillRect/>
          </a:stretch>
        </p:blipFill>
        <p:spPr>
          <a:xfrm>
            <a:off x="4572000" y="3429000"/>
            <a:ext cx="762000" cy="635000"/>
          </a:xfrm>
          <a:prstGeom prst="rect">
            <a:avLst/>
          </a:prstGeom>
        </p:spPr>
      </p:pic>
      <p:pic>
        <p:nvPicPr>
          <p:cNvPr id="15" name="Picture 14" descr="The reward: a star"/>
          <p:cNvPicPr>
            <a:picLocks noChangeAspect="1"/>
          </p:cNvPicPr>
          <p:nvPr/>
        </p:nvPicPr>
        <p:blipFill>
          <a:blip r:embed="rId7"/>
          <a:stretch>
            <a:fillRect/>
          </a:stretch>
        </p:blipFill>
        <p:spPr>
          <a:xfrm>
            <a:off x="6858000" y="3429000"/>
            <a:ext cx="762000" cy="635000"/>
          </a:xfrm>
          <a:prstGeom prst="rect">
            <a:avLst/>
          </a:prstGeom>
        </p:spPr>
      </p:pic>
      <p:cxnSp>
        <p:nvCxnSpPr>
          <p:cNvPr id="16" name="Connector 15"/>
          <p:cNvCxnSpPr/>
          <p:nvPr/>
        </p:nvCxnSpPr>
        <p:spPr>
          <a:xfrm>
            <a:off x="4191000" y="1790700"/>
            <a:ext cx="3810000" cy="0"/>
          </a:xfrm>
          <a:prstGeom prst="line">
            <a:avLst/>
          </a:prstGeom>
          <a:ln w="57150">
            <a:solidFill>
              <a:srgbClr val="222836"/>
            </a:solidFill>
            <a:tailEnd type="triangle" w="med" len="med"/>
          </a:ln>
        </p:spPr>
      </p:cxnSp>
      <p:cxnSp>
        <p:nvCxnSpPr>
          <p:cNvPr id="17" name="Connector 16"/>
          <p:cNvCxnSpPr/>
          <p:nvPr/>
        </p:nvCxnSpPr>
        <p:spPr>
          <a:xfrm flipH="1">
            <a:off x="4191000" y="3314700"/>
            <a:ext cx="3810000" cy="0"/>
          </a:xfrm>
          <a:prstGeom prst="line">
            <a:avLst/>
          </a:prstGeom>
          <a:ln w="57150">
            <a:solidFill>
              <a:srgbClr val="222836"/>
            </a:solidFill>
            <a:tailEnd type="triangle" w="med" len="med"/>
          </a:ln>
        </p:spPr>
      </p:cxnSp>
      <p:sp>
        <p:nvSpPr>
          <p:cNvPr id="18" name="TextBox 17"/>
          <p:cNvSpPr txBox="1"/>
          <p:nvPr/>
        </p:nvSpPr>
        <p:spPr>
          <a:xfrm>
            <a:off x="958850" y="3949700"/>
            <a:ext cx="2654300" cy="330200"/>
          </a:xfrm>
          <a:prstGeom prst="rect">
            <a:avLst/>
          </a:prstGeom>
          <a:noFill/>
        </p:spPr>
        <p:txBody>
          <a:bodyPr wrap="square" lIns="0" tIns="0" rIns="0" bIns="0" anchor="t">
            <a:noAutofit/>
          </a:bodyPr>
          <a:lstStyle/>
          <a:p>
            <a:pPr algn="ctr"/>
            <a:r>
              <a:rPr sz="2100" b="1">
                <a:solidFill>
                  <a:srgbClr val="000000"/>
                </a:solidFill>
                <a:latin typeface="Radio Canada"/>
              </a:rPr>
              <a:t>Agent</a:t>
            </a:r>
          </a:p>
        </p:txBody>
      </p:sp>
      <p:sp>
        <p:nvSpPr>
          <p:cNvPr id="19" name="TextBox 18"/>
          <p:cNvSpPr txBox="1"/>
          <p:nvPr/>
        </p:nvSpPr>
        <p:spPr>
          <a:xfrm>
            <a:off x="958850" y="4292600"/>
            <a:ext cx="2654300" cy="304800"/>
          </a:xfrm>
          <a:prstGeom prst="rect">
            <a:avLst/>
          </a:prstGeom>
          <a:noFill/>
        </p:spPr>
        <p:txBody>
          <a:bodyPr wrap="square" lIns="0" tIns="0" rIns="0" bIns="0" anchor="t">
            <a:noAutofit/>
          </a:bodyPr>
          <a:lstStyle/>
          <a:p>
            <a:pPr algn="ctr"/>
            <a:r>
              <a:rPr sz="1800" b="0">
                <a:solidFill>
                  <a:srgbClr val="222836"/>
                </a:solidFill>
                <a:latin typeface="Radio Canada"/>
              </a:rPr>
              <a:t>decides what to do</a:t>
            </a:r>
          </a:p>
        </p:txBody>
      </p:sp>
      <p:sp>
        <p:nvSpPr>
          <p:cNvPr id="20" name="TextBox 19"/>
          <p:cNvSpPr txBox="1"/>
          <p:nvPr/>
        </p:nvSpPr>
        <p:spPr>
          <a:xfrm>
            <a:off x="958850" y="4635500"/>
            <a:ext cx="2654300" cy="241300"/>
          </a:xfrm>
          <a:prstGeom prst="rect">
            <a:avLst/>
          </a:prstGeom>
          <a:noFill/>
        </p:spPr>
        <p:txBody>
          <a:bodyPr wrap="square" lIns="0" tIns="0" rIns="0" bIns="0" anchor="t">
            <a:noAutofit/>
          </a:bodyPr>
          <a:lstStyle/>
          <a:p>
            <a:pPr algn="ctr"/>
            <a:r>
              <a:rPr sz="1400" b="1">
                <a:solidFill>
                  <a:srgbClr val="CF7322"/>
                </a:solidFill>
                <a:latin typeface="Radio Canada"/>
              </a:rPr>
              <a:t>Bike: the rider</a:t>
            </a:r>
          </a:p>
        </p:txBody>
      </p:sp>
      <p:sp>
        <p:nvSpPr>
          <p:cNvPr id="21" name="TextBox 20"/>
          <p:cNvSpPr txBox="1"/>
          <p:nvPr/>
        </p:nvSpPr>
        <p:spPr>
          <a:xfrm>
            <a:off x="8578850" y="3949700"/>
            <a:ext cx="2654300" cy="330200"/>
          </a:xfrm>
          <a:prstGeom prst="rect">
            <a:avLst/>
          </a:prstGeom>
          <a:noFill/>
        </p:spPr>
        <p:txBody>
          <a:bodyPr wrap="square" lIns="0" tIns="0" rIns="0" bIns="0" anchor="t">
            <a:noAutofit/>
          </a:bodyPr>
          <a:lstStyle/>
          <a:p>
            <a:pPr algn="ctr"/>
            <a:r>
              <a:rPr sz="2100" b="1">
                <a:solidFill>
                  <a:srgbClr val="000000"/>
                </a:solidFill>
                <a:latin typeface="Radio Canada"/>
              </a:rPr>
              <a:t>Environment</a:t>
            </a:r>
          </a:p>
        </p:txBody>
      </p:sp>
      <p:sp>
        <p:nvSpPr>
          <p:cNvPr id="22" name="TextBox 21"/>
          <p:cNvSpPr txBox="1"/>
          <p:nvPr/>
        </p:nvSpPr>
        <p:spPr>
          <a:xfrm>
            <a:off x="8578850" y="4292600"/>
            <a:ext cx="2654300" cy="304800"/>
          </a:xfrm>
          <a:prstGeom prst="rect">
            <a:avLst/>
          </a:prstGeom>
          <a:noFill/>
        </p:spPr>
        <p:txBody>
          <a:bodyPr wrap="square" lIns="0" tIns="0" rIns="0" bIns="0" anchor="t">
            <a:noAutofit/>
          </a:bodyPr>
          <a:lstStyle/>
          <a:p>
            <a:pPr algn="ctr"/>
            <a:r>
              <a:rPr sz="1800" b="0">
                <a:solidFill>
                  <a:srgbClr val="222836"/>
                </a:solidFill>
                <a:latin typeface="Radio Canada"/>
              </a:rPr>
              <a:t>the world it acts in</a:t>
            </a:r>
          </a:p>
        </p:txBody>
      </p:sp>
      <p:sp>
        <p:nvSpPr>
          <p:cNvPr id="23" name="TextBox 22"/>
          <p:cNvSpPr txBox="1"/>
          <p:nvPr/>
        </p:nvSpPr>
        <p:spPr>
          <a:xfrm>
            <a:off x="8578850" y="4635500"/>
            <a:ext cx="2654300" cy="241300"/>
          </a:xfrm>
          <a:prstGeom prst="rect">
            <a:avLst/>
          </a:prstGeom>
          <a:noFill/>
        </p:spPr>
        <p:txBody>
          <a:bodyPr wrap="square" lIns="0" tIns="0" rIns="0" bIns="0" anchor="t">
            <a:noAutofit/>
          </a:bodyPr>
          <a:lstStyle/>
          <a:p>
            <a:pPr algn="ctr"/>
            <a:r>
              <a:rPr sz="1400" b="1">
                <a:solidFill>
                  <a:srgbClr val="CF7322"/>
                </a:solidFill>
                <a:latin typeface="Radio Canada"/>
              </a:rPr>
              <a:t>Bike: the road</a:t>
            </a:r>
          </a:p>
        </p:txBody>
      </p:sp>
      <p:sp>
        <p:nvSpPr>
          <p:cNvPr id="24" name="TextBox 23"/>
          <p:cNvSpPr txBox="1"/>
          <p:nvPr/>
        </p:nvSpPr>
        <p:spPr>
          <a:xfrm>
            <a:off x="4006850" y="2006600"/>
            <a:ext cx="4178300" cy="330200"/>
          </a:xfrm>
          <a:prstGeom prst="rect">
            <a:avLst/>
          </a:prstGeom>
          <a:noFill/>
        </p:spPr>
        <p:txBody>
          <a:bodyPr wrap="square" lIns="0" tIns="0" rIns="0" bIns="0" anchor="t">
            <a:noAutofit/>
          </a:bodyPr>
          <a:lstStyle/>
          <a:p>
            <a:pPr algn="ctr"/>
            <a:r>
              <a:rPr sz="2100" b="1">
                <a:solidFill>
                  <a:srgbClr val="000000"/>
                </a:solidFill>
                <a:latin typeface="Radio Canada"/>
              </a:rPr>
              <a:t>Action</a:t>
            </a:r>
          </a:p>
        </p:txBody>
      </p:sp>
      <p:sp>
        <p:nvSpPr>
          <p:cNvPr id="25" name="TextBox 24"/>
          <p:cNvSpPr txBox="1"/>
          <p:nvPr/>
        </p:nvSpPr>
        <p:spPr>
          <a:xfrm>
            <a:off x="4006850" y="2349500"/>
            <a:ext cx="4178300" cy="304800"/>
          </a:xfrm>
          <a:prstGeom prst="rect">
            <a:avLst/>
          </a:prstGeom>
          <a:noFill/>
        </p:spPr>
        <p:txBody>
          <a:bodyPr wrap="square" lIns="0" tIns="0" rIns="0" bIns="0" anchor="t">
            <a:noAutofit/>
          </a:bodyPr>
          <a:lstStyle/>
          <a:p>
            <a:pPr algn="ctr"/>
            <a:r>
              <a:rPr sz="1800" b="0">
                <a:solidFill>
                  <a:srgbClr val="222836"/>
                </a:solidFill>
                <a:latin typeface="Radio Canada"/>
              </a:rPr>
              <a:t>what it does</a:t>
            </a:r>
          </a:p>
        </p:txBody>
      </p:sp>
      <p:sp>
        <p:nvSpPr>
          <p:cNvPr id="26" name="TextBox 25"/>
          <p:cNvSpPr txBox="1"/>
          <p:nvPr/>
        </p:nvSpPr>
        <p:spPr>
          <a:xfrm>
            <a:off x="4006850" y="2692400"/>
            <a:ext cx="4178300" cy="241300"/>
          </a:xfrm>
          <a:prstGeom prst="rect">
            <a:avLst/>
          </a:prstGeom>
          <a:noFill/>
        </p:spPr>
        <p:txBody>
          <a:bodyPr wrap="square" lIns="0" tIns="0" rIns="0" bIns="0" anchor="t">
            <a:noAutofit/>
          </a:bodyPr>
          <a:lstStyle/>
          <a:p>
            <a:pPr algn="ctr"/>
            <a:r>
              <a:rPr sz="1400" b="1">
                <a:solidFill>
                  <a:srgbClr val="CF7322"/>
                </a:solidFill>
                <a:latin typeface="Radio Canada"/>
              </a:rPr>
              <a:t>Bike: pedal, steer</a:t>
            </a:r>
          </a:p>
        </p:txBody>
      </p:sp>
      <p:sp>
        <p:nvSpPr>
          <p:cNvPr id="27" name="TextBox 26"/>
          <p:cNvSpPr txBox="1"/>
          <p:nvPr/>
        </p:nvSpPr>
        <p:spPr>
          <a:xfrm>
            <a:off x="3943350" y="4165600"/>
            <a:ext cx="2025650" cy="330200"/>
          </a:xfrm>
          <a:prstGeom prst="rect">
            <a:avLst/>
          </a:prstGeom>
          <a:noFill/>
        </p:spPr>
        <p:txBody>
          <a:bodyPr wrap="square" lIns="0" tIns="0" rIns="0" bIns="0" anchor="t">
            <a:noAutofit/>
          </a:bodyPr>
          <a:lstStyle/>
          <a:p>
            <a:pPr algn="ctr"/>
            <a:r>
              <a:rPr sz="2100" b="1">
                <a:solidFill>
                  <a:srgbClr val="000000"/>
                </a:solidFill>
                <a:latin typeface="Radio Canada"/>
              </a:rPr>
              <a:t>State</a:t>
            </a:r>
          </a:p>
        </p:txBody>
      </p:sp>
      <p:sp>
        <p:nvSpPr>
          <p:cNvPr id="28" name="TextBox 27"/>
          <p:cNvSpPr txBox="1"/>
          <p:nvPr/>
        </p:nvSpPr>
        <p:spPr>
          <a:xfrm>
            <a:off x="3943350" y="4508500"/>
            <a:ext cx="2025650" cy="304800"/>
          </a:xfrm>
          <a:prstGeom prst="rect">
            <a:avLst/>
          </a:prstGeom>
          <a:noFill/>
        </p:spPr>
        <p:txBody>
          <a:bodyPr wrap="square" lIns="0" tIns="0" rIns="0" bIns="0" anchor="t">
            <a:noAutofit/>
          </a:bodyPr>
          <a:lstStyle/>
          <a:p>
            <a:pPr algn="ctr"/>
            <a:r>
              <a:rPr sz="1800" b="0">
                <a:solidFill>
                  <a:srgbClr val="222836"/>
                </a:solidFill>
                <a:latin typeface="Radio Canada"/>
              </a:rPr>
              <a:t>what it sees now</a:t>
            </a:r>
          </a:p>
        </p:txBody>
      </p:sp>
      <p:sp>
        <p:nvSpPr>
          <p:cNvPr id="29" name="TextBox 28"/>
          <p:cNvSpPr txBox="1"/>
          <p:nvPr/>
        </p:nvSpPr>
        <p:spPr>
          <a:xfrm>
            <a:off x="3943350" y="4851400"/>
            <a:ext cx="2025650" cy="241300"/>
          </a:xfrm>
          <a:prstGeom prst="rect">
            <a:avLst/>
          </a:prstGeom>
          <a:noFill/>
        </p:spPr>
        <p:txBody>
          <a:bodyPr wrap="square" lIns="0" tIns="0" rIns="0" bIns="0" anchor="t">
            <a:noAutofit/>
          </a:bodyPr>
          <a:lstStyle/>
          <a:p>
            <a:pPr algn="ctr"/>
            <a:r>
              <a:rPr sz="1400" b="1">
                <a:solidFill>
                  <a:srgbClr val="CF7322"/>
                </a:solidFill>
                <a:latin typeface="Radio Canada"/>
              </a:rPr>
              <a:t>Bike: speed, wobble</a:t>
            </a:r>
          </a:p>
        </p:txBody>
      </p:sp>
      <p:sp>
        <p:nvSpPr>
          <p:cNvPr id="30" name="TextBox 29"/>
          <p:cNvSpPr txBox="1"/>
          <p:nvPr/>
        </p:nvSpPr>
        <p:spPr>
          <a:xfrm>
            <a:off x="6223000" y="4165600"/>
            <a:ext cx="2025650" cy="330200"/>
          </a:xfrm>
          <a:prstGeom prst="rect">
            <a:avLst/>
          </a:prstGeom>
          <a:noFill/>
        </p:spPr>
        <p:txBody>
          <a:bodyPr wrap="square" lIns="0" tIns="0" rIns="0" bIns="0" anchor="t">
            <a:noAutofit/>
          </a:bodyPr>
          <a:lstStyle/>
          <a:p>
            <a:pPr algn="ctr"/>
            <a:r>
              <a:rPr sz="2100" b="1">
                <a:solidFill>
                  <a:srgbClr val="000000"/>
                </a:solidFill>
                <a:latin typeface="Radio Canada"/>
              </a:rPr>
              <a:t>Reward</a:t>
            </a:r>
          </a:p>
        </p:txBody>
      </p:sp>
      <p:sp>
        <p:nvSpPr>
          <p:cNvPr id="31" name="TextBox 30"/>
          <p:cNvSpPr txBox="1"/>
          <p:nvPr/>
        </p:nvSpPr>
        <p:spPr>
          <a:xfrm>
            <a:off x="6223000" y="4508500"/>
            <a:ext cx="2025650" cy="304800"/>
          </a:xfrm>
          <a:prstGeom prst="rect">
            <a:avLst/>
          </a:prstGeom>
          <a:noFill/>
        </p:spPr>
        <p:txBody>
          <a:bodyPr wrap="square" lIns="0" tIns="0" rIns="0" bIns="0" anchor="t">
            <a:noAutofit/>
          </a:bodyPr>
          <a:lstStyle/>
          <a:p>
            <a:pPr algn="ctr"/>
            <a:r>
              <a:rPr sz="1800" b="0">
                <a:solidFill>
                  <a:srgbClr val="222836"/>
                </a:solidFill>
                <a:latin typeface="Radio Canada"/>
              </a:rPr>
              <a:t>how well it did</a:t>
            </a:r>
          </a:p>
        </p:txBody>
      </p:sp>
      <p:sp>
        <p:nvSpPr>
          <p:cNvPr id="32" name="TextBox 31"/>
          <p:cNvSpPr txBox="1"/>
          <p:nvPr/>
        </p:nvSpPr>
        <p:spPr>
          <a:xfrm>
            <a:off x="6223000" y="4851400"/>
            <a:ext cx="2025650" cy="241300"/>
          </a:xfrm>
          <a:prstGeom prst="rect">
            <a:avLst/>
          </a:prstGeom>
          <a:noFill/>
        </p:spPr>
        <p:txBody>
          <a:bodyPr wrap="square" lIns="0" tIns="0" rIns="0" bIns="0" anchor="t">
            <a:noAutofit/>
          </a:bodyPr>
          <a:lstStyle/>
          <a:p>
            <a:pPr algn="ctr"/>
            <a:r>
              <a:rPr sz="1400" b="1">
                <a:solidFill>
                  <a:srgbClr val="CF7322"/>
                </a:solidFill>
                <a:latin typeface="Radio Canada"/>
              </a:rPr>
              <a:t>Bike: staying up</a:t>
            </a:r>
          </a:p>
        </p:txBody>
      </p:sp>
      <p:sp>
        <p:nvSpPr>
          <p:cNvPr id="33" name="Rectangle 32"/>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See the state. Act. Get the reward. </a:t>
            </a:r>
            <a:r>
              <a:rPr sz="2100" b="0">
                <a:solidFill>
                  <a:srgbClr val="F09601"/>
                </a:solidFill>
                <a:latin typeface="Radio Canada"/>
              </a:rPr>
              <a:t>Repeat.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2292331"/>
            <a:ext cx="749274" cy="749274"/>
          </a:xfrm>
          <a:prstGeom prst="rect">
            <a:avLst/>
          </a:prstGeom>
          <a:solidFill>
            <a:srgbClr val="F09601"/>
          </a:solidFill>
          <a:ln/>
        </p:spPr>
        <p:txBody>
          <a:bodyPr/>
          <a:lstStyle/>
          <a:p>
            <a:endParaRPr lang="en-AE"/>
          </a:p>
        </p:txBody>
      </p:sp>
      <p:sp>
        <p:nvSpPr>
          <p:cNvPr id="4" name="Shape 1"/>
          <p:cNvSpPr/>
          <p:nvPr/>
        </p:nvSpPr>
        <p:spPr>
          <a:xfrm>
            <a:off x="11436338" y="3816338"/>
            <a:ext cx="749274" cy="749274"/>
          </a:xfrm>
          <a:prstGeom prst="rect">
            <a:avLst/>
          </a:prstGeom>
          <a:solidFill>
            <a:srgbClr val="222836"/>
          </a:solidFill>
          <a:ln/>
        </p:spPr>
        <p:txBody>
          <a:bodyPr/>
          <a:lstStyle/>
          <a:p>
            <a:endParaRPr lang="en-AE"/>
          </a:p>
        </p:txBody>
      </p:sp>
      <p:sp>
        <p:nvSpPr>
          <p:cNvPr id="5" name="Shape 2"/>
          <p:cNvSpPr/>
          <p:nvPr/>
        </p:nvSpPr>
        <p:spPr>
          <a:xfrm>
            <a:off x="768325" y="768325"/>
            <a:ext cx="10655267" cy="749274"/>
          </a:xfrm>
          <a:prstGeom prst="rect">
            <a:avLst/>
          </a:prstGeom>
          <a:solidFill>
            <a:srgbClr val="FFFFFF"/>
          </a:solidFill>
          <a:ln/>
        </p:spPr>
        <p:txBody>
          <a:bodyPr/>
          <a:lstStyle/>
          <a:p>
            <a:endParaRPr lang="en-AE"/>
          </a:p>
        </p:txBody>
      </p:sp>
      <p:sp>
        <p:nvSpPr>
          <p:cNvPr id="6" name="Text 3"/>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Why not just…?</a:t>
            </a:r>
            <a:endParaRPr lang="en-US" sz="3000" dirty="0"/>
          </a:p>
        </p:txBody>
      </p:sp>
      <p:sp>
        <p:nvSpPr>
          <p:cNvPr id="7" name="Shape 4"/>
          <p:cNvSpPr/>
          <p:nvPr/>
        </p:nvSpPr>
        <p:spPr>
          <a:xfrm>
            <a:off x="768325" y="1530344"/>
            <a:ext cx="3035267" cy="3797288"/>
          </a:xfrm>
          <a:prstGeom prst="rect">
            <a:avLst/>
          </a:prstGeom>
          <a:solidFill>
            <a:srgbClr val="FFFFFF"/>
          </a:solidFill>
          <a:ln/>
        </p:spPr>
        <p:txBody>
          <a:bodyPr/>
          <a:lstStyle/>
          <a:p>
            <a:endParaRPr lang="en-AE"/>
          </a:p>
        </p:txBody>
      </p:sp>
      <p:pic>
        <p:nvPicPr>
          <p:cNvPr id="8" name="Image 1" descr="The robot proudly holding the router plug"/>
          <p:cNvPicPr>
            <a:picLocks noChangeAspect="1"/>
          </p:cNvPicPr>
          <p:nvPr/>
        </p:nvPicPr>
        <p:blipFill>
          <a:blip r:embed="rId4"/>
          <a:srcRect/>
          <a:stretch/>
        </p:blipFill>
        <p:spPr>
          <a:xfrm>
            <a:off x="1593804" y="2000427"/>
            <a:ext cx="1384274" cy="1523972"/>
          </a:xfrm>
          <a:prstGeom prst="rect">
            <a:avLst/>
          </a:prstGeom>
        </p:spPr>
      </p:pic>
      <p:sp>
        <p:nvSpPr>
          <p:cNvPr id="9" name="Text 5"/>
          <p:cNvSpPr/>
          <p:nvPr/>
        </p:nvSpPr>
        <p:spPr>
          <a:xfrm>
            <a:off x="962215" y="3613283"/>
            <a:ext cx="2647487"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Better instructions?</a:t>
            </a:r>
            <a:endParaRPr lang="en-US" sz="1800" dirty="0"/>
          </a:p>
        </p:txBody>
      </p:sp>
      <p:sp>
        <p:nvSpPr>
          <p:cNvPr id="10" name="Text 6"/>
          <p:cNvSpPr/>
          <p:nvPr/>
        </p:nvSpPr>
        <p:spPr>
          <a:xfrm>
            <a:off x="918990" y="4006196"/>
            <a:ext cx="2733937" cy="508954"/>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It knew the rules. Still pulled the plug.</a:t>
            </a:r>
            <a:endParaRPr lang="en-US" sz="1400" dirty="0"/>
          </a:p>
        </p:txBody>
      </p:sp>
      <p:sp>
        <p:nvSpPr>
          <p:cNvPr id="11" name="Text 7"/>
          <p:cNvSpPr/>
          <p:nvPr/>
        </p:nvSpPr>
        <p:spPr>
          <a:xfrm>
            <a:off x="1750384" y="4578632"/>
            <a:ext cx="1071115" cy="278880"/>
          </a:xfrm>
          <a:custGeom>
            <a:avLst/>
            <a:gdLst/>
            <a:ahLst/>
            <a:cxnLst/>
            <a:rect l="l" t="t" r="r" b="b"/>
            <a:pathLst>
              <a:path w="1071115" h="278880">
                <a:moveTo>
                  <a:pt x="139440" y="0"/>
                </a:moveTo>
                <a:lnTo>
                  <a:pt x="931674" y="0"/>
                </a:lnTo>
                <a:arcTo wR="139440" hR="139440" stAng="16200000" swAng="5400000"/>
                <a:lnTo>
                  <a:pt x="1071115" y="139440"/>
                </a:lnTo>
                <a:arcTo wR="139440" hR="139440" stAng="0" swAng="5400000"/>
                <a:lnTo>
                  <a:pt x="139440" y="278880"/>
                </a:lnTo>
                <a:arcTo wR="139440" hR="139440" stAng="5400000" swAng="5400000"/>
                <a:lnTo>
                  <a:pt x="0" y="139440"/>
                </a:lnTo>
                <a:arcTo wR="139440" hR="139440" stAng="10800000" swAng="5400000"/>
                <a:close/>
              </a:path>
            </a:pathLst>
          </a:custGeom>
          <a:solidFill>
            <a:srgbClr val="D3D7E3"/>
          </a:solidFill>
          <a:ln/>
        </p:spPr>
        <p:txBody>
          <a:bodyPr wrap="none" lIns="0" tIns="0" rIns="0" bIns="0" rtlCol="0" anchor="ctr">
            <a:normAutofit/>
          </a:bodyPr>
          <a:lstStyle/>
          <a:p>
            <a:pPr marL="0" indent="0" algn="ctr">
              <a:lnSpc>
                <a:spcPts val="2196"/>
              </a:lnSpc>
              <a:buNone/>
            </a:pPr>
            <a:r>
              <a:rPr lang="en-US" sz="1200" b="1" dirty="0">
                <a:solidFill>
                  <a:srgbClr val="222836"/>
                </a:solidFill>
                <a:latin typeface="Radio Canada" pitchFamily="34" charset="0"/>
                <a:ea typeface="Radio Canada" pitchFamily="34" charset="-122"/>
                <a:cs typeface="Radio Canada" pitchFamily="34" charset="-120"/>
              </a:rPr>
              <a:t>Not enough</a:t>
            </a:r>
            <a:endParaRPr lang="en-US" sz="1200" dirty="0"/>
          </a:p>
        </p:txBody>
      </p:sp>
      <p:sp>
        <p:nvSpPr>
          <p:cNvPr id="12" name="Shape 8"/>
          <p:cNvSpPr/>
          <p:nvPr/>
        </p:nvSpPr>
        <p:spPr>
          <a:xfrm>
            <a:off x="4578325" y="1530344"/>
            <a:ext cx="3035267" cy="3797288"/>
          </a:xfrm>
          <a:prstGeom prst="rect">
            <a:avLst/>
          </a:prstGeom>
          <a:solidFill>
            <a:srgbClr val="FFFFFF"/>
          </a:solidFill>
          <a:ln/>
        </p:spPr>
        <p:txBody>
          <a:bodyPr/>
          <a:lstStyle/>
          <a:p>
            <a:endParaRPr lang="en-AE"/>
          </a:p>
        </p:txBody>
      </p:sp>
      <p:pic>
        <p:nvPicPr>
          <p:cNvPr id="13" name="Image 2" descr="The robot copying answers from a script"/>
          <p:cNvPicPr>
            <a:picLocks noChangeAspect="1"/>
          </p:cNvPicPr>
          <p:nvPr/>
        </p:nvPicPr>
        <p:blipFill>
          <a:blip r:embed="rId5"/>
          <a:srcRect/>
          <a:stretch/>
        </p:blipFill>
        <p:spPr>
          <a:xfrm>
            <a:off x="5057744" y="2000427"/>
            <a:ext cx="2076428" cy="1523972"/>
          </a:xfrm>
          <a:prstGeom prst="rect">
            <a:avLst/>
          </a:prstGeom>
        </p:spPr>
      </p:pic>
      <p:sp>
        <p:nvSpPr>
          <p:cNvPr id="14" name="Text 9"/>
          <p:cNvSpPr/>
          <p:nvPr/>
        </p:nvSpPr>
        <p:spPr>
          <a:xfrm>
            <a:off x="5239373" y="3613283"/>
            <a:ext cx="1713136"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Fine-tuning?</a:t>
            </a:r>
            <a:endParaRPr lang="en-US" sz="1800" dirty="0"/>
          </a:p>
        </p:txBody>
      </p:sp>
      <p:sp>
        <p:nvSpPr>
          <p:cNvPr id="15" name="Text 10"/>
          <p:cNvSpPr/>
          <p:nvPr/>
        </p:nvSpPr>
        <p:spPr>
          <a:xfrm>
            <a:off x="4728990" y="4006196"/>
            <a:ext cx="2733937" cy="508954"/>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Needs a perfect reply for every turn.</a:t>
            </a:r>
            <a:endParaRPr lang="en-US" sz="1400" dirty="0"/>
          </a:p>
        </p:txBody>
      </p:sp>
      <p:sp>
        <p:nvSpPr>
          <p:cNvPr id="16" name="Text 11"/>
          <p:cNvSpPr/>
          <p:nvPr/>
        </p:nvSpPr>
        <p:spPr>
          <a:xfrm>
            <a:off x="5457823" y="4578632"/>
            <a:ext cx="1276270" cy="278880"/>
          </a:xfrm>
          <a:custGeom>
            <a:avLst/>
            <a:gdLst/>
            <a:ahLst/>
            <a:cxnLst/>
            <a:rect l="l" t="t" r="r" b="b"/>
            <a:pathLst>
              <a:path w="1276270" h="278880">
                <a:moveTo>
                  <a:pt x="139440" y="0"/>
                </a:moveTo>
                <a:lnTo>
                  <a:pt x="1136830" y="0"/>
                </a:lnTo>
                <a:arcTo wR="139440" hR="139440" stAng="16200000" swAng="5400000"/>
                <a:lnTo>
                  <a:pt x="1276270" y="139440"/>
                </a:lnTo>
                <a:arcTo wR="139440" hR="139440" stAng="0" swAng="5400000"/>
                <a:lnTo>
                  <a:pt x="139440" y="278880"/>
                </a:lnTo>
                <a:arcTo wR="139440" hR="139440" stAng="5400000" swAng="5400000"/>
                <a:lnTo>
                  <a:pt x="0" y="139440"/>
                </a:lnTo>
                <a:arcTo wR="139440" hR="139440" stAng="10800000" swAng="5400000"/>
                <a:close/>
              </a:path>
            </a:pathLst>
          </a:custGeom>
          <a:solidFill>
            <a:srgbClr val="D3D7E3"/>
          </a:solidFill>
          <a:ln/>
        </p:spPr>
        <p:txBody>
          <a:bodyPr wrap="none" lIns="0" tIns="0" rIns="0" bIns="0" rtlCol="0" anchor="ctr">
            <a:normAutofit/>
          </a:bodyPr>
          <a:lstStyle/>
          <a:p>
            <a:pPr marL="0" indent="0" algn="ctr">
              <a:lnSpc>
                <a:spcPts val="2196"/>
              </a:lnSpc>
              <a:buNone/>
            </a:pPr>
            <a:r>
              <a:rPr lang="en-US" sz="1200" b="1" dirty="0">
                <a:solidFill>
                  <a:srgbClr val="222836"/>
                </a:solidFill>
                <a:latin typeface="Radio Canada" pitchFamily="34" charset="0"/>
                <a:ea typeface="Radio Canada" pitchFamily="34" charset="-122"/>
                <a:cs typeface="Radio Canada" pitchFamily="34" charset="-120"/>
              </a:rPr>
              <a:t>Costly to write</a:t>
            </a:r>
            <a:endParaRPr lang="en-US" sz="1200" dirty="0"/>
          </a:p>
        </p:txBody>
      </p:sp>
      <p:sp>
        <p:nvSpPr>
          <p:cNvPr id="17" name="Shape 12"/>
          <p:cNvSpPr/>
          <p:nvPr/>
        </p:nvSpPr>
        <p:spPr>
          <a:xfrm>
            <a:off x="8401025" y="1543044"/>
            <a:ext cx="3009867" cy="3771888"/>
          </a:xfrm>
          <a:prstGeom prst="rect">
            <a:avLst/>
          </a:prstGeom>
          <a:solidFill>
            <a:srgbClr val="FFFFFF"/>
          </a:solidFill>
          <a:ln w="25400">
            <a:solidFill>
              <a:srgbClr val="F09601"/>
            </a:solidFill>
            <a:prstDash val="solid"/>
          </a:ln>
        </p:spPr>
        <p:txBody>
          <a:bodyPr/>
          <a:lstStyle/>
          <a:p>
            <a:endParaRPr lang="en-AE"/>
          </a:p>
        </p:txBody>
      </p:sp>
      <p:pic>
        <p:nvPicPr>
          <p:cNvPr id="18" name="Image 3" descr="The robot cheering at a rising scoreboard"/>
          <p:cNvPicPr>
            <a:picLocks noChangeAspect="1"/>
          </p:cNvPicPr>
          <p:nvPr/>
        </p:nvPicPr>
        <p:blipFill>
          <a:blip r:embed="rId6"/>
          <a:srcRect/>
          <a:stretch/>
        </p:blipFill>
        <p:spPr>
          <a:xfrm>
            <a:off x="8867744" y="2121315"/>
            <a:ext cx="2076428" cy="1523972"/>
          </a:xfrm>
          <a:prstGeom prst="rect">
            <a:avLst/>
          </a:prstGeom>
        </p:spPr>
      </p:pic>
      <p:sp>
        <p:nvSpPr>
          <p:cNvPr id="19" name="Text 13"/>
          <p:cNvSpPr/>
          <p:nvPr/>
        </p:nvSpPr>
        <p:spPr>
          <a:xfrm>
            <a:off x="8681767" y="3734172"/>
            <a:ext cx="2448347"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Learn from a score</a:t>
            </a:r>
            <a:endParaRPr lang="en-US" sz="1800" dirty="0"/>
          </a:p>
        </p:txBody>
      </p:sp>
      <p:sp>
        <p:nvSpPr>
          <p:cNvPr id="20" name="Text 14"/>
          <p:cNvSpPr/>
          <p:nvPr/>
        </p:nvSpPr>
        <p:spPr>
          <a:xfrm>
            <a:off x="8413725" y="4127088"/>
            <a:ext cx="2984431" cy="267177"/>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Needs only tickets and a score.</a:t>
            </a:r>
            <a:endParaRPr lang="en-US" sz="1400" dirty="0"/>
          </a:p>
        </p:txBody>
      </p:sp>
      <p:sp>
        <p:nvSpPr>
          <p:cNvPr id="21" name="Text 15"/>
          <p:cNvSpPr/>
          <p:nvPr/>
        </p:nvSpPr>
        <p:spPr>
          <a:xfrm>
            <a:off x="9498541" y="4457747"/>
            <a:ext cx="814799" cy="278880"/>
          </a:xfrm>
          <a:custGeom>
            <a:avLst/>
            <a:gdLst/>
            <a:ahLst/>
            <a:cxnLst/>
            <a:rect l="l" t="t" r="r" b="b"/>
            <a:pathLst>
              <a:path w="814799" h="278880">
                <a:moveTo>
                  <a:pt x="139440" y="0"/>
                </a:moveTo>
                <a:lnTo>
                  <a:pt x="675359" y="0"/>
                </a:lnTo>
                <a:arcTo wR="139440" hR="139440" stAng="16200000" swAng="5400000"/>
                <a:lnTo>
                  <a:pt x="814799" y="139440"/>
                </a:lnTo>
                <a:arcTo wR="139440" hR="139440" stAng="0" swAng="5400000"/>
                <a:lnTo>
                  <a:pt x="139440" y="278880"/>
                </a:lnTo>
                <a:arcTo wR="139440" hR="139440" stAng="5400000" swAng="5400000"/>
                <a:lnTo>
                  <a:pt x="0" y="139440"/>
                </a:lnTo>
                <a:arcTo wR="139440" hR="139440" stAng="10800000" swAng="5400000"/>
                <a:close/>
              </a:path>
            </a:pathLst>
          </a:custGeom>
          <a:solidFill>
            <a:srgbClr val="F09601"/>
          </a:solidFill>
          <a:ln/>
        </p:spPr>
        <p:txBody>
          <a:bodyPr wrap="none" lIns="0" tIns="0" rIns="0" bIns="0" rtlCol="0" anchor="ctr">
            <a:normAutofit/>
          </a:bodyPr>
          <a:lstStyle/>
          <a:p>
            <a:pPr marL="0" indent="0" algn="ctr">
              <a:lnSpc>
                <a:spcPts val="2196"/>
              </a:lnSpc>
              <a:buNone/>
            </a:pPr>
            <a:r>
              <a:rPr lang="en-US" sz="1200" b="1" dirty="0">
                <a:solidFill>
                  <a:srgbClr val="222836"/>
                </a:solidFill>
                <a:latin typeface="Radio Canada" pitchFamily="34" charset="0"/>
                <a:ea typeface="Radio Canada" pitchFamily="34" charset="-122"/>
                <a:cs typeface="Radio Canada" pitchFamily="34" charset="-120"/>
              </a:rPr>
              <a:t>Our pick</a:t>
            </a:r>
            <a:endParaRPr lang="en-US" sz="1200" dirty="0"/>
          </a:p>
        </p:txBody>
      </p:sp>
      <p:sp>
        <p:nvSpPr>
          <p:cNvPr id="22" name="Text 16"/>
          <p:cNvSpPr/>
          <p:nvPr/>
        </p:nvSpPr>
        <p:spPr>
          <a:xfrm>
            <a:off x="768325" y="5340347"/>
            <a:ext cx="10655267" cy="749274"/>
          </a:xfrm>
          <a:prstGeom prst="rect">
            <a:avLst/>
          </a:prstGeom>
          <a:solidFill>
            <a:srgbClr val="222836"/>
          </a:solidFill>
          <a:ln/>
        </p:spPr>
        <p:txBody>
          <a:bodyPr wrap="square" lIns="36365" tIns="0" rIns="36365" bIns="0" rtlCol="0" anchor="ctr">
            <a:normAutofit/>
          </a:bodyPr>
          <a:lstStyle/>
          <a:p>
            <a:pPr marL="0" indent="0" algn="ctr">
              <a:lnSpc>
                <a:spcPts val="2604"/>
              </a:lnSpc>
              <a:buNone/>
            </a:pPr>
            <a:r>
              <a:rPr lang="en-US" sz="2100" dirty="0">
                <a:solidFill>
                  <a:srgbClr val="FFFFFF"/>
                </a:solidFill>
                <a:latin typeface="Radio Canada" pitchFamily="34" charset="0"/>
                <a:ea typeface="Radio Canada" pitchFamily="34" charset="-122"/>
                <a:cs typeface="Radio Canada" pitchFamily="34" charset="-120"/>
              </a:rPr>
              <a:t>Fine-tuning makes it sound right. </a:t>
            </a:r>
            <a:r>
              <a:rPr lang="en-US" sz="2100" b="1" dirty="0">
                <a:solidFill>
                  <a:srgbClr val="F09601"/>
                </a:solidFill>
                <a:latin typeface="Radio Canada" pitchFamily="34" charset="0"/>
                <a:ea typeface="Radio Canada" pitchFamily="34" charset="-122"/>
                <a:cs typeface="Radio Canada" pitchFamily="34" charset="-120"/>
              </a:rPr>
              <a:t>RL makes it fix things.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1530347"/>
            <a:ext cx="749274" cy="749274"/>
          </a:xfrm>
          <a:prstGeom prst="rect">
            <a:avLst/>
          </a:prstGeom>
          <a:solidFill>
            <a:srgbClr val="F09601"/>
          </a:solidFill>
          <a:ln/>
        </p:spPr>
        <p:txBody>
          <a:bodyPr/>
          <a:lstStyle/>
          <a:p>
            <a:endParaRPr lang="en-AE"/>
          </a:p>
        </p:txBody>
      </p:sp>
      <p:sp>
        <p:nvSpPr>
          <p:cNvPr id="4" name="Shape 1"/>
          <p:cNvSpPr/>
          <p:nvPr/>
        </p:nvSpPr>
        <p:spPr>
          <a:xfrm>
            <a:off x="11436338" y="3816338"/>
            <a:ext cx="749274" cy="749274"/>
          </a:xfrm>
          <a:prstGeom prst="rect">
            <a:avLst/>
          </a:prstGeom>
          <a:solidFill>
            <a:srgbClr val="222836"/>
          </a:solidFill>
          <a:ln/>
        </p:spPr>
        <p:txBody>
          <a:bodyPr/>
          <a:lstStyle/>
          <a:p>
            <a:endParaRPr lang="en-AE"/>
          </a:p>
        </p:txBody>
      </p:sp>
      <p:sp>
        <p:nvSpPr>
          <p:cNvPr id="5" name="Shape 2"/>
          <p:cNvSpPr/>
          <p:nvPr/>
        </p:nvSpPr>
        <p:spPr>
          <a:xfrm>
            <a:off x="768325" y="768325"/>
            <a:ext cx="10655267" cy="749274"/>
          </a:xfrm>
          <a:prstGeom prst="rect">
            <a:avLst/>
          </a:prstGeom>
          <a:solidFill>
            <a:srgbClr val="FFFFFF"/>
          </a:solidFill>
          <a:ln/>
        </p:spPr>
        <p:txBody>
          <a:bodyPr/>
          <a:lstStyle/>
          <a:p>
            <a:endParaRPr lang="en-AE"/>
          </a:p>
        </p:txBody>
      </p:sp>
      <p:sp>
        <p:nvSpPr>
          <p:cNvPr id="6" name="Text 3"/>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How RL shaped the LLMs you use</a:t>
            </a:r>
            <a:endParaRPr lang="en-US" sz="3000" dirty="0"/>
          </a:p>
        </p:txBody>
      </p:sp>
      <p:sp>
        <p:nvSpPr>
          <p:cNvPr id="7" name="Shape 4"/>
          <p:cNvSpPr/>
          <p:nvPr/>
        </p:nvSpPr>
        <p:spPr>
          <a:xfrm>
            <a:off x="768325" y="1530347"/>
            <a:ext cx="10655267" cy="3797288"/>
          </a:xfrm>
          <a:prstGeom prst="rect">
            <a:avLst/>
          </a:prstGeom>
          <a:solidFill>
            <a:srgbClr val="FFFFFF"/>
          </a:solidFill>
          <a:ln/>
        </p:spPr>
        <p:txBody>
          <a:bodyPr/>
          <a:lstStyle/>
          <a:p>
            <a:endParaRPr lang="en-AE"/>
          </a:p>
        </p:txBody>
      </p:sp>
      <p:sp>
        <p:nvSpPr>
          <p:cNvPr id="8" name="Shape 5"/>
          <p:cNvSpPr/>
          <p:nvPr/>
        </p:nvSpPr>
        <p:spPr>
          <a:xfrm>
            <a:off x="1530346" y="3035266"/>
            <a:ext cx="9131294" cy="38068"/>
          </a:xfrm>
          <a:prstGeom prst="rect">
            <a:avLst/>
          </a:prstGeom>
          <a:solidFill>
            <a:srgbClr val="222836"/>
          </a:solidFill>
          <a:ln/>
        </p:spPr>
        <p:txBody>
          <a:bodyPr/>
          <a:lstStyle/>
          <a:p>
            <a:endParaRPr lang="en-AE"/>
          </a:p>
        </p:txBody>
      </p:sp>
      <p:pic>
        <p:nvPicPr>
          <p:cNvPr id="9" name="Image 1" descr="Chat"/>
          <p:cNvPicPr>
            <a:picLocks noChangeAspect="1"/>
          </p:cNvPicPr>
          <p:nvPr/>
        </p:nvPicPr>
        <p:blipFill>
          <a:blip r:embed="rId4"/>
          <a:srcRect/>
          <a:stretch/>
        </p:blipFill>
        <p:spPr>
          <a:xfrm>
            <a:off x="1816082" y="2095478"/>
            <a:ext cx="558794" cy="558794"/>
          </a:xfrm>
          <a:prstGeom prst="rect">
            <a:avLst/>
          </a:prstGeom>
        </p:spPr>
      </p:pic>
      <p:pic>
        <p:nvPicPr>
          <p:cNvPr id="10" name="Image 2" descr="Lightbulb"/>
          <p:cNvPicPr>
            <a:picLocks noChangeAspect="1"/>
          </p:cNvPicPr>
          <p:nvPr/>
        </p:nvPicPr>
        <p:blipFill>
          <a:blip r:embed="rId5"/>
          <a:srcRect/>
          <a:stretch/>
        </p:blipFill>
        <p:spPr>
          <a:xfrm>
            <a:off x="4483068" y="2095478"/>
            <a:ext cx="558794" cy="558794"/>
          </a:xfrm>
          <a:prstGeom prst="rect">
            <a:avLst/>
          </a:prstGeom>
        </p:spPr>
      </p:pic>
      <p:pic>
        <p:nvPicPr>
          <p:cNvPr id="11" name="Image 3" descr="Globe"/>
          <p:cNvPicPr>
            <a:picLocks noChangeAspect="1"/>
          </p:cNvPicPr>
          <p:nvPr/>
        </p:nvPicPr>
        <p:blipFill>
          <a:blip r:embed="rId6"/>
          <a:srcRect/>
          <a:stretch/>
        </p:blipFill>
        <p:spPr>
          <a:xfrm>
            <a:off x="7150088" y="2095478"/>
            <a:ext cx="558794" cy="558794"/>
          </a:xfrm>
          <a:prstGeom prst="rect">
            <a:avLst/>
          </a:prstGeom>
        </p:spPr>
      </p:pic>
      <p:pic>
        <p:nvPicPr>
          <p:cNvPr id="12" name="Image 4" descr="preencoded.png"/>
          <p:cNvPicPr>
            <a:picLocks noChangeAspect="1"/>
          </p:cNvPicPr>
          <p:nvPr/>
        </p:nvPicPr>
        <p:blipFill>
          <a:blip r:embed="rId7"/>
          <a:srcRect/>
          <a:stretch/>
        </p:blipFill>
        <p:spPr>
          <a:xfrm>
            <a:off x="9817075" y="2095478"/>
            <a:ext cx="558794" cy="558794"/>
          </a:xfrm>
          <a:prstGeom prst="rect">
            <a:avLst/>
          </a:prstGeom>
        </p:spPr>
      </p:pic>
      <p:sp>
        <p:nvSpPr>
          <p:cNvPr id="13" name="Shape 6"/>
          <p:cNvSpPr/>
          <p:nvPr/>
        </p:nvSpPr>
        <p:spPr>
          <a:xfrm>
            <a:off x="1981193" y="2940031"/>
            <a:ext cx="228572" cy="228572"/>
          </a:xfrm>
          <a:prstGeom prst="roundRect">
            <a:avLst>
              <a:gd name="adj" fmla="val 50000"/>
            </a:avLst>
          </a:prstGeom>
          <a:solidFill>
            <a:srgbClr val="F09601"/>
          </a:solidFill>
          <a:ln w="25400">
            <a:solidFill>
              <a:srgbClr val="222836"/>
            </a:solidFill>
            <a:prstDash val="solid"/>
          </a:ln>
        </p:spPr>
        <p:txBody>
          <a:bodyPr/>
          <a:lstStyle/>
          <a:p>
            <a:endParaRPr lang="en-AE"/>
          </a:p>
        </p:txBody>
      </p:sp>
      <p:sp>
        <p:nvSpPr>
          <p:cNvPr id="14" name="Shape 7"/>
          <p:cNvSpPr/>
          <p:nvPr/>
        </p:nvSpPr>
        <p:spPr>
          <a:xfrm>
            <a:off x="4648179" y="2940031"/>
            <a:ext cx="228572" cy="228572"/>
          </a:xfrm>
          <a:prstGeom prst="roundRect">
            <a:avLst>
              <a:gd name="adj" fmla="val 50000"/>
            </a:avLst>
          </a:prstGeom>
          <a:solidFill>
            <a:srgbClr val="F09601"/>
          </a:solidFill>
          <a:ln w="25400">
            <a:solidFill>
              <a:srgbClr val="222836"/>
            </a:solidFill>
            <a:prstDash val="solid"/>
          </a:ln>
        </p:spPr>
        <p:txBody>
          <a:bodyPr/>
          <a:lstStyle/>
          <a:p>
            <a:endParaRPr lang="en-AE"/>
          </a:p>
        </p:txBody>
      </p:sp>
      <p:sp>
        <p:nvSpPr>
          <p:cNvPr id="15" name="Shape 8"/>
          <p:cNvSpPr/>
          <p:nvPr/>
        </p:nvSpPr>
        <p:spPr>
          <a:xfrm>
            <a:off x="7315200" y="2940031"/>
            <a:ext cx="228572" cy="228572"/>
          </a:xfrm>
          <a:prstGeom prst="roundRect">
            <a:avLst>
              <a:gd name="adj" fmla="val 50000"/>
            </a:avLst>
          </a:prstGeom>
          <a:solidFill>
            <a:srgbClr val="F09601"/>
          </a:solidFill>
          <a:ln w="25400">
            <a:solidFill>
              <a:srgbClr val="222836"/>
            </a:solidFill>
            <a:prstDash val="solid"/>
          </a:ln>
        </p:spPr>
        <p:txBody>
          <a:bodyPr/>
          <a:lstStyle/>
          <a:p>
            <a:endParaRPr lang="en-AE"/>
          </a:p>
        </p:txBody>
      </p:sp>
      <p:sp>
        <p:nvSpPr>
          <p:cNvPr id="16" name="Shape 9"/>
          <p:cNvSpPr/>
          <p:nvPr/>
        </p:nvSpPr>
        <p:spPr>
          <a:xfrm>
            <a:off x="9937721" y="2895566"/>
            <a:ext cx="317468" cy="317468"/>
          </a:xfrm>
          <a:prstGeom prst="roundRect">
            <a:avLst>
              <a:gd name="adj" fmla="val 50000"/>
            </a:avLst>
          </a:prstGeom>
          <a:solidFill>
            <a:srgbClr val="222836"/>
          </a:solidFill>
          <a:ln w="38100">
            <a:solidFill>
              <a:srgbClr val="F09601"/>
            </a:solidFill>
            <a:prstDash val="solid"/>
          </a:ln>
        </p:spPr>
        <p:txBody>
          <a:bodyPr/>
          <a:lstStyle/>
          <a:p>
            <a:endParaRPr lang="en-AE"/>
          </a:p>
        </p:txBody>
      </p:sp>
      <p:sp>
        <p:nvSpPr>
          <p:cNvPr id="17" name="Text 10"/>
          <p:cNvSpPr/>
          <p:nvPr/>
        </p:nvSpPr>
        <p:spPr>
          <a:xfrm>
            <a:off x="1546803" y="3251172"/>
            <a:ext cx="1097318" cy="455899"/>
          </a:xfrm>
          <a:prstGeom prst="rect">
            <a:avLst/>
          </a:prstGeom>
          <a:noFill/>
          <a:ln/>
        </p:spPr>
        <p:txBody>
          <a:bodyPr wrap="square" lIns="0" tIns="0" rIns="0" bIns="0" rtlCol="0" anchor="t">
            <a:normAutofit/>
          </a:bodyPr>
          <a:lstStyle/>
          <a:p>
            <a:pPr marL="0" indent="0" algn="ctr">
              <a:lnSpc>
                <a:spcPts val="3390"/>
              </a:lnSpc>
              <a:buNone/>
            </a:pPr>
            <a:r>
              <a:rPr lang="en-US" sz="3000" b="1" dirty="0">
                <a:solidFill>
                  <a:srgbClr val="000000"/>
                </a:solidFill>
                <a:latin typeface="Radio Canada" pitchFamily="34" charset="0"/>
                <a:ea typeface="Radio Canada" pitchFamily="34" charset="-122"/>
                <a:cs typeface="Radio Canada" pitchFamily="34" charset="-120"/>
              </a:rPr>
              <a:t>2022</a:t>
            </a:r>
            <a:endParaRPr lang="en-US" sz="3000" dirty="0"/>
          </a:p>
        </p:txBody>
      </p:sp>
      <p:sp>
        <p:nvSpPr>
          <p:cNvPr id="18" name="Text 11"/>
          <p:cNvSpPr/>
          <p:nvPr/>
        </p:nvSpPr>
        <p:spPr>
          <a:xfrm>
            <a:off x="1516751" y="3707061"/>
            <a:ext cx="1157387"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ChatGPT</a:t>
            </a:r>
            <a:endParaRPr lang="en-US" sz="1800" dirty="0"/>
          </a:p>
        </p:txBody>
      </p:sp>
      <p:sp>
        <p:nvSpPr>
          <p:cNvPr id="19" name="Text 12"/>
          <p:cNvSpPr/>
          <p:nvPr/>
        </p:nvSpPr>
        <p:spPr>
          <a:xfrm>
            <a:off x="852778" y="4036479"/>
            <a:ext cx="2485369" cy="508954"/>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Human ratings made it helpful</a:t>
            </a:r>
            <a:endParaRPr lang="en-US" sz="1400" dirty="0"/>
          </a:p>
        </p:txBody>
      </p:sp>
      <p:sp>
        <p:nvSpPr>
          <p:cNvPr id="20" name="Text 13"/>
          <p:cNvSpPr/>
          <p:nvPr/>
        </p:nvSpPr>
        <p:spPr>
          <a:xfrm>
            <a:off x="4213824" y="3251172"/>
            <a:ext cx="1097318" cy="455899"/>
          </a:xfrm>
          <a:prstGeom prst="rect">
            <a:avLst/>
          </a:prstGeom>
          <a:noFill/>
          <a:ln/>
        </p:spPr>
        <p:txBody>
          <a:bodyPr wrap="square" lIns="0" tIns="0" rIns="0" bIns="0" rtlCol="0" anchor="t">
            <a:normAutofit/>
          </a:bodyPr>
          <a:lstStyle/>
          <a:p>
            <a:pPr marL="0" indent="0" algn="ctr">
              <a:lnSpc>
                <a:spcPts val="3390"/>
              </a:lnSpc>
              <a:buNone/>
            </a:pPr>
            <a:r>
              <a:rPr lang="en-US" sz="3000" b="1" dirty="0">
                <a:solidFill>
                  <a:srgbClr val="000000"/>
                </a:solidFill>
                <a:latin typeface="Radio Canada" pitchFamily="34" charset="0"/>
                <a:ea typeface="Radio Canada" pitchFamily="34" charset="-122"/>
                <a:cs typeface="Radio Canada" pitchFamily="34" charset="-120"/>
              </a:rPr>
              <a:t>2024</a:t>
            </a:r>
            <a:endParaRPr lang="en-US" sz="3000" dirty="0"/>
          </a:p>
        </p:txBody>
      </p:sp>
      <p:sp>
        <p:nvSpPr>
          <p:cNvPr id="21" name="Text 14"/>
          <p:cNvSpPr/>
          <p:nvPr/>
        </p:nvSpPr>
        <p:spPr>
          <a:xfrm>
            <a:off x="3559435" y="3707061"/>
            <a:ext cx="2406096"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Reasoning models</a:t>
            </a:r>
            <a:endParaRPr lang="en-US" sz="1800" dirty="0"/>
          </a:p>
        </p:txBody>
      </p:sp>
      <p:sp>
        <p:nvSpPr>
          <p:cNvPr id="22" name="Text 15"/>
          <p:cNvSpPr/>
          <p:nvPr/>
        </p:nvSpPr>
        <p:spPr>
          <a:xfrm>
            <a:off x="3519798" y="4036479"/>
            <a:ext cx="2485369" cy="508954"/>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Learned to think before answering</a:t>
            </a:r>
            <a:endParaRPr lang="en-US" sz="1400" dirty="0"/>
          </a:p>
        </p:txBody>
      </p:sp>
      <p:sp>
        <p:nvSpPr>
          <p:cNvPr id="23" name="Text 16"/>
          <p:cNvSpPr/>
          <p:nvPr/>
        </p:nvSpPr>
        <p:spPr>
          <a:xfrm>
            <a:off x="6880810" y="3251172"/>
            <a:ext cx="1097318" cy="455899"/>
          </a:xfrm>
          <a:prstGeom prst="rect">
            <a:avLst/>
          </a:prstGeom>
          <a:noFill/>
          <a:ln/>
        </p:spPr>
        <p:txBody>
          <a:bodyPr wrap="square" lIns="0" tIns="0" rIns="0" bIns="0" rtlCol="0" anchor="t">
            <a:normAutofit/>
          </a:bodyPr>
          <a:lstStyle/>
          <a:p>
            <a:pPr marL="0" indent="0" algn="ctr">
              <a:lnSpc>
                <a:spcPts val="3390"/>
              </a:lnSpc>
              <a:buNone/>
            </a:pPr>
            <a:r>
              <a:rPr lang="en-US" sz="3000" b="1" dirty="0">
                <a:solidFill>
                  <a:srgbClr val="000000"/>
                </a:solidFill>
                <a:latin typeface="Radio Canada" pitchFamily="34" charset="0"/>
                <a:ea typeface="Radio Canada" pitchFamily="34" charset="-122"/>
                <a:cs typeface="Radio Canada" pitchFamily="34" charset="-120"/>
              </a:rPr>
              <a:t>2025</a:t>
            </a:r>
            <a:endParaRPr lang="en-US" sz="3000" dirty="0"/>
          </a:p>
        </p:txBody>
      </p:sp>
      <p:sp>
        <p:nvSpPr>
          <p:cNvPr id="24" name="Text 17"/>
          <p:cNvSpPr/>
          <p:nvPr/>
        </p:nvSpPr>
        <p:spPr>
          <a:xfrm>
            <a:off x="6545040" y="3707061"/>
            <a:ext cx="1768822"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DeepSeek-R1</a:t>
            </a:r>
            <a:endParaRPr lang="en-US" sz="1800" dirty="0"/>
          </a:p>
        </p:txBody>
      </p:sp>
      <p:sp>
        <p:nvSpPr>
          <p:cNvPr id="25" name="Text 18"/>
          <p:cNvSpPr/>
          <p:nvPr/>
        </p:nvSpPr>
        <p:spPr>
          <a:xfrm>
            <a:off x="6186784" y="4036479"/>
            <a:ext cx="2485369" cy="508954"/>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An open model that learned to reason with RL</a:t>
            </a:r>
            <a:endParaRPr lang="en-US" sz="1400" dirty="0"/>
          </a:p>
        </p:txBody>
      </p:sp>
      <p:sp>
        <p:nvSpPr>
          <p:cNvPr id="26" name="Text 19"/>
          <p:cNvSpPr/>
          <p:nvPr/>
        </p:nvSpPr>
        <p:spPr>
          <a:xfrm>
            <a:off x="9600171" y="3251172"/>
            <a:ext cx="992601" cy="455899"/>
          </a:xfrm>
          <a:prstGeom prst="rect">
            <a:avLst/>
          </a:prstGeom>
          <a:noFill/>
          <a:ln/>
        </p:spPr>
        <p:txBody>
          <a:bodyPr wrap="square" lIns="0" tIns="0" rIns="0" bIns="0" rtlCol="0" anchor="t">
            <a:normAutofit/>
          </a:bodyPr>
          <a:lstStyle/>
          <a:p>
            <a:pPr marL="0" indent="0" algn="ctr">
              <a:lnSpc>
                <a:spcPts val="3390"/>
              </a:lnSpc>
              <a:buNone/>
            </a:pPr>
            <a:r>
              <a:rPr lang="en-US" sz="3000" b="1" dirty="0">
                <a:solidFill>
                  <a:srgbClr val="CF7322"/>
                </a:solidFill>
                <a:latin typeface="Radio Canada" pitchFamily="34" charset="0"/>
                <a:ea typeface="Radio Canada" pitchFamily="34" charset="-122"/>
                <a:cs typeface="Radio Canada" pitchFamily="34" charset="-120"/>
              </a:rPr>
              <a:t>Now</a:t>
            </a:r>
            <a:endParaRPr lang="en-US" sz="3000" dirty="0"/>
          </a:p>
        </p:txBody>
      </p:sp>
      <p:sp>
        <p:nvSpPr>
          <p:cNvPr id="27" name="Text 20"/>
          <p:cNvSpPr/>
          <p:nvPr/>
        </p:nvSpPr>
        <p:spPr>
          <a:xfrm>
            <a:off x="9632745" y="3707061"/>
            <a:ext cx="927489"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Agents</a:t>
            </a:r>
            <a:endParaRPr lang="en-US" sz="1800" dirty="0"/>
          </a:p>
        </p:txBody>
      </p:sp>
      <p:sp>
        <p:nvSpPr>
          <p:cNvPr id="28" name="Text 21"/>
          <p:cNvSpPr/>
          <p:nvPr/>
        </p:nvSpPr>
        <p:spPr>
          <a:xfrm>
            <a:off x="8854170" y="4036479"/>
            <a:ext cx="2484603" cy="267177"/>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Learn to act, step by step</a:t>
            </a:r>
            <a:endParaRPr lang="en-US" sz="1400" dirty="0"/>
          </a:p>
        </p:txBody>
      </p:sp>
      <p:sp>
        <p:nvSpPr>
          <p:cNvPr id="29" name="Text 22"/>
          <p:cNvSpPr/>
          <p:nvPr/>
        </p:nvSpPr>
        <p:spPr>
          <a:xfrm>
            <a:off x="9680994" y="4303647"/>
            <a:ext cx="830957" cy="278880"/>
          </a:xfrm>
          <a:custGeom>
            <a:avLst/>
            <a:gdLst/>
            <a:ahLst/>
            <a:cxnLst/>
            <a:rect l="l" t="t" r="r" b="b"/>
            <a:pathLst>
              <a:path w="830957" h="278880">
                <a:moveTo>
                  <a:pt x="139440" y="0"/>
                </a:moveTo>
                <a:lnTo>
                  <a:pt x="691517" y="0"/>
                </a:lnTo>
                <a:arcTo wR="139440" hR="139440" stAng="16200000" swAng="5400000"/>
                <a:lnTo>
                  <a:pt x="830957" y="139440"/>
                </a:lnTo>
                <a:arcTo wR="139440" hR="139440" stAng="0" swAng="5400000"/>
                <a:lnTo>
                  <a:pt x="139440" y="278880"/>
                </a:lnTo>
                <a:arcTo wR="139440" hR="139440" stAng="5400000" swAng="5400000"/>
                <a:lnTo>
                  <a:pt x="0" y="139440"/>
                </a:lnTo>
                <a:arcTo wR="139440" hR="139440" stAng="10800000" swAng="5400000"/>
                <a:close/>
              </a:path>
            </a:pathLst>
          </a:custGeom>
          <a:solidFill>
            <a:srgbClr val="F09601"/>
          </a:solidFill>
          <a:ln/>
        </p:spPr>
        <p:txBody>
          <a:bodyPr wrap="none" lIns="0" tIns="0" rIns="0" bIns="0" rtlCol="0" anchor="ctr">
            <a:normAutofit/>
          </a:bodyPr>
          <a:lstStyle/>
          <a:p>
            <a:pPr marL="0" indent="0" algn="ctr">
              <a:lnSpc>
                <a:spcPts val="2196"/>
              </a:lnSpc>
              <a:buNone/>
            </a:pPr>
            <a:r>
              <a:rPr lang="en-US" sz="1200" b="1" dirty="0">
                <a:solidFill>
                  <a:srgbClr val="222836"/>
                </a:solidFill>
                <a:latin typeface="Radio Canada" pitchFamily="34" charset="0"/>
                <a:ea typeface="Radio Canada" pitchFamily="34" charset="-122"/>
                <a:cs typeface="Radio Canada" pitchFamily="34" charset="-120"/>
              </a:rPr>
              <a:t>This talk</a:t>
            </a:r>
            <a:endParaRPr lang="en-US" sz="1200" dirty="0"/>
          </a:p>
        </p:txBody>
      </p:sp>
      <p:sp>
        <p:nvSpPr>
          <p:cNvPr id="30" name="Text 23"/>
          <p:cNvSpPr/>
          <p:nvPr/>
        </p:nvSpPr>
        <p:spPr>
          <a:xfrm>
            <a:off x="768325" y="5340347"/>
            <a:ext cx="10655267" cy="749274"/>
          </a:xfrm>
          <a:prstGeom prst="rect">
            <a:avLst/>
          </a:prstGeom>
          <a:solidFill>
            <a:srgbClr val="222836"/>
          </a:solidFill>
          <a:ln/>
        </p:spPr>
        <p:txBody>
          <a:bodyPr wrap="square" lIns="36365" tIns="0" rIns="36365" bIns="0" rtlCol="0" anchor="ctr">
            <a:normAutofit/>
          </a:bodyPr>
          <a:lstStyle/>
          <a:p>
            <a:pPr marL="0" indent="0" algn="ctr">
              <a:lnSpc>
                <a:spcPts val="2604"/>
              </a:lnSpc>
              <a:buNone/>
            </a:pPr>
            <a:r>
              <a:rPr lang="en-US" sz="2100" dirty="0">
                <a:solidFill>
                  <a:srgbClr val="FFFFFF"/>
                </a:solidFill>
                <a:latin typeface="Radio Canada" pitchFamily="34" charset="0"/>
                <a:ea typeface="Radio Canada" pitchFamily="34" charset="-122"/>
                <a:cs typeface="Radio Canada" pitchFamily="34" charset="-120"/>
              </a:rPr>
              <a:t>Pre-training reads the internet. </a:t>
            </a:r>
            <a:r>
              <a:rPr lang="en-US" sz="2100" b="1" dirty="0">
                <a:solidFill>
                  <a:srgbClr val="F09601"/>
                </a:solidFill>
                <a:latin typeface="Radio Canada" pitchFamily="34" charset="0"/>
                <a:ea typeface="Radio Canada" pitchFamily="34" charset="-122"/>
                <a:cs typeface="Radio Canada" pitchFamily="34" charset="-120"/>
              </a:rPr>
              <a:t>RL teaches it to behave.</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2"/>
          <p:cNvSpPr/>
          <p:nvPr/>
        </p:nvSpPr>
        <p:spPr>
          <a:xfrm>
            <a:off x="768325" y="768325"/>
            <a:ext cx="10655267" cy="749274"/>
          </a:xfrm>
          <a:prstGeom prst="rect">
            <a:avLst/>
          </a:prstGeom>
          <a:solidFill>
            <a:srgbClr val="FFFFFF"/>
          </a:solidFill>
          <a:ln/>
        </p:spPr>
        <p:txBody>
          <a:bodyPr/>
          <a:lstStyle/>
          <a:p>
            <a:endParaRPr lang="en-AE"/>
          </a:p>
        </p:txBody>
      </p:sp>
      <p:sp>
        <p:nvSpPr>
          <p:cNvPr id="7" name="Text 3"/>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Same loop, two famous models</a:t>
            </a:r>
            <a:endParaRPr lang="en-US" sz="3000" dirty="0"/>
          </a:p>
        </p:txBody>
      </p:sp>
      <p:sp>
        <p:nvSpPr>
          <p:cNvPr id="8" name="Rectangle 7"/>
          <p:cNvSpPr/>
          <p:nvPr/>
        </p:nvSpPr>
        <p:spPr>
          <a:xfrm>
            <a:off x="2292350" y="1530350"/>
            <a:ext cx="4559300" cy="749300"/>
          </a:xfrm>
          <a:prstGeom prst="rect">
            <a:avLst/>
          </a:prstGeom>
          <a:solidFill>
            <a:srgbClr val="FFFFFF"/>
          </a:solidFill>
          <a:ln>
            <a:noFill/>
          </a:ln>
        </p:spPr>
        <p:txBody>
          <a:bodyPr rtlCol="0" anchor="ctr"/>
          <a:lstStyle/>
          <a:p>
            <a:pPr algn="ctr"/>
            <a:endParaRPr/>
          </a:p>
        </p:txBody>
      </p:sp>
      <p:sp>
        <p:nvSpPr>
          <p:cNvPr id="9" name="TextBox 8"/>
          <p:cNvSpPr txBox="1"/>
          <p:nvPr/>
        </p:nvSpPr>
        <p:spPr>
          <a:xfrm>
            <a:off x="2292350" y="1619250"/>
            <a:ext cx="4559300" cy="330200"/>
          </a:xfrm>
          <a:prstGeom prst="rect">
            <a:avLst/>
          </a:prstGeom>
          <a:noFill/>
        </p:spPr>
        <p:txBody>
          <a:bodyPr wrap="square" lIns="0" tIns="0" rIns="0" bIns="0" anchor="t">
            <a:noAutofit/>
          </a:bodyPr>
          <a:lstStyle/>
          <a:p>
            <a:pPr algn="ctr"/>
            <a:r>
              <a:rPr sz="2100" b="1">
                <a:solidFill>
                  <a:srgbClr val="000000"/>
                </a:solidFill>
                <a:latin typeface="Radio Canada"/>
              </a:rPr>
              <a:t>ChatGPT</a:t>
            </a:r>
          </a:p>
        </p:txBody>
      </p:sp>
      <p:sp>
        <p:nvSpPr>
          <p:cNvPr id="10" name="TextBox 9"/>
          <p:cNvSpPr txBox="1"/>
          <p:nvPr/>
        </p:nvSpPr>
        <p:spPr>
          <a:xfrm>
            <a:off x="2292350" y="1949450"/>
            <a:ext cx="4559300" cy="241300"/>
          </a:xfrm>
          <a:prstGeom prst="rect">
            <a:avLst/>
          </a:prstGeom>
          <a:noFill/>
        </p:spPr>
        <p:txBody>
          <a:bodyPr wrap="square" lIns="0" tIns="0" rIns="0" bIns="0" anchor="t">
            <a:noAutofit/>
          </a:bodyPr>
          <a:lstStyle/>
          <a:p>
            <a:pPr algn="ctr"/>
            <a:r>
              <a:rPr sz="1400" b="1">
                <a:solidFill>
                  <a:srgbClr val="CF7322"/>
                </a:solidFill>
                <a:latin typeface="Radio Canada"/>
              </a:rPr>
              <a:t>2022 · RLHF</a:t>
            </a:r>
          </a:p>
        </p:txBody>
      </p:sp>
      <p:sp>
        <p:nvSpPr>
          <p:cNvPr id="11" name="Rectangle 10"/>
          <p:cNvSpPr/>
          <p:nvPr/>
        </p:nvSpPr>
        <p:spPr>
          <a:xfrm>
            <a:off x="6864350" y="1530350"/>
            <a:ext cx="4559300" cy="749300"/>
          </a:xfrm>
          <a:prstGeom prst="rect">
            <a:avLst/>
          </a:prstGeom>
          <a:solidFill>
            <a:srgbClr val="FFFFFF"/>
          </a:solidFill>
          <a:ln>
            <a:noFill/>
          </a:ln>
        </p:spPr>
        <p:txBody>
          <a:bodyPr rtlCol="0" anchor="ctr"/>
          <a:lstStyle/>
          <a:p>
            <a:pPr algn="ctr"/>
            <a:endParaRPr/>
          </a:p>
        </p:txBody>
      </p:sp>
      <p:sp>
        <p:nvSpPr>
          <p:cNvPr id="12" name="TextBox 11"/>
          <p:cNvSpPr txBox="1"/>
          <p:nvPr/>
        </p:nvSpPr>
        <p:spPr>
          <a:xfrm>
            <a:off x="6864350" y="1619250"/>
            <a:ext cx="4559300" cy="330200"/>
          </a:xfrm>
          <a:prstGeom prst="rect">
            <a:avLst/>
          </a:prstGeom>
          <a:noFill/>
        </p:spPr>
        <p:txBody>
          <a:bodyPr wrap="square" lIns="0" tIns="0" rIns="0" bIns="0" anchor="t">
            <a:noAutofit/>
          </a:bodyPr>
          <a:lstStyle/>
          <a:p>
            <a:pPr algn="ctr"/>
            <a:r>
              <a:rPr sz="2100" b="1">
                <a:solidFill>
                  <a:srgbClr val="000000"/>
                </a:solidFill>
                <a:latin typeface="Radio Canada"/>
              </a:rPr>
              <a:t>DeepSeek-R1</a:t>
            </a:r>
          </a:p>
        </p:txBody>
      </p:sp>
      <p:sp>
        <p:nvSpPr>
          <p:cNvPr id="13" name="TextBox 12"/>
          <p:cNvSpPr txBox="1"/>
          <p:nvPr/>
        </p:nvSpPr>
        <p:spPr>
          <a:xfrm>
            <a:off x="6864350" y="1949450"/>
            <a:ext cx="4559300" cy="241300"/>
          </a:xfrm>
          <a:prstGeom prst="rect">
            <a:avLst/>
          </a:prstGeom>
          <a:noFill/>
        </p:spPr>
        <p:txBody>
          <a:bodyPr wrap="square" lIns="0" tIns="0" rIns="0" bIns="0" anchor="t">
            <a:noAutofit/>
          </a:bodyPr>
          <a:lstStyle/>
          <a:p>
            <a:pPr algn="ctr"/>
            <a:r>
              <a:rPr sz="1400" b="1">
                <a:solidFill>
                  <a:srgbClr val="CF7322"/>
                </a:solidFill>
                <a:latin typeface="Radio Canada"/>
              </a:rPr>
              <a:t>2025 · reasoning RL</a:t>
            </a:r>
          </a:p>
        </p:txBody>
      </p:sp>
      <p:sp>
        <p:nvSpPr>
          <p:cNvPr id="14" name="Rectangle 13"/>
          <p:cNvSpPr/>
          <p:nvPr/>
        </p:nvSpPr>
        <p:spPr>
          <a:xfrm>
            <a:off x="768350" y="2292350"/>
            <a:ext cx="1511300" cy="749300"/>
          </a:xfrm>
          <a:prstGeom prst="rect">
            <a:avLst/>
          </a:prstGeom>
          <a:solidFill>
            <a:srgbClr val="222836"/>
          </a:solidFill>
          <a:ln>
            <a:noFill/>
          </a:ln>
        </p:spPr>
        <p:txBody>
          <a:bodyPr rtlCol="0" anchor="ctr"/>
          <a:lstStyle/>
          <a:p>
            <a:pPr algn="ctr"/>
            <a:endParaRPr/>
          </a:p>
        </p:txBody>
      </p:sp>
      <p:sp>
        <p:nvSpPr>
          <p:cNvPr id="15" name="TextBox 14"/>
          <p:cNvSpPr txBox="1"/>
          <p:nvPr/>
        </p:nvSpPr>
        <p:spPr>
          <a:xfrm>
            <a:off x="819150" y="2292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Agent</a:t>
            </a:r>
          </a:p>
        </p:txBody>
      </p:sp>
      <p:sp>
        <p:nvSpPr>
          <p:cNvPr id="16" name="Rectangle 15"/>
          <p:cNvSpPr/>
          <p:nvPr/>
        </p:nvSpPr>
        <p:spPr>
          <a:xfrm>
            <a:off x="2292350" y="2292350"/>
            <a:ext cx="4559300" cy="749300"/>
          </a:xfrm>
          <a:prstGeom prst="rect">
            <a:avLst/>
          </a:prstGeom>
          <a:solidFill>
            <a:srgbClr val="FFFFFF"/>
          </a:solidFill>
          <a:ln>
            <a:noFill/>
          </a:ln>
        </p:spPr>
        <p:txBody>
          <a:bodyPr rtlCol="0" anchor="ctr"/>
          <a:lstStyle/>
          <a:p>
            <a:pPr algn="ctr"/>
            <a:endParaRPr/>
          </a:p>
        </p:txBody>
      </p:sp>
      <p:sp>
        <p:nvSpPr>
          <p:cNvPr id="17" name="TextBox 16"/>
          <p:cNvSpPr txBox="1"/>
          <p:nvPr/>
        </p:nvSpPr>
        <p:spPr>
          <a:xfrm>
            <a:off x="2419350" y="2292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The language model</a:t>
            </a:r>
          </a:p>
        </p:txBody>
      </p:sp>
      <p:sp>
        <p:nvSpPr>
          <p:cNvPr id="18" name="Rectangle 17"/>
          <p:cNvSpPr/>
          <p:nvPr/>
        </p:nvSpPr>
        <p:spPr>
          <a:xfrm>
            <a:off x="6864350" y="2292350"/>
            <a:ext cx="4559300" cy="749300"/>
          </a:xfrm>
          <a:prstGeom prst="rect">
            <a:avLst/>
          </a:prstGeom>
          <a:solidFill>
            <a:srgbClr val="FFFFFF"/>
          </a:solidFill>
          <a:ln>
            <a:noFill/>
          </a:ln>
        </p:spPr>
        <p:txBody>
          <a:bodyPr rtlCol="0" anchor="ctr"/>
          <a:lstStyle/>
          <a:p>
            <a:pPr algn="ctr"/>
            <a:endParaRPr/>
          </a:p>
        </p:txBody>
      </p:sp>
      <p:sp>
        <p:nvSpPr>
          <p:cNvPr id="19" name="TextBox 18"/>
          <p:cNvSpPr txBox="1"/>
          <p:nvPr/>
        </p:nvSpPr>
        <p:spPr>
          <a:xfrm>
            <a:off x="6991350" y="2292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The DeepSeek model</a:t>
            </a:r>
          </a:p>
        </p:txBody>
      </p:sp>
      <p:sp>
        <p:nvSpPr>
          <p:cNvPr id="20" name="Rectangle 19"/>
          <p:cNvSpPr/>
          <p:nvPr/>
        </p:nvSpPr>
        <p:spPr>
          <a:xfrm>
            <a:off x="768350" y="3054350"/>
            <a:ext cx="1511300" cy="749300"/>
          </a:xfrm>
          <a:prstGeom prst="rect">
            <a:avLst/>
          </a:prstGeom>
          <a:solidFill>
            <a:srgbClr val="222836"/>
          </a:solidFill>
          <a:ln>
            <a:noFill/>
          </a:ln>
        </p:spPr>
        <p:txBody>
          <a:bodyPr rtlCol="0" anchor="ctr"/>
          <a:lstStyle/>
          <a:p>
            <a:pPr algn="ctr"/>
            <a:endParaRPr/>
          </a:p>
        </p:txBody>
      </p:sp>
      <p:sp>
        <p:nvSpPr>
          <p:cNvPr id="21" name="TextBox 20"/>
          <p:cNvSpPr txBox="1"/>
          <p:nvPr/>
        </p:nvSpPr>
        <p:spPr>
          <a:xfrm>
            <a:off x="819150" y="3054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Environment</a:t>
            </a:r>
          </a:p>
        </p:txBody>
      </p:sp>
      <p:sp>
        <p:nvSpPr>
          <p:cNvPr id="22" name="Rectangle 21"/>
          <p:cNvSpPr/>
          <p:nvPr/>
        </p:nvSpPr>
        <p:spPr>
          <a:xfrm>
            <a:off x="2292350" y="3054350"/>
            <a:ext cx="4559300" cy="749300"/>
          </a:xfrm>
          <a:prstGeom prst="rect">
            <a:avLst/>
          </a:prstGeom>
          <a:solidFill>
            <a:srgbClr val="FFFFFF"/>
          </a:solidFill>
          <a:ln>
            <a:noFill/>
          </a:ln>
        </p:spPr>
        <p:txBody>
          <a:bodyPr rtlCol="0" anchor="ctr"/>
          <a:lstStyle/>
          <a:p>
            <a:pPr algn="ctr"/>
            <a:endParaRPr/>
          </a:p>
        </p:txBody>
      </p:sp>
      <p:sp>
        <p:nvSpPr>
          <p:cNvPr id="23" name="TextBox 22"/>
          <p:cNvSpPr txBox="1"/>
          <p:nvPr/>
        </p:nvSpPr>
        <p:spPr>
          <a:xfrm>
            <a:off x="2419350" y="3054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Chats built from training prompts</a:t>
            </a:r>
          </a:p>
        </p:txBody>
      </p:sp>
      <p:sp>
        <p:nvSpPr>
          <p:cNvPr id="24" name="Rectangle 23"/>
          <p:cNvSpPr/>
          <p:nvPr/>
        </p:nvSpPr>
        <p:spPr>
          <a:xfrm>
            <a:off x="6864350" y="3054350"/>
            <a:ext cx="4559300" cy="749300"/>
          </a:xfrm>
          <a:prstGeom prst="rect">
            <a:avLst/>
          </a:prstGeom>
          <a:solidFill>
            <a:srgbClr val="FFFFFF"/>
          </a:solidFill>
          <a:ln>
            <a:noFill/>
          </a:ln>
        </p:spPr>
        <p:txBody>
          <a:bodyPr rtlCol="0" anchor="ctr"/>
          <a:lstStyle/>
          <a:p>
            <a:pPr algn="ctr"/>
            <a:endParaRPr/>
          </a:p>
        </p:txBody>
      </p:sp>
      <p:sp>
        <p:nvSpPr>
          <p:cNvPr id="25" name="TextBox 24"/>
          <p:cNvSpPr txBox="1"/>
          <p:nvPr/>
        </p:nvSpPr>
        <p:spPr>
          <a:xfrm>
            <a:off x="6991350" y="3054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Reasoning problems and tasks</a:t>
            </a:r>
          </a:p>
        </p:txBody>
      </p:sp>
      <p:sp>
        <p:nvSpPr>
          <p:cNvPr id="26" name="Rectangle 25"/>
          <p:cNvSpPr/>
          <p:nvPr/>
        </p:nvSpPr>
        <p:spPr>
          <a:xfrm>
            <a:off x="768350" y="3816350"/>
            <a:ext cx="1511300" cy="749300"/>
          </a:xfrm>
          <a:prstGeom prst="rect">
            <a:avLst/>
          </a:prstGeom>
          <a:solidFill>
            <a:srgbClr val="222836"/>
          </a:solidFill>
          <a:ln>
            <a:noFill/>
          </a:ln>
        </p:spPr>
        <p:txBody>
          <a:bodyPr rtlCol="0" anchor="ctr"/>
          <a:lstStyle/>
          <a:p>
            <a:pPr algn="ctr"/>
            <a:endParaRPr/>
          </a:p>
        </p:txBody>
      </p:sp>
      <p:sp>
        <p:nvSpPr>
          <p:cNvPr id="27" name="TextBox 26"/>
          <p:cNvSpPr txBox="1"/>
          <p:nvPr/>
        </p:nvSpPr>
        <p:spPr>
          <a:xfrm>
            <a:off x="819150" y="3816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State</a:t>
            </a:r>
          </a:p>
        </p:txBody>
      </p:sp>
      <p:sp>
        <p:nvSpPr>
          <p:cNvPr id="28" name="Rectangle 27"/>
          <p:cNvSpPr/>
          <p:nvPr/>
        </p:nvSpPr>
        <p:spPr>
          <a:xfrm>
            <a:off x="2292350" y="3816350"/>
            <a:ext cx="4559300" cy="749300"/>
          </a:xfrm>
          <a:prstGeom prst="rect">
            <a:avLst/>
          </a:prstGeom>
          <a:solidFill>
            <a:srgbClr val="FFFFFF"/>
          </a:solidFill>
          <a:ln>
            <a:noFill/>
          </a:ln>
        </p:spPr>
        <p:txBody>
          <a:bodyPr rtlCol="0" anchor="ctr"/>
          <a:lstStyle/>
          <a:p>
            <a:pPr algn="ctr"/>
            <a:endParaRPr/>
          </a:p>
        </p:txBody>
      </p:sp>
      <p:sp>
        <p:nvSpPr>
          <p:cNvPr id="29" name="TextBox 28"/>
          <p:cNvSpPr txBox="1"/>
          <p:nvPr/>
        </p:nvSpPr>
        <p:spPr>
          <a:xfrm>
            <a:off x="2419350" y="3816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Prompt + chat + reply so far</a:t>
            </a:r>
          </a:p>
        </p:txBody>
      </p:sp>
      <p:sp>
        <p:nvSpPr>
          <p:cNvPr id="30" name="Rectangle 29"/>
          <p:cNvSpPr/>
          <p:nvPr/>
        </p:nvSpPr>
        <p:spPr>
          <a:xfrm>
            <a:off x="6864350" y="3816350"/>
            <a:ext cx="4559300" cy="749300"/>
          </a:xfrm>
          <a:prstGeom prst="rect">
            <a:avLst/>
          </a:prstGeom>
          <a:solidFill>
            <a:srgbClr val="FFFFFF"/>
          </a:solidFill>
          <a:ln>
            <a:noFill/>
          </a:ln>
        </p:spPr>
        <p:txBody>
          <a:bodyPr rtlCol="0" anchor="ctr"/>
          <a:lstStyle/>
          <a:p>
            <a:pPr algn="ctr"/>
            <a:endParaRPr/>
          </a:p>
        </p:txBody>
      </p:sp>
      <p:sp>
        <p:nvSpPr>
          <p:cNvPr id="31" name="TextBox 30"/>
          <p:cNvSpPr txBox="1"/>
          <p:nvPr/>
        </p:nvSpPr>
        <p:spPr>
          <a:xfrm>
            <a:off x="6991350" y="3816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Prompt + reasoning so far</a:t>
            </a:r>
          </a:p>
        </p:txBody>
      </p:sp>
      <p:sp>
        <p:nvSpPr>
          <p:cNvPr id="32" name="Rectangle 31"/>
          <p:cNvSpPr/>
          <p:nvPr/>
        </p:nvSpPr>
        <p:spPr>
          <a:xfrm>
            <a:off x="768350" y="4578350"/>
            <a:ext cx="1511300" cy="749300"/>
          </a:xfrm>
          <a:prstGeom prst="rect">
            <a:avLst/>
          </a:prstGeom>
          <a:solidFill>
            <a:srgbClr val="222836"/>
          </a:solidFill>
          <a:ln>
            <a:noFill/>
          </a:ln>
        </p:spPr>
        <p:txBody>
          <a:bodyPr rtlCol="0" anchor="ctr"/>
          <a:lstStyle/>
          <a:p>
            <a:pPr algn="ctr"/>
            <a:endParaRPr/>
          </a:p>
        </p:txBody>
      </p:sp>
      <p:sp>
        <p:nvSpPr>
          <p:cNvPr id="33" name="TextBox 32"/>
          <p:cNvSpPr txBox="1"/>
          <p:nvPr/>
        </p:nvSpPr>
        <p:spPr>
          <a:xfrm>
            <a:off x="819150" y="4578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Reward</a:t>
            </a:r>
          </a:p>
        </p:txBody>
      </p:sp>
      <p:sp>
        <p:nvSpPr>
          <p:cNvPr id="34" name="Rectangle 33"/>
          <p:cNvSpPr/>
          <p:nvPr/>
        </p:nvSpPr>
        <p:spPr>
          <a:xfrm>
            <a:off x="2292350" y="4578350"/>
            <a:ext cx="4559300" cy="749300"/>
          </a:xfrm>
          <a:prstGeom prst="rect">
            <a:avLst/>
          </a:prstGeom>
          <a:solidFill>
            <a:srgbClr val="FFFFFF"/>
          </a:solidFill>
          <a:ln>
            <a:noFill/>
          </a:ln>
        </p:spPr>
        <p:txBody>
          <a:bodyPr rtlCol="0" anchor="ctr"/>
          <a:lstStyle/>
          <a:p>
            <a:pPr algn="ctr"/>
            <a:endParaRPr/>
          </a:p>
        </p:txBody>
      </p:sp>
      <p:sp>
        <p:nvSpPr>
          <p:cNvPr id="35" name="TextBox 34"/>
          <p:cNvSpPr txBox="1"/>
          <p:nvPr/>
        </p:nvSpPr>
        <p:spPr>
          <a:xfrm>
            <a:off x="2419350" y="4578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Higher when people prefer the reply</a:t>
            </a:r>
          </a:p>
        </p:txBody>
      </p:sp>
      <p:sp>
        <p:nvSpPr>
          <p:cNvPr id="36" name="Rectangle 35"/>
          <p:cNvSpPr/>
          <p:nvPr/>
        </p:nvSpPr>
        <p:spPr>
          <a:xfrm>
            <a:off x="6864350" y="4578350"/>
            <a:ext cx="4559300" cy="749300"/>
          </a:xfrm>
          <a:prstGeom prst="rect">
            <a:avLst/>
          </a:prstGeom>
          <a:solidFill>
            <a:srgbClr val="FFFFFF"/>
          </a:solidFill>
          <a:ln>
            <a:noFill/>
          </a:ln>
        </p:spPr>
        <p:txBody>
          <a:bodyPr rtlCol="0" anchor="ctr"/>
          <a:lstStyle/>
          <a:p>
            <a:pPr algn="ctr"/>
            <a:endParaRPr/>
          </a:p>
        </p:txBody>
      </p:sp>
      <p:sp>
        <p:nvSpPr>
          <p:cNvPr id="37" name="TextBox 36"/>
          <p:cNvSpPr txBox="1"/>
          <p:nvPr/>
        </p:nvSpPr>
        <p:spPr>
          <a:xfrm>
            <a:off x="6991350" y="4578350"/>
            <a:ext cx="4305300" cy="749300"/>
          </a:xfrm>
          <a:prstGeom prst="rect">
            <a:avLst/>
          </a:prstGeom>
          <a:noFill/>
        </p:spPr>
        <p:txBody>
          <a:bodyPr wrap="square" lIns="0" tIns="0" rIns="0" bIns="0" anchor="ctr">
            <a:noAutofit/>
          </a:bodyPr>
          <a:lstStyle/>
          <a:p>
            <a:pPr algn="ctr"/>
            <a:r>
              <a:rPr sz="1800" b="0">
                <a:solidFill>
                  <a:srgbClr val="222836"/>
                </a:solidFill>
                <a:latin typeface="Radio Canada"/>
              </a:rPr>
              <a:t>Correct answers + desirable reasoning and output</a:t>
            </a:r>
          </a:p>
        </p:txBody>
      </p:sp>
      <p:sp>
        <p:nvSpPr>
          <p:cNvPr id="38" name="Rectangle 37"/>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Same loop. Different world. </a:t>
            </a:r>
            <a:r>
              <a:rPr sz="2100" b="0">
                <a:solidFill>
                  <a:srgbClr val="F09601"/>
                </a:solidFill>
                <a:latin typeface="Radio Canada"/>
              </a:rPr>
              <a:t>Different reward.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1530347"/>
            <a:ext cx="749274" cy="749274"/>
          </a:xfrm>
          <a:prstGeom prst="rect">
            <a:avLst/>
          </a:prstGeom>
          <a:solidFill>
            <a:srgbClr val="F09601"/>
          </a:solidFill>
          <a:ln/>
        </p:spPr>
        <p:txBody>
          <a:bodyPr/>
          <a:lstStyle/>
          <a:p>
            <a:endParaRPr lang="en-AE"/>
          </a:p>
        </p:txBody>
      </p:sp>
      <p:sp>
        <p:nvSpPr>
          <p:cNvPr id="4" name="Shape 1"/>
          <p:cNvSpPr/>
          <p:nvPr/>
        </p:nvSpPr>
        <p:spPr>
          <a:xfrm>
            <a:off x="11436338" y="3816341"/>
            <a:ext cx="749274" cy="749274"/>
          </a:xfrm>
          <a:prstGeom prst="rect">
            <a:avLst/>
          </a:prstGeom>
          <a:solidFill>
            <a:srgbClr val="222836"/>
          </a:solidFill>
          <a:ln/>
        </p:spPr>
        <p:txBody>
          <a:bodyPr/>
          <a:lstStyle/>
          <a:p>
            <a:endParaRPr lang="en-AE"/>
          </a:p>
        </p:txBody>
      </p:sp>
      <p:sp>
        <p:nvSpPr>
          <p:cNvPr id="5" name="Shape 2"/>
          <p:cNvSpPr/>
          <p:nvPr/>
        </p:nvSpPr>
        <p:spPr>
          <a:xfrm>
            <a:off x="768325" y="768325"/>
            <a:ext cx="10655267" cy="749274"/>
          </a:xfrm>
          <a:prstGeom prst="rect">
            <a:avLst/>
          </a:prstGeom>
          <a:solidFill>
            <a:srgbClr val="FFFFFF"/>
          </a:solidFill>
          <a:ln/>
        </p:spPr>
        <p:txBody>
          <a:bodyPr/>
          <a:lstStyle/>
          <a:p>
            <a:endParaRPr lang="en-AE"/>
          </a:p>
        </p:txBody>
      </p:sp>
      <p:sp>
        <p:nvSpPr>
          <p:cNvPr id="6" name="Text 3"/>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One answer vs a whole conversation</a:t>
            </a:r>
            <a:endParaRPr lang="en-US" sz="3000" dirty="0"/>
          </a:p>
        </p:txBody>
      </p:sp>
      <p:sp>
        <p:nvSpPr>
          <p:cNvPr id="7" name="Shape 4"/>
          <p:cNvSpPr/>
          <p:nvPr/>
        </p:nvSpPr>
        <p:spPr>
          <a:xfrm>
            <a:off x="768325" y="1530347"/>
            <a:ext cx="10655267" cy="3797288"/>
          </a:xfrm>
          <a:prstGeom prst="rect">
            <a:avLst/>
          </a:prstGeom>
          <a:solidFill>
            <a:srgbClr val="FFFFFF"/>
          </a:solidFill>
          <a:ln/>
        </p:spPr>
        <p:txBody>
          <a:bodyPr/>
          <a:lstStyle/>
          <a:p>
            <a:endParaRPr lang="en-AE"/>
          </a:p>
        </p:txBody>
      </p:sp>
      <p:sp>
        <p:nvSpPr>
          <p:cNvPr id="8" name="Text 5"/>
          <p:cNvSpPr/>
          <p:nvPr/>
        </p:nvSpPr>
        <p:spPr>
          <a:xfrm>
            <a:off x="958839" y="2489184"/>
            <a:ext cx="1962150" cy="329430"/>
          </a:xfrm>
          <a:prstGeom prst="rect">
            <a:avLst/>
          </a:prstGeom>
          <a:noFill/>
          <a:ln/>
        </p:spPr>
        <p:txBody>
          <a:bodyPr wrap="square" lIns="0" tIns="0" rIns="0" bIns="0" rtlCol="0" anchor="t">
            <a:normAutofit/>
          </a:bodyPr>
          <a:lstStyle/>
          <a:p>
            <a:pPr marL="0" indent="0" algn="l">
              <a:lnSpc>
                <a:spcPts val="2394"/>
              </a:lnSpc>
              <a:buNone/>
            </a:pPr>
            <a:r>
              <a:rPr lang="en-US" sz="1800" b="1" dirty="0">
                <a:solidFill>
                  <a:srgbClr val="000000"/>
                </a:solidFill>
                <a:latin typeface="Radio Canada" pitchFamily="34" charset="0"/>
                <a:ea typeface="Radio Canada" pitchFamily="34" charset="-122"/>
                <a:cs typeface="Radio Canada" pitchFamily="34" charset="-120"/>
              </a:rPr>
              <a:t>Single turn</a:t>
            </a:r>
            <a:endParaRPr lang="en-US" sz="1800" dirty="0"/>
          </a:p>
        </p:txBody>
      </p:sp>
      <p:sp>
        <p:nvSpPr>
          <p:cNvPr id="9" name="Text 6"/>
          <p:cNvSpPr/>
          <p:nvPr/>
        </p:nvSpPr>
        <p:spPr>
          <a:xfrm>
            <a:off x="958839" y="3848069"/>
            <a:ext cx="1962150" cy="329430"/>
          </a:xfrm>
          <a:prstGeom prst="rect">
            <a:avLst/>
          </a:prstGeom>
          <a:noFill/>
          <a:ln/>
        </p:spPr>
        <p:txBody>
          <a:bodyPr wrap="square" lIns="0" tIns="0" rIns="0" bIns="0" rtlCol="0" anchor="t">
            <a:normAutofit/>
          </a:bodyPr>
          <a:lstStyle/>
          <a:p>
            <a:pPr marL="0" indent="0" algn="l">
              <a:lnSpc>
                <a:spcPts val="2394"/>
              </a:lnSpc>
              <a:buNone/>
            </a:pPr>
            <a:r>
              <a:rPr lang="en-US" sz="1800" b="1" dirty="0">
                <a:solidFill>
                  <a:srgbClr val="000000"/>
                </a:solidFill>
                <a:latin typeface="Radio Canada" pitchFamily="34" charset="0"/>
                <a:ea typeface="Radio Canada" pitchFamily="34" charset="-122"/>
                <a:cs typeface="Radio Canada" pitchFamily="34" charset="-120"/>
              </a:rPr>
              <a:t>Multi-turn</a:t>
            </a:r>
            <a:endParaRPr lang="en-US" sz="1800" dirty="0"/>
          </a:p>
        </p:txBody>
      </p:sp>
      <p:pic>
        <p:nvPicPr>
          <p:cNvPr id="10" name="Image 1" descr="Top: one question and one answer, done. Bottom: four rounds of questions and answers ending in a trophy"/>
          <p:cNvPicPr>
            <a:picLocks noChangeAspect="1"/>
          </p:cNvPicPr>
          <p:nvPr/>
        </p:nvPicPr>
        <p:blipFill>
          <a:blip r:embed="rId4"/>
          <a:srcRect l="-24" r="-24"/>
          <a:stretch/>
        </p:blipFill>
        <p:spPr>
          <a:xfrm>
            <a:off x="3047979" y="2108194"/>
            <a:ext cx="7924788" cy="2641596"/>
          </a:xfrm>
          <a:prstGeom prst="rect">
            <a:avLst/>
          </a:prstGeom>
        </p:spPr>
      </p:pic>
      <p:sp>
        <p:nvSpPr>
          <p:cNvPr id="11" name="Text 7"/>
          <p:cNvSpPr/>
          <p:nvPr/>
        </p:nvSpPr>
        <p:spPr>
          <a:xfrm>
            <a:off x="768325" y="5340347"/>
            <a:ext cx="10655267" cy="749274"/>
          </a:xfrm>
          <a:prstGeom prst="rect">
            <a:avLst/>
          </a:prstGeom>
          <a:solidFill>
            <a:srgbClr val="222836"/>
          </a:solidFill>
          <a:ln/>
        </p:spPr>
        <p:txBody>
          <a:bodyPr wrap="square" lIns="36365" tIns="0" rIns="36365" bIns="0" rtlCol="0" anchor="ctr">
            <a:normAutofit/>
          </a:bodyPr>
          <a:lstStyle/>
          <a:p>
            <a:pPr marL="0" indent="0" algn="ctr">
              <a:lnSpc>
                <a:spcPts val="2604"/>
              </a:lnSpc>
              <a:buNone/>
            </a:pPr>
            <a:r>
              <a:rPr lang="en-US" sz="2100" dirty="0">
                <a:solidFill>
                  <a:srgbClr val="FFFFFF"/>
                </a:solidFill>
                <a:latin typeface="Radio Canada" pitchFamily="34" charset="0"/>
                <a:ea typeface="Radio Canada" pitchFamily="34" charset="-122"/>
                <a:cs typeface="Radio Canada" pitchFamily="34" charset="-120"/>
              </a:rPr>
              <a:t>Points for every right step. </a:t>
            </a:r>
            <a:r>
              <a:rPr lang="en-US" sz="2100" b="1" dirty="0">
                <a:solidFill>
                  <a:srgbClr val="F09601"/>
                </a:solidFill>
                <a:latin typeface="Radio Canada" pitchFamily="34" charset="0"/>
                <a:ea typeface="Radio Canada" pitchFamily="34" charset="-122"/>
                <a:cs typeface="Radio Canada" pitchFamily="34" charset="-120"/>
              </a:rPr>
              <a:t>Full marks when it’s solved.</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Text 0"/>
          <p:cNvSpPr/>
          <p:nvPr/>
        </p:nvSpPr>
        <p:spPr>
          <a:xfrm>
            <a:off x="761986" y="1905000"/>
            <a:ext cx="5886450" cy="355612"/>
          </a:xfrm>
          <a:prstGeom prst="rect">
            <a:avLst/>
          </a:prstGeom>
          <a:noFill/>
          <a:ln/>
        </p:spPr>
        <p:txBody>
          <a:bodyPr wrap="square" lIns="0" tIns="0" rIns="0" bIns="0" rtlCol="0" anchor="t">
            <a:normAutofit/>
          </a:bodyPr>
          <a:lstStyle/>
          <a:p>
            <a:pPr marL="0" indent="0" algn="l">
              <a:lnSpc>
                <a:spcPts val="2600"/>
              </a:lnSpc>
              <a:buNone/>
            </a:pPr>
            <a:r>
              <a:rPr lang="en-US" sz="2600" b="1" kern="0" spc="100" dirty="0">
                <a:solidFill>
                  <a:srgbClr val="FF9900"/>
                </a:solidFill>
                <a:latin typeface="Poppins" pitchFamily="34" charset="0"/>
                <a:ea typeface="Poppins" pitchFamily="34" charset="-122"/>
                <a:cs typeface="Poppins" pitchFamily="34" charset="-120"/>
              </a:rPr>
              <a:t>PART 2</a:t>
            </a:r>
            <a:endParaRPr lang="en-US" sz="2600" dirty="0"/>
          </a:p>
        </p:txBody>
      </p:sp>
      <p:sp>
        <p:nvSpPr>
          <p:cNvPr id="4" name="Text 1"/>
          <p:cNvSpPr>
            <a:spLocks noGrp="1"/>
          </p:cNvSpPr>
          <p:nvPr>
            <p:ph type="title"/>
          </p:nvPr>
        </p:nvSpPr>
        <p:spPr>
          <a:xfrm>
            <a:off x="761986" y="2412975"/>
            <a:ext cx="8502650" cy="1198868"/>
          </a:xfrm>
          <a:prstGeom prst="rect">
            <a:avLst/>
          </a:prstGeom>
          <a:noFill/>
          <a:ln/>
        </p:spPr>
        <p:txBody>
          <a:bodyPr wrap="square" lIns="0" tIns="0" rIns="0" bIns="0" rtlCol="0" anchor="t">
            <a:normAutofit/>
          </a:bodyPr>
          <a:lstStyle/>
          <a:p>
            <a:pPr marL="0" indent="0" algn="l">
              <a:lnSpc>
                <a:spcPts val="4620"/>
              </a:lnSpc>
              <a:buNone/>
            </a:pPr>
            <a:r>
              <a:rPr lang="en-US" sz="4400" b="1" i="0" kern="0" spc="-50" dirty="0">
                <a:solidFill>
                  <a:srgbClr val="FFFFFF"/>
                </a:solidFill>
                <a:latin typeface="Radio Canada" pitchFamily="34" charset="0"/>
                <a:ea typeface="Radio Canada" pitchFamily="34" charset="-122"/>
                <a:cs typeface="Radio Canada" pitchFamily="34" charset="-120"/>
              </a:rPr>
              <a:t>Demo:</a:t>
            </a:r>
            <a:endParaRPr lang="en-US" sz="4400" dirty="0"/>
          </a:p>
          <a:p>
            <a:pPr marL="0" indent="0" algn="l">
              <a:lnSpc>
                <a:spcPts val="4620"/>
              </a:lnSpc>
              <a:buNone/>
            </a:pPr>
            <a:r>
              <a:rPr lang="en-US" sz="4400" b="1" i="0" kern="0" spc="-50" dirty="0">
                <a:solidFill>
                  <a:srgbClr val="FFFFFF"/>
                </a:solidFill>
                <a:latin typeface="Radio Canada" pitchFamily="34" charset="0"/>
                <a:ea typeface="Radio Canada" pitchFamily="34" charset="-122"/>
                <a:cs typeface="Radio Canada" pitchFamily="34" charset="-120"/>
              </a:rPr>
              <a:t>RL meets SageMaker</a:t>
            </a:r>
            <a:endParaRPr lang="en-US" sz="4400" dirty="0"/>
          </a:p>
        </p:txBody>
      </p:sp>
      <p:sp>
        <p:nvSpPr>
          <p:cNvPr id="5" name="Text 2"/>
          <p:cNvSpPr/>
          <p:nvPr/>
        </p:nvSpPr>
        <p:spPr>
          <a:xfrm>
            <a:off x="761986" y="3810000"/>
            <a:ext cx="6540500" cy="356060"/>
          </a:xfrm>
          <a:prstGeom prst="rect">
            <a:avLst/>
          </a:prstGeom>
          <a:noFill/>
          <a:ln/>
        </p:spPr>
        <p:txBody>
          <a:bodyPr wrap="square" lIns="0" tIns="0" rIns="0" bIns="0" rtlCol="0" anchor="t">
            <a:normAutofit/>
          </a:bodyPr>
          <a:lstStyle/>
          <a:p>
            <a:pPr marL="0" indent="0" algn="l">
              <a:lnSpc>
                <a:spcPts val="2604"/>
              </a:lnSpc>
              <a:buNone/>
            </a:pPr>
            <a:r>
              <a:rPr lang="en-US" sz="2100" dirty="0">
                <a:solidFill>
                  <a:srgbClr val="D3D7E3"/>
                </a:solidFill>
                <a:latin typeface="Radio Canada" pitchFamily="34" charset="0"/>
                <a:ea typeface="Radio Canada" pitchFamily="34" charset="-122"/>
                <a:cs typeface="Radio Canada" pitchFamily="34" charset="-120"/>
              </a:rPr>
              <a:t>Real run. Real numbers.</a:t>
            </a:r>
            <a:endParaRPr lang="en-US" sz="2100" dirty="0"/>
          </a:p>
        </p:txBody>
      </p:sp>
      <p:pic>
        <p:nvPicPr>
          <p:cNvPr id="6" name="Image 1" descr="The robot agent waving"/>
          <p:cNvPicPr>
            <a:picLocks noChangeAspect="1"/>
          </p:cNvPicPr>
          <p:nvPr/>
        </p:nvPicPr>
        <p:blipFill>
          <a:blip r:embed="rId4"/>
          <a:srcRect/>
          <a:stretch/>
        </p:blipFill>
        <p:spPr>
          <a:xfrm>
            <a:off x="9651986" y="3810000"/>
            <a:ext cx="1396986" cy="17144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1530350"/>
            <a:ext cx="749274" cy="749274"/>
          </a:xfrm>
          <a:prstGeom prst="rect">
            <a:avLst/>
          </a:prstGeom>
          <a:solidFill>
            <a:srgbClr val="F09601"/>
          </a:solidFill>
          <a:ln/>
        </p:spPr>
        <p:txBody>
          <a:bodyPr/>
          <a:lstStyle/>
          <a:p>
            <a:endParaRPr lang="en-AE"/>
          </a:p>
        </p:txBody>
      </p:sp>
      <p:sp>
        <p:nvSpPr>
          <p:cNvPr id="4" name="Shape 1"/>
          <p:cNvSpPr/>
          <p:nvPr/>
        </p:nvSpPr>
        <p:spPr>
          <a:xfrm>
            <a:off x="2292332" y="5340350"/>
            <a:ext cx="749274" cy="749274"/>
          </a:xfrm>
          <a:prstGeom prst="rect">
            <a:avLst/>
          </a:prstGeom>
          <a:solidFill>
            <a:srgbClr val="222836"/>
          </a:solidFill>
          <a:ln/>
        </p:spPr>
        <p:txBody>
          <a:bodyPr/>
          <a:lstStyle/>
          <a:p>
            <a:endParaRPr lang="en-AE"/>
          </a:p>
        </p:txBody>
      </p:sp>
      <p:sp>
        <p:nvSpPr>
          <p:cNvPr id="5" name="Shape 2"/>
          <p:cNvSpPr/>
          <p:nvPr/>
        </p:nvSpPr>
        <p:spPr>
          <a:xfrm>
            <a:off x="9150345" y="5340350"/>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Meet our support agent</a:t>
            </a:r>
            <a:endParaRPr lang="en-US" sz="3000" dirty="0"/>
          </a:p>
        </p:txBody>
      </p:sp>
      <p:sp>
        <p:nvSpPr>
          <p:cNvPr id="8" name="Shape 5"/>
          <p:cNvSpPr/>
          <p:nvPr/>
        </p:nvSpPr>
        <p:spPr>
          <a:xfrm>
            <a:off x="768325" y="1530350"/>
            <a:ext cx="4559274" cy="3797288"/>
          </a:xfrm>
          <a:prstGeom prst="rect">
            <a:avLst/>
          </a:prstGeom>
          <a:solidFill>
            <a:srgbClr val="FFFFFF"/>
          </a:solidFill>
          <a:ln/>
        </p:spPr>
        <p:txBody>
          <a:bodyPr/>
          <a:lstStyle/>
          <a:p>
            <a:endParaRPr lang="en-AE"/>
          </a:p>
        </p:txBody>
      </p:sp>
      <p:sp>
        <p:nvSpPr>
          <p:cNvPr id="10" name="Shape 6"/>
          <p:cNvSpPr/>
          <p:nvPr/>
        </p:nvSpPr>
        <p:spPr>
          <a:xfrm>
            <a:off x="6102332" y="1530350"/>
            <a:ext cx="5321294" cy="1511294"/>
          </a:xfrm>
          <a:prstGeom prst="rect">
            <a:avLst/>
          </a:prstGeom>
          <a:solidFill>
            <a:srgbClr val="FFFFFF"/>
          </a:solidFill>
          <a:ln/>
        </p:spPr>
        <p:txBody>
          <a:bodyPr/>
          <a:lstStyle/>
          <a:p>
            <a:endParaRPr lang="en-AE"/>
          </a:p>
        </p:txBody>
      </p:sp>
      <p:sp>
        <p:nvSpPr>
          <p:cNvPr id="11" name="Text 7"/>
          <p:cNvSpPr/>
          <p:nvPr/>
        </p:nvSpPr>
        <p:spPr>
          <a:xfrm>
            <a:off x="6292811" y="1924465"/>
            <a:ext cx="5088546" cy="267177"/>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CF7322"/>
                </a:solidFill>
                <a:latin typeface="Radio Canada" pitchFamily="34" charset="0"/>
                <a:ea typeface="Radio Canada" pitchFamily="34" charset="-122"/>
                <a:cs typeface="Radio Canada" pitchFamily="34" charset="-120"/>
              </a:rPr>
              <a:t>Customer:</a:t>
            </a:r>
            <a:endParaRPr lang="en-US" sz="1400" dirty="0"/>
          </a:p>
        </p:txBody>
      </p:sp>
      <p:sp>
        <p:nvSpPr>
          <p:cNvPr id="12" name="Text 8"/>
          <p:cNvSpPr/>
          <p:nvPr/>
        </p:nvSpPr>
        <p:spPr>
          <a:xfrm>
            <a:off x="6292811" y="2217024"/>
            <a:ext cx="5088546" cy="455899"/>
          </a:xfrm>
          <a:prstGeom prst="rect">
            <a:avLst/>
          </a:prstGeom>
          <a:noFill/>
          <a:ln/>
        </p:spPr>
        <p:txBody>
          <a:bodyPr wrap="square" lIns="0" tIns="0" rIns="0" bIns="0" rtlCol="0" anchor="t">
            <a:normAutofit/>
          </a:bodyPr>
          <a:lstStyle/>
          <a:p>
            <a:pPr marL="0" indent="0" algn="l">
              <a:lnSpc>
                <a:spcPts val="3390"/>
              </a:lnSpc>
              <a:buNone/>
            </a:pPr>
            <a:r>
              <a:rPr lang="en-US" sz="3000" b="1" dirty="0">
                <a:solidFill>
                  <a:srgbClr val="000000"/>
                </a:solidFill>
                <a:latin typeface="Radio Canada" pitchFamily="34" charset="0"/>
                <a:ea typeface="Radio Canada" pitchFamily="34" charset="-122"/>
                <a:cs typeface="Radio Canada" pitchFamily="34" charset="-120"/>
              </a:rPr>
              <a:t>“My internet is down!”</a:t>
            </a:r>
            <a:endParaRPr lang="en-US" sz="3000" dirty="0"/>
          </a:p>
        </p:txBody>
      </p:sp>
      <p:sp>
        <p:nvSpPr>
          <p:cNvPr id="13" name="Text 9"/>
          <p:cNvSpPr/>
          <p:nvPr/>
        </p:nvSpPr>
        <p:spPr>
          <a:xfrm>
            <a:off x="6102332" y="3054319"/>
            <a:ext cx="5321294" cy="749274"/>
          </a:xfrm>
          <a:prstGeom prst="rect">
            <a:avLst/>
          </a:prstGeom>
          <a:solidFill>
            <a:srgbClr val="FFFFFF"/>
          </a:solidFill>
          <a:ln/>
        </p:spPr>
        <p:txBody>
          <a:bodyPr wrap="square" lIns="190479" tIns="0" rIns="42269" bIns="0" rtlCol="0" anchor="ctr">
            <a:normAutofit/>
          </a:bodyPr>
          <a:lstStyle/>
          <a:p>
            <a:pPr marL="0" indent="0" algn="l">
              <a:lnSpc>
                <a:spcPts val="2604"/>
              </a:lnSpc>
              <a:buNone/>
            </a:pPr>
            <a:r>
              <a:rPr lang="en-US" sz="2100" b="1" dirty="0">
                <a:solidFill>
                  <a:srgbClr val="000000"/>
                </a:solidFill>
                <a:latin typeface="Radio Canada" pitchFamily="34" charset="0"/>
                <a:ea typeface="Radio Canada" pitchFamily="34" charset="-122"/>
                <a:cs typeface="Radio Canada" pitchFamily="34" charset="-120"/>
              </a:rPr>
              <a:t>Goal:</a:t>
            </a:r>
            <a:r>
              <a:rPr lang="en-US" sz="2100" dirty="0">
                <a:solidFill>
                  <a:srgbClr val="000000"/>
                </a:solidFill>
                <a:latin typeface="Radio Canada" pitchFamily="34" charset="0"/>
                <a:ea typeface="Radio Canada" pitchFamily="34" charset="-122"/>
                <a:cs typeface="Radio Canada" pitchFamily="34" charset="-120"/>
              </a:rPr>
              <a:t> fix it in 4 moves</a:t>
            </a:r>
            <a:endParaRPr lang="en-US" sz="2100" dirty="0"/>
          </a:p>
        </p:txBody>
      </p:sp>
      <p:sp>
        <p:nvSpPr>
          <p:cNvPr id="14" name="Shape 10"/>
          <p:cNvSpPr/>
          <p:nvPr/>
        </p:nvSpPr>
        <p:spPr>
          <a:xfrm>
            <a:off x="6102332" y="3816338"/>
            <a:ext cx="5321294" cy="1511294"/>
          </a:xfrm>
          <a:prstGeom prst="rect">
            <a:avLst/>
          </a:prstGeom>
          <a:solidFill>
            <a:srgbClr val="FFFFFF"/>
          </a:solidFill>
          <a:ln/>
        </p:spPr>
        <p:txBody>
          <a:bodyPr/>
          <a:lstStyle/>
          <a:p>
            <a:endParaRPr lang="en-AE"/>
          </a:p>
        </p:txBody>
      </p:sp>
      <p:sp>
        <p:nvSpPr>
          <p:cNvPr id="15" name="Text 11"/>
          <p:cNvSpPr/>
          <p:nvPr/>
        </p:nvSpPr>
        <p:spPr>
          <a:xfrm>
            <a:off x="6292811" y="3987081"/>
            <a:ext cx="5088546"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000000"/>
                </a:solidFill>
                <a:latin typeface="Radio Canada" pitchFamily="34" charset="0"/>
                <a:ea typeface="Radio Canada" pitchFamily="34" charset="-122"/>
                <a:cs typeface="Radio Canada" pitchFamily="34" charset="-120"/>
              </a:rPr>
              <a:t>What should it do first?</a:t>
            </a:r>
            <a:endParaRPr lang="en-US" sz="2100" dirty="0"/>
          </a:p>
        </p:txBody>
      </p:sp>
      <p:sp>
        <p:nvSpPr>
          <p:cNvPr id="16" name="Text 12"/>
          <p:cNvSpPr/>
          <p:nvPr/>
        </p:nvSpPr>
        <p:spPr>
          <a:xfrm>
            <a:off x="6292811" y="4419333"/>
            <a:ext cx="2021138" cy="330695"/>
          </a:xfrm>
          <a:custGeom>
            <a:avLst/>
            <a:gdLst/>
            <a:ahLst/>
            <a:cxnLst/>
            <a:rect l="l" t="t" r="r" b="b"/>
            <a:pathLst>
              <a:path w="2021138" h="330695">
                <a:moveTo>
                  <a:pt x="165100" y="0"/>
                </a:moveTo>
                <a:lnTo>
                  <a:pt x="1856038" y="0"/>
                </a:lnTo>
                <a:arcTo wR="165100" hR="165100" stAng="16200000" swAng="5400000"/>
                <a:lnTo>
                  <a:pt x="2021138" y="165595"/>
                </a:lnTo>
                <a:arcTo wR="165100" hR="165100" stAng="0" swAng="5400000"/>
                <a:lnTo>
                  <a:pt x="165100" y="330695"/>
                </a:lnTo>
                <a:arcTo wR="165100" hR="165100" stAng="5400000" swAng="5400000"/>
                <a:lnTo>
                  <a:pt x="0" y="165100"/>
                </a:lnTo>
                <a:arcTo wR="165100" hR="165100" stAng="10800000" swAng="5400000"/>
                <a:close/>
              </a:path>
            </a:pathLst>
          </a:custGeom>
          <a:solidFill>
            <a:srgbClr val="D3D7E3"/>
          </a:solidFill>
          <a:ln/>
        </p:spPr>
        <p:txBody>
          <a:bodyPr wrap="none" lIns="0" tIns="0" rIns="0" bIns="0" rtlCol="0" anchor="ctr">
            <a:normAutofit/>
          </a:bodyPr>
          <a:lstStyle/>
          <a:p>
            <a:pPr marL="0" indent="0" algn="ctr">
              <a:lnSpc>
                <a:spcPts val="2604"/>
              </a:lnSpc>
              <a:buNone/>
            </a:pPr>
            <a:r>
              <a:rPr lang="en-US" sz="1400" b="1" dirty="0">
                <a:solidFill>
                  <a:srgbClr val="222836"/>
                </a:solidFill>
                <a:latin typeface="Poppins" pitchFamily="34" charset="0"/>
                <a:ea typeface="Poppins" pitchFamily="34" charset="-122"/>
                <a:cs typeface="Poppins" pitchFamily="34" charset="-120"/>
              </a:rPr>
              <a:t>A</a:t>
            </a:r>
            <a:r>
              <a:rPr lang="en-US" sz="1400" b="1" dirty="0">
                <a:solidFill>
                  <a:srgbClr val="222836"/>
                </a:solidFill>
                <a:latin typeface="Radio Canada" pitchFamily="34" charset="0"/>
                <a:ea typeface="Radio Canada" pitchFamily="34" charset="-122"/>
                <a:cs typeface="Radio Canada" pitchFamily="34" charset="-120"/>
              </a:rPr>
              <a:t>  Restart the router</a:t>
            </a:r>
            <a:endParaRPr lang="en-US" sz="1400" dirty="0"/>
          </a:p>
        </p:txBody>
      </p:sp>
      <p:sp>
        <p:nvSpPr>
          <p:cNvPr id="17" name="Text 13"/>
          <p:cNvSpPr/>
          <p:nvPr/>
        </p:nvSpPr>
        <p:spPr>
          <a:xfrm>
            <a:off x="8390120" y="4419333"/>
            <a:ext cx="2173875" cy="330695"/>
          </a:xfrm>
          <a:custGeom>
            <a:avLst/>
            <a:gdLst/>
            <a:ahLst/>
            <a:cxnLst/>
            <a:rect l="l" t="t" r="r" b="b"/>
            <a:pathLst>
              <a:path w="2173875" h="330695">
                <a:moveTo>
                  <a:pt x="165100" y="0"/>
                </a:moveTo>
                <a:lnTo>
                  <a:pt x="2008775" y="0"/>
                </a:lnTo>
                <a:arcTo wR="165100" hR="165100" stAng="16200000" swAng="5400000"/>
                <a:lnTo>
                  <a:pt x="2173875" y="165595"/>
                </a:lnTo>
                <a:arcTo wR="165100" hR="165100" stAng="0" swAng="5400000"/>
                <a:lnTo>
                  <a:pt x="165100" y="330695"/>
                </a:lnTo>
                <a:arcTo wR="165100" hR="165100" stAng="5400000" swAng="5400000"/>
                <a:lnTo>
                  <a:pt x="0" y="165100"/>
                </a:lnTo>
                <a:arcTo wR="165100" hR="165100" stAng="10800000" swAng="5400000"/>
                <a:close/>
              </a:path>
            </a:pathLst>
          </a:custGeom>
          <a:solidFill>
            <a:srgbClr val="D3D7E3"/>
          </a:solidFill>
          <a:ln/>
        </p:spPr>
        <p:txBody>
          <a:bodyPr wrap="none" lIns="0" tIns="0" rIns="0" bIns="0" rtlCol="0" anchor="ctr">
            <a:normAutofit/>
          </a:bodyPr>
          <a:lstStyle/>
          <a:p>
            <a:pPr marL="0" indent="0" algn="ctr">
              <a:lnSpc>
                <a:spcPts val="2604"/>
              </a:lnSpc>
              <a:buNone/>
            </a:pPr>
            <a:r>
              <a:rPr lang="en-US" sz="1400" b="1" dirty="0">
                <a:solidFill>
                  <a:srgbClr val="222836"/>
                </a:solidFill>
                <a:latin typeface="Poppins" pitchFamily="34" charset="0"/>
                <a:ea typeface="Poppins" pitchFamily="34" charset="-122"/>
                <a:cs typeface="Poppins" pitchFamily="34" charset="-120"/>
              </a:rPr>
              <a:t>B</a:t>
            </a:r>
            <a:r>
              <a:rPr lang="en-US" sz="1400" b="1" dirty="0">
                <a:solidFill>
                  <a:srgbClr val="222836"/>
                </a:solidFill>
                <a:latin typeface="Radio Canada" pitchFamily="34" charset="0"/>
                <a:ea typeface="Radio Canada" pitchFamily="34" charset="-122"/>
                <a:cs typeface="Radio Canada" pitchFamily="34" charset="-120"/>
              </a:rPr>
              <a:t>  Check for an outage</a:t>
            </a:r>
            <a:endParaRPr lang="en-US" sz="1400" dirty="0"/>
          </a:p>
        </p:txBody>
      </p:sp>
      <p:sp>
        <p:nvSpPr>
          <p:cNvPr id="18" name="Text 14"/>
          <p:cNvSpPr/>
          <p:nvPr/>
        </p:nvSpPr>
        <p:spPr>
          <a:xfrm>
            <a:off x="6292811" y="4826198"/>
            <a:ext cx="1816156" cy="330695"/>
          </a:xfrm>
          <a:custGeom>
            <a:avLst/>
            <a:gdLst/>
            <a:ahLst/>
            <a:cxnLst/>
            <a:rect l="l" t="t" r="r" b="b"/>
            <a:pathLst>
              <a:path w="1816156" h="330695">
                <a:moveTo>
                  <a:pt x="165100" y="0"/>
                </a:moveTo>
                <a:lnTo>
                  <a:pt x="1651056" y="0"/>
                </a:lnTo>
                <a:arcTo wR="165100" hR="165100" stAng="16200000" swAng="5400000"/>
                <a:lnTo>
                  <a:pt x="1816156" y="165595"/>
                </a:lnTo>
                <a:arcTo wR="165100" hR="165100" stAng="0" swAng="5400000"/>
                <a:lnTo>
                  <a:pt x="165100" y="330695"/>
                </a:lnTo>
                <a:arcTo wR="165100" hR="165100" stAng="5400000" swAng="5400000"/>
                <a:lnTo>
                  <a:pt x="0" y="165100"/>
                </a:lnTo>
                <a:arcTo wR="165100" hR="165100" stAng="10800000" swAng="5400000"/>
                <a:close/>
              </a:path>
            </a:pathLst>
          </a:custGeom>
          <a:solidFill>
            <a:srgbClr val="D3D7E3"/>
          </a:solidFill>
          <a:ln/>
        </p:spPr>
        <p:txBody>
          <a:bodyPr wrap="none" lIns="0" tIns="0" rIns="0" bIns="0" rtlCol="0" anchor="ctr">
            <a:normAutofit/>
          </a:bodyPr>
          <a:lstStyle/>
          <a:p>
            <a:pPr marL="0" indent="0" algn="ctr">
              <a:lnSpc>
                <a:spcPts val="2604"/>
              </a:lnSpc>
              <a:buNone/>
            </a:pPr>
            <a:r>
              <a:rPr lang="en-US" sz="1400" b="1" dirty="0">
                <a:solidFill>
                  <a:srgbClr val="222836"/>
                </a:solidFill>
                <a:latin typeface="Poppins" pitchFamily="34" charset="0"/>
                <a:ea typeface="Poppins" pitchFamily="34" charset="-122"/>
                <a:cs typeface="Poppins" pitchFamily="34" charset="-120"/>
              </a:rPr>
              <a:t>C</a:t>
            </a:r>
            <a:r>
              <a:rPr lang="en-US" sz="1400" b="1" dirty="0">
                <a:solidFill>
                  <a:srgbClr val="222836"/>
                </a:solidFill>
                <a:latin typeface="Radio Canada" pitchFamily="34" charset="0"/>
                <a:ea typeface="Radio Canada" pitchFamily="34" charset="-122"/>
                <a:cs typeface="Radio Canada" pitchFamily="34" charset="-120"/>
              </a:rPr>
              <a:t>  Close the ticket</a:t>
            </a:r>
            <a:endParaRPr lang="en-US" sz="1400" dirty="0"/>
          </a:p>
        </p:txBody>
      </p:sp>
      <p:pic>
        <p:nvPicPr>
          <p:cNvPr id="19" name="Image 1" descr="Our robot agent proudly holding the router plug it just pulled out">
            <a:extLst>
              <a:ext uri="{FF2B5EF4-FFF2-40B4-BE49-F238E27FC236}">
                <a16:creationId xmlns:a16="http://schemas.microsoft.com/office/drawing/2014/main" id="{E920EFF9-53DB-1C7E-8DC3-BDEDD2B33C65}"/>
              </a:ext>
            </a:extLst>
          </p:cNvPr>
          <p:cNvPicPr>
            <a:picLocks noChangeAspect="1"/>
          </p:cNvPicPr>
          <p:nvPr/>
        </p:nvPicPr>
        <p:blipFill>
          <a:blip r:embed="rId4"/>
          <a:srcRect/>
          <a:stretch/>
        </p:blipFill>
        <p:spPr>
          <a:xfrm>
            <a:off x="1029640" y="1628159"/>
            <a:ext cx="4316447" cy="36015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357"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2"/>
          <p:cNvSpPr/>
          <p:nvPr/>
        </p:nvSpPr>
        <p:spPr>
          <a:xfrm>
            <a:off x="768325" y="768325"/>
            <a:ext cx="10655267" cy="749274"/>
          </a:xfrm>
          <a:prstGeom prst="rect">
            <a:avLst/>
          </a:prstGeom>
          <a:solidFill>
            <a:srgbClr val="FFFFFF"/>
          </a:solidFill>
          <a:ln/>
        </p:spPr>
        <p:txBody>
          <a:bodyPr/>
          <a:lstStyle/>
          <a:p>
            <a:endParaRPr lang="en-AE"/>
          </a:p>
        </p:txBody>
      </p:sp>
      <p:sp>
        <p:nvSpPr>
          <p:cNvPr id="7" name="Text 3"/>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Our support agent MDP</a:t>
            </a:r>
            <a:endParaRPr lang="en-US" sz="3000" dirty="0"/>
          </a:p>
        </p:txBody>
      </p:sp>
      <p:sp>
        <p:nvSpPr>
          <p:cNvPr id="8" name="Rectangle 7"/>
          <p:cNvSpPr/>
          <p:nvPr/>
        </p:nvSpPr>
        <p:spPr>
          <a:xfrm>
            <a:off x="768350" y="1530350"/>
            <a:ext cx="1511300" cy="749300"/>
          </a:xfrm>
          <a:prstGeom prst="rect">
            <a:avLst/>
          </a:prstGeom>
          <a:solidFill>
            <a:srgbClr val="222836"/>
          </a:solidFill>
          <a:ln>
            <a:noFill/>
          </a:ln>
        </p:spPr>
        <p:txBody>
          <a:bodyPr rtlCol="0" anchor="ctr"/>
          <a:lstStyle/>
          <a:p>
            <a:pPr algn="ctr"/>
            <a:endParaRPr/>
          </a:p>
        </p:txBody>
      </p:sp>
      <p:sp>
        <p:nvSpPr>
          <p:cNvPr id="9" name="TextBox 8"/>
          <p:cNvSpPr txBox="1"/>
          <p:nvPr/>
        </p:nvSpPr>
        <p:spPr>
          <a:xfrm>
            <a:off x="819150" y="1530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Agent</a:t>
            </a:r>
          </a:p>
        </p:txBody>
      </p:sp>
      <p:sp>
        <p:nvSpPr>
          <p:cNvPr id="12" name="Rectangle 11"/>
          <p:cNvSpPr/>
          <p:nvPr/>
        </p:nvSpPr>
        <p:spPr>
          <a:xfrm>
            <a:off x="6102350" y="1530350"/>
            <a:ext cx="5321300" cy="749300"/>
          </a:xfrm>
          <a:prstGeom prst="rect">
            <a:avLst/>
          </a:prstGeom>
          <a:solidFill>
            <a:srgbClr val="FFFFFF"/>
          </a:solidFill>
          <a:ln>
            <a:noFill/>
          </a:ln>
        </p:spPr>
        <p:txBody>
          <a:bodyPr rtlCol="0" anchor="ctr"/>
          <a:lstStyle/>
          <a:p>
            <a:pPr algn="ctr"/>
            <a:endParaRPr/>
          </a:p>
        </p:txBody>
      </p:sp>
      <p:sp>
        <p:nvSpPr>
          <p:cNvPr id="13" name="TextBox 12"/>
          <p:cNvSpPr txBox="1"/>
          <p:nvPr/>
        </p:nvSpPr>
        <p:spPr>
          <a:xfrm>
            <a:off x="2279650" y="1530350"/>
            <a:ext cx="9093200" cy="749300"/>
          </a:xfrm>
          <a:prstGeom prst="rect">
            <a:avLst/>
          </a:prstGeom>
          <a:solidFill>
            <a:schemeClr val="bg1"/>
          </a:solidFill>
        </p:spPr>
        <p:txBody>
          <a:bodyPr wrap="square" lIns="0" tIns="0" rIns="0" bIns="0" anchor="ctr">
            <a:noAutofit/>
          </a:bodyPr>
          <a:lstStyle/>
          <a:p>
            <a:pPr algn="ctr"/>
            <a:r>
              <a:rPr sz="1800" b="0" dirty="0">
                <a:solidFill>
                  <a:srgbClr val="222836"/>
                </a:solidFill>
                <a:latin typeface="Radio Canada"/>
              </a:rPr>
              <a:t>The AI support agent, choosing the next troubleshooting step</a:t>
            </a:r>
          </a:p>
        </p:txBody>
      </p:sp>
      <p:sp>
        <p:nvSpPr>
          <p:cNvPr id="14" name="Rectangle 13"/>
          <p:cNvSpPr/>
          <p:nvPr/>
        </p:nvSpPr>
        <p:spPr>
          <a:xfrm>
            <a:off x="768350" y="2292350"/>
            <a:ext cx="1511300" cy="749300"/>
          </a:xfrm>
          <a:prstGeom prst="rect">
            <a:avLst/>
          </a:prstGeom>
          <a:solidFill>
            <a:srgbClr val="222836"/>
          </a:solidFill>
          <a:ln>
            <a:noFill/>
          </a:ln>
        </p:spPr>
        <p:txBody>
          <a:bodyPr rtlCol="0" anchor="ctr"/>
          <a:lstStyle/>
          <a:p>
            <a:pPr algn="ctr"/>
            <a:endParaRPr/>
          </a:p>
        </p:txBody>
      </p:sp>
      <p:sp>
        <p:nvSpPr>
          <p:cNvPr id="15" name="TextBox 14"/>
          <p:cNvSpPr txBox="1"/>
          <p:nvPr/>
        </p:nvSpPr>
        <p:spPr>
          <a:xfrm>
            <a:off x="819150" y="2292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Environment</a:t>
            </a:r>
          </a:p>
        </p:txBody>
      </p:sp>
      <p:sp>
        <p:nvSpPr>
          <p:cNvPr id="18" name="Rectangle 17"/>
          <p:cNvSpPr/>
          <p:nvPr/>
        </p:nvSpPr>
        <p:spPr>
          <a:xfrm>
            <a:off x="6102350" y="2292350"/>
            <a:ext cx="5321300" cy="749300"/>
          </a:xfrm>
          <a:prstGeom prst="rect">
            <a:avLst/>
          </a:prstGeom>
          <a:solidFill>
            <a:srgbClr val="FFFFFF"/>
          </a:solidFill>
          <a:ln>
            <a:noFill/>
          </a:ln>
        </p:spPr>
        <p:txBody>
          <a:bodyPr rtlCol="0" anchor="ctr"/>
          <a:lstStyle/>
          <a:p>
            <a:pPr algn="ctr"/>
            <a:endParaRPr/>
          </a:p>
        </p:txBody>
      </p:sp>
      <p:sp>
        <p:nvSpPr>
          <p:cNvPr id="19" name="TextBox 18"/>
          <p:cNvSpPr txBox="1"/>
          <p:nvPr/>
        </p:nvSpPr>
        <p:spPr>
          <a:xfrm>
            <a:off x="2279650" y="2292350"/>
            <a:ext cx="9086850" cy="749300"/>
          </a:xfrm>
          <a:prstGeom prst="rect">
            <a:avLst/>
          </a:prstGeom>
          <a:solidFill>
            <a:schemeClr val="bg1"/>
          </a:solidFill>
        </p:spPr>
        <p:txBody>
          <a:bodyPr wrap="square" lIns="0" tIns="0" rIns="0" bIns="0" anchor="ctr">
            <a:noAutofit/>
          </a:bodyPr>
          <a:lstStyle/>
          <a:p>
            <a:pPr algn="ctr"/>
            <a:r>
              <a:rPr sz="1800" b="0" dirty="0">
                <a:solidFill>
                  <a:srgbClr val="222836"/>
                </a:solidFill>
                <a:latin typeface="Radio Canada"/>
              </a:rPr>
              <a:t>The support simulator: it responds to each move and updates the ticket</a:t>
            </a:r>
          </a:p>
        </p:txBody>
      </p:sp>
      <p:sp>
        <p:nvSpPr>
          <p:cNvPr id="20" name="Rectangle 19"/>
          <p:cNvSpPr/>
          <p:nvPr/>
        </p:nvSpPr>
        <p:spPr>
          <a:xfrm>
            <a:off x="768350" y="3054350"/>
            <a:ext cx="1511300" cy="749300"/>
          </a:xfrm>
          <a:prstGeom prst="rect">
            <a:avLst/>
          </a:prstGeom>
          <a:solidFill>
            <a:srgbClr val="222836"/>
          </a:solidFill>
          <a:ln>
            <a:noFill/>
          </a:ln>
        </p:spPr>
        <p:txBody>
          <a:bodyPr rtlCol="0" anchor="ctr"/>
          <a:lstStyle/>
          <a:p>
            <a:pPr algn="ctr"/>
            <a:endParaRPr/>
          </a:p>
        </p:txBody>
      </p:sp>
      <p:sp>
        <p:nvSpPr>
          <p:cNvPr id="21" name="TextBox 20"/>
          <p:cNvSpPr txBox="1"/>
          <p:nvPr/>
        </p:nvSpPr>
        <p:spPr>
          <a:xfrm>
            <a:off x="819150" y="3054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State</a:t>
            </a:r>
          </a:p>
        </p:txBody>
      </p:sp>
      <p:sp>
        <p:nvSpPr>
          <p:cNvPr id="24" name="Rectangle 23"/>
          <p:cNvSpPr/>
          <p:nvPr/>
        </p:nvSpPr>
        <p:spPr>
          <a:xfrm>
            <a:off x="6102350" y="3054350"/>
            <a:ext cx="5321300" cy="749300"/>
          </a:xfrm>
          <a:prstGeom prst="rect">
            <a:avLst/>
          </a:prstGeom>
          <a:solidFill>
            <a:srgbClr val="FFFFFF"/>
          </a:solidFill>
          <a:ln>
            <a:noFill/>
          </a:ln>
        </p:spPr>
        <p:txBody>
          <a:bodyPr rtlCol="0" anchor="ctr"/>
          <a:lstStyle/>
          <a:p>
            <a:pPr algn="ctr"/>
            <a:endParaRPr/>
          </a:p>
        </p:txBody>
      </p:sp>
      <p:sp>
        <p:nvSpPr>
          <p:cNvPr id="25" name="TextBox 24"/>
          <p:cNvSpPr txBox="1"/>
          <p:nvPr/>
        </p:nvSpPr>
        <p:spPr>
          <a:xfrm>
            <a:off x="2286000" y="3054350"/>
            <a:ext cx="9086850" cy="749300"/>
          </a:xfrm>
          <a:prstGeom prst="rect">
            <a:avLst/>
          </a:prstGeom>
          <a:solidFill>
            <a:schemeClr val="bg1"/>
          </a:solidFill>
        </p:spPr>
        <p:txBody>
          <a:bodyPr wrap="square" lIns="0" tIns="0" rIns="0" bIns="0" anchor="ctr">
            <a:noAutofit/>
          </a:bodyPr>
          <a:lstStyle/>
          <a:p>
            <a:pPr algn="ctr"/>
            <a:r>
              <a:rPr sz="1800" b="0" dirty="0">
                <a:solidFill>
                  <a:srgbClr val="222836"/>
                </a:solidFill>
                <a:latin typeface="Radio Canada"/>
              </a:rPr>
              <a:t>The ticket so far: “router light is red”</a:t>
            </a:r>
          </a:p>
        </p:txBody>
      </p:sp>
      <p:sp>
        <p:nvSpPr>
          <p:cNvPr id="26" name="Rectangle 25"/>
          <p:cNvSpPr/>
          <p:nvPr/>
        </p:nvSpPr>
        <p:spPr>
          <a:xfrm>
            <a:off x="768350" y="3816350"/>
            <a:ext cx="1511300" cy="749300"/>
          </a:xfrm>
          <a:prstGeom prst="rect">
            <a:avLst/>
          </a:prstGeom>
          <a:solidFill>
            <a:srgbClr val="222836"/>
          </a:solidFill>
          <a:ln>
            <a:noFill/>
          </a:ln>
        </p:spPr>
        <p:txBody>
          <a:bodyPr rtlCol="0" anchor="ctr"/>
          <a:lstStyle/>
          <a:p>
            <a:pPr algn="ctr"/>
            <a:endParaRPr/>
          </a:p>
        </p:txBody>
      </p:sp>
      <p:sp>
        <p:nvSpPr>
          <p:cNvPr id="27" name="TextBox 26"/>
          <p:cNvSpPr txBox="1"/>
          <p:nvPr/>
        </p:nvSpPr>
        <p:spPr>
          <a:xfrm>
            <a:off x="819150" y="3816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Action</a:t>
            </a:r>
          </a:p>
        </p:txBody>
      </p:sp>
      <p:sp>
        <p:nvSpPr>
          <p:cNvPr id="30" name="Rectangle 29"/>
          <p:cNvSpPr/>
          <p:nvPr/>
        </p:nvSpPr>
        <p:spPr>
          <a:xfrm>
            <a:off x="6102350" y="3816350"/>
            <a:ext cx="5321300" cy="749300"/>
          </a:xfrm>
          <a:prstGeom prst="rect">
            <a:avLst/>
          </a:prstGeom>
          <a:solidFill>
            <a:srgbClr val="FFFFFF"/>
          </a:solidFill>
          <a:ln>
            <a:noFill/>
          </a:ln>
        </p:spPr>
        <p:txBody>
          <a:bodyPr rtlCol="0" anchor="ctr"/>
          <a:lstStyle/>
          <a:p>
            <a:pPr algn="ctr"/>
            <a:endParaRPr/>
          </a:p>
        </p:txBody>
      </p:sp>
      <p:sp>
        <p:nvSpPr>
          <p:cNvPr id="31" name="TextBox 30"/>
          <p:cNvSpPr txBox="1"/>
          <p:nvPr/>
        </p:nvSpPr>
        <p:spPr>
          <a:xfrm>
            <a:off x="2279650" y="3816350"/>
            <a:ext cx="9143942" cy="749300"/>
          </a:xfrm>
          <a:prstGeom prst="rect">
            <a:avLst/>
          </a:prstGeom>
          <a:solidFill>
            <a:schemeClr val="bg1"/>
          </a:solidFill>
        </p:spPr>
        <p:txBody>
          <a:bodyPr wrap="square" lIns="0" tIns="0" rIns="0" bIns="0" anchor="ctr">
            <a:noAutofit/>
          </a:bodyPr>
          <a:lstStyle/>
          <a:p>
            <a:pPr algn="ctr"/>
            <a:r>
              <a:rPr sz="1800" b="0" dirty="0">
                <a:solidFill>
                  <a:srgbClr val="222836"/>
                </a:solidFill>
                <a:latin typeface="Radio Canada"/>
              </a:rPr>
              <a:t>Check outage, lights or account; restart, escalate, apply fix…</a:t>
            </a:r>
          </a:p>
        </p:txBody>
      </p:sp>
      <p:sp>
        <p:nvSpPr>
          <p:cNvPr id="32" name="Rectangle 31"/>
          <p:cNvSpPr/>
          <p:nvPr/>
        </p:nvSpPr>
        <p:spPr>
          <a:xfrm>
            <a:off x="768350" y="4578350"/>
            <a:ext cx="1511300" cy="749300"/>
          </a:xfrm>
          <a:prstGeom prst="rect">
            <a:avLst/>
          </a:prstGeom>
          <a:solidFill>
            <a:srgbClr val="222836"/>
          </a:solidFill>
          <a:ln>
            <a:noFill/>
          </a:ln>
        </p:spPr>
        <p:txBody>
          <a:bodyPr rtlCol="0" anchor="ctr"/>
          <a:lstStyle/>
          <a:p>
            <a:pPr algn="ctr"/>
            <a:endParaRPr/>
          </a:p>
        </p:txBody>
      </p:sp>
      <p:sp>
        <p:nvSpPr>
          <p:cNvPr id="33" name="TextBox 32"/>
          <p:cNvSpPr txBox="1"/>
          <p:nvPr/>
        </p:nvSpPr>
        <p:spPr>
          <a:xfrm>
            <a:off x="819150" y="4578350"/>
            <a:ext cx="1409700" cy="749300"/>
          </a:xfrm>
          <a:prstGeom prst="rect">
            <a:avLst/>
          </a:prstGeom>
          <a:noFill/>
        </p:spPr>
        <p:txBody>
          <a:bodyPr wrap="square" lIns="0" tIns="0" rIns="0" bIns="0" anchor="ctr">
            <a:noAutofit/>
          </a:bodyPr>
          <a:lstStyle/>
          <a:p>
            <a:pPr algn="ctr"/>
            <a:r>
              <a:rPr sz="1600" b="1">
                <a:solidFill>
                  <a:srgbClr val="FFFFFF"/>
                </a:solidFill>
                <a:latin typeface="Radio Canada"/>
              </a:rPr>
              <a:t>Reward</a:t>
            </a:r>
          </a:p>
        </p:txBody>
      </p:sp>
      <p:sp>
        <p:nvSpPr>
          <p:cNvPr id="36" name="Rectangle 35"/>
          <p:cNvSpPr/>
          <p:nvPr/>
        </p:nvSpPr>
        <p:spPr>
          <a:xfrm>
            <a:off x="6102350" y="4578350"/>
            <a:ext cx="5321300" cy="749300"/>
          </a:xfrm>
          <a:prstGeom prst="rect">
            <a:avLst/>
          </a:prstGeom>
          <a:solidFill>
            <a:srgbClr val="FFFFFF"/>
          </a:solidFill>
          <a:ln>
            <a:noFill/>
          </a:ln>
        </p:spPr>
        <p:txBody>
          <a:bodyPr rtlCol="0" anchor="ctr"/>
          <a:lstStyle/>
          <a:p>
            <a:pPr algn="ctr"/>
            <a:endParaRPr/>
          </a:p>
        </p:txBody>
      </p:sp>
      <p:sp>
        <p:nvSpPr>
          <p:cNvPr id="37" name="TextBox 36"/>
          <p:cNvSpPr txBox="1"/>
          <p:nvPr/>
        </p:nvSpPr>
        <p:spPr>
          <a:xfrm>
            <a:off x="2279650" y="4578350"/>
            <a:ext cx="9093200" cy="749300"/>
          </a:xfrm>
          <a:prstGeom prst="rect">
            <a:avLst/>
          </a:prstGeom>
          <a:solidFill>
            <a:schemeClr val="bg1"/>
          </a:solidFill>
        </p:spPr>
        <p:txBody>
          <a:bodyPr wrap="square" lIns="0" tIns="0" rIns="0" bIns="0" anchor="ctr">
            <a:noAutofit/>
          </a:bodyPr>
          <a:lstStyle/>
          <a:p>
            <a:pPr algn="ctr"/>
            <a:r>
              <a:rPr sz="1800" b="0" dirty="0">
                <a:solidFill>
                  <a:srgbClr val="222836"/>
                </a:solidFill>
                <a:latin typeface="Radio Canada"/>
              </a:rPr>
              <a:t>+0.25 per helpful step, 1.0 when solved; a wrong move scores 0 and uses up a turn</a:t>
            </a:r>
          </a:p>
        </p:txBody>
      </p:sp>
      <p:sp>
        <p:nvSpPr>
          <p:cNvPr id="38" name="Rectangle 37"/>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Ticket → action → simulator responds → reward → </a:t>
            </a:r>
            <a:r>
              <a:rPr sz="2100" b="0">
                <a:solidFill>
                  <a:srgbClr val="F09601"/>
                </a:solidFill>
                <a:latin typeface="Radio Canada"/>
              </a:rPr>
              <a:t>better decisions next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2292334"/>
            <a:ext cx="749274" cy="749274"/>
          </a:xfrm>
          <a:prstGeom prst="rect">
            <a:avLst/>
          </a:prstGeom>
          <a:solidFill>
            <a:srgbClr val="F09601"/>
          </a:solidFill>
          <a:ln/>
        </p:spPr>
        <p:txBody>
          <a:bodyPr/>
          <a:lstStyle/>
          <a:p>
            <a:endParaRPr lang="en-AE"/>
          </a:p>
        </p:txBody>
      </p:sp>
      <p:sp>
        <p:nvSpPr>
          <p:cNvPr id="4" name="Shape 1"/>
          <p:cNvSpPr/>
          <p:nvPr/>
        </p:nvSpPr>
        <p:spPr>
          <a:xfrm>
            <a:off x="11436338" y="1530347"/>
            <a:ext cx="749274" cy="749274"/>
          </a:xfrm>
          <a:prstGeom prst="rect">
            <a:avLst/>
          </a:prstGeom>
          <a:solidFill>
            <a:srgbClr val="222836"/>
          </a:solidFill>
          <a:ln/>
        </p:spPr>
        <p:txBody>
          <a:bodyPr/>
          <a:lstStyle/>
          <a:p>
            <a:endParaRPr lang="en-AE"/>
          </a:p>
        </p:txBody>
      </p:sp>
      <p:sp>
        <p:nvSpPr>
          <p:cNvPr id="5" name="Shape 2"/>
          <p:cNvSpPr/>
          <p:nvPr/>
        </p:nvSpPr>
        <p:spPr>
          <a:xfrm>
            <a:off x="11436338" y="3816341"/>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The training loop on SageMaker</a:t>
            </a:r>
            <a:endParaRPr lang="en-US" sz="3000" dirty="0"/>
          </a:p>
        </p:txBody>
      </p:sp>
      <p:sp>
        <p:nvSpPr>
          <p:cNvPr id="8" name="Shape 5"/>
          <p:cNvSpPr/>
          <p:nvPr/>
        </p:nvSpPr>
        <p:spPr>
          <a:xfrm>
            <a:off x="768325" y="1530347"/>
            <a:ext cx="3035267" cy="1511294"/>
          </a:xfrm>
          <a:prstGeom prst="rect">
            <a:avLst/>
          </a:prstGeom>
          <a:solidFill>
            <a:srgbClr val="FFFFFF"/>
          </a:solidFill>
          <a:ln/>
        </p:spPr>
        <p:txBody>
          <a:bodyPr/>
          <a:lstStyle/>
          <a:p>
            <a:endParaRPr lang="en-AE"/>
          </a:p>
        </p:txBody>
      </p:sp>
      <p:pic>
        <p:nvPicPr>
          <p:cNvPr id="9" name="Image 1" descr="preencoded.png"/>
          <p:cNvPicPr>
            <a:picLocks noChangeAspect="1"/>
          </p:cNvPicPr>
          <p:nvPr/>
        </p:nvPicPr>
        <p:blipFill>
          <a:blip r:embed="rId4"/>
          <a:srcRect/>
          <a:stretch/>
        </p:blipFill>
        <p:spPr>
          <a:xfrm>
            <a:off x="958804" y="1930806"/>
            <a:ext cx="355568" cy="355568"/>
          </a:xfrm>
          <a:prstGeom prst="rect">
            <a:avLst/>
          </a:prstGeom>
        </p:spPr>
      </p:pic>
      <p:sp>
        <p:nvSpPr>
          <p:cNvPr id="10" name="Text 6"/>
          <p:cNvSpPr/>
          <p:nvPr/>
        </p:nvSpPr>
        <p:spPr>
          <a:xfrm>
            <a:off x="1403256" y="1943243"/>
            <a:ext cx="1217455"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1</a:t>
            </a:r>
            <a:r>
              <a:rPr lang="en-US" sz="2100" b="1" dirty="0">
                <a:solidFill>
                  <a:srgbClr val="000000"/>
                </a:solidFill>
                <a:latin typeface="Radio Canada" pitchFamily="34" charset="0"/>
                <a:ea typeface="Radio Canada" pitchFamily="34" charset="-122"/>
                <a:cs typeface="Radio Canada" pitchFamily="34" charset="-120"/>
              </a:rPr>
              <a:t> Ticket</a:t>
            </a:r>
            <a:endParaRPr lang="en-US" sz="2100" dirty="0"/>
          </a:p>
        </p:txBody>
      </p:sp>
      <p:sp>
        <p:nvSpPr>
          <p:cNvPr id="11" name="Text 7"/>
          <p:cNvSpPr/>
          <p:nvPr/>
        </p:nvSpPr>
        <p:spPr>
          <a:xfrm>
            <a:off x="958804" y="2337153"/>
            <a:ext cx="2733937"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222836"/>
                </a:solidFill>
                <a:latin typeface="Radio Canada" pitchFamily="34" charset="0"/>
                <a:ea typeface="Radio Canada" pitchFamily="34" charset="-122"/>
                <a:cs typeface="Radio Canada" pitchFamily="34" charset="-120"/>
              </a:rPr>
              <a:t>“My internet is down”</a:t>
            </a:r>
            <a:endParaRPr lang="en-US" sz="1800" dirty="0"/>
          </a:p>
        </p:txBody>
      </p:sp>
      <p:sp>
        <p:nvSpPr>
          <p:cNvPr id="12" name="Shape 8"/>
          <p:cNvSpPr/>
          <p:nvPr/>
        </p:nvSpPr>
        <p:spPr>
          <a:xfrm>
            <a:off x="4578325" y="1530347"/>
            <a:ext cx="3035267" cy="1511294"/>
          </a:xfrm>
          <a:prstGeom prst="rect">
            <a:avLst/>
          </a:prstGeom>
          <a:solidFill>
            <a:srgbClr val="FFFFFF"/>
          </a:solidFill>
          <a:ln/>
        </p:spPr>
        <p:txBody>
          <a:bodyPr/>
          <a:lstStyle/>
          <a:p>
            <a:endParaRPr lang="en-AE"/>
          </a:p>
        </p:txBody>
      </p:sp>
      <p:pic>
        <p:nvPicPr>
          <p:cNvPr id="13" name="Image 2" descr="preencoded.png"/>
          <p:cNvPicPr>
            <a:picLocks noChangeAspect="1"/>
          </p:cNvPicPr>
          <p:nvPr/>
        </p:nvPicPr>
        <p:blipFill>
          <a:blip r:embed="rId5"/>
          <a:srcRect/>
          <a:stretch/>
        </p:blipFill>
        <p:spPr>
          <a:xfrm>
            <a:off x="4768804" y="1930806"/>
            <a:ext cx="355568" cy="355568"/>
          </a:xfrm>
          <a:prstGeom prst="rect">
            <a:avLst/>
          </a:prstGeom>
        </p:spPr>
      </p:pic>
      <p:sp>
        <p:nvSpPr>
          <p:cNvPr id="14" name="Text 9"/>
          <p:cNvSpPr/>
          <p:nvPr/>
        </p:nvSpPr>
        <p:spPr>
          <a:xfrm>
            <a:off x="5213256" y="1943243"/>
            <a:ext cx="1198893"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2</a:t>
            </a:r>
            <a:r>
              <a:rPr lang="en-US" sz="2100" b="1" dirty="0">
                <a:solidFill>
                  <a:srgbClr val="000000"/>
                </a:solidFill>
                <a:latin typeface="Radio Canada" pitchFamily="34" charset="0"/>
                <a:ea typeface="Radio Canada" pitchFamily="34" charset="-122"/>
                <a:cs typeface="Radio Canada" pitchFamily="34" charset="-120"/>
              </a:rPr>
              <a:t> Agent</a:t>
            </a:r>
            <a:endParaRPr lang="en-US" sz="2100" dirty="0"/>
          </a:p>
        </p:txBody>
      </p:sp>
      <p:sp>
        <p:nvSpPr>
          <p:cNvPr id="15" name="Text 10"/>
          <p:cNvSpPr/>
          <p:nvPr/>
        </p:nvSpPr>
        <p:spPr>
          <a:xfrm>
            <a:off x="4768804" y="2337153"/>
            <a:ext cx="2733937"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222836"/>
                </a:solidFill>
                <a:latin typeface="Radio Canada" pitchFamily="34" charset="0"/>
                <a:ea typeface="Radio Canada" pitchFamily="34" charset="-122"/>
                <a:cs typeface="Radio Canada" pitchFamily="34" charset="-120"/>
              </a:rPr>
              <a:t>runs on AgentCore</a:t>
            </a:r>
            <a:endParaRPr lang="en-US" sz="1800" dirty="0"/>
          </a:p>
        </p:txBody>
      </p:sp>
      <p:sp>
        <p:nvSpPr>
          <p:cNvPr id="16" name="Shape 11"/>
          <p:cNvSpPr/>
          <p:nvPr/>
        </p:nvSpPr>
        <p:spPr>
          <a:xfrm>
            <a:off x="8388325" y="1530347"/>
            <a:ext cx="3035267" cy="1511294"/>
          </a:xfrm>
          <a:prstGeom prst="rect">
            <a:avLst/>
          </a:prstGeom>
          <a:solidFill>
            <a:srgbClr val="FFFFFF"/>
          </a:solidFill>
          <a:ln/>
        </p:spPr>
        <p:txBody>
          <a:bodyPr/>
          <a:lstStyle/>
          <a:p>
            <a:endParaRPr lang="en-AE"/>
          </a:p>
        </p:txBody>
      </p:sp>
      <p:pic>
        <p:nvPicPr>
          <p:cNvPr id="17" name="Image 3" descr="preencoded.png"/>
          <p:cNvPicPr>
            <a:picLocks noChangeAspect="1"/>
          </p:cNvPicPr>
          <p:nvPr/>
        </p:nvPicPr>
        <p:blipFill>
          <a:blip r:embed="rId6"/>
          <a:srcRect/>
          <a:stretch/>
        </p:blipFill>
        <p:spPr>
          <a:xfrm>
            <a:off x="8578804" y="1930806"/>
            <a:ext cx="355568" cy="355568"/>
          </a:xfrm>
          <a:prstGeom prst="rect">
            <a:avLst/>
          </a:prstGeom>
        </p:spPr>
      </p:pic>
      <p:sp>
        <p:nvSpPr>
          <p:cNvPr id="18" name="Text 12"/>
          <p:cNvSpPr/>
          <p:nvPr/>
        </p:nvSpPr>
        <p:spPr>
          <a:xfrm>
            <a:off x="9023256" y="1943243"/>
            <a:ext cx="1206583"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3</a:t>
            </a:r>
            <a:r>
              <a:rPr lang="en-US" sz="2100" b="1" dirty="0">
                <a:solidFill>
                  <a:srgbClr val="000000"/>
                </a:solidFill>
                <a:latin typeface="Radio Canada" pitchFamily="34" charset="0"/>
                <a:ea typeface="Radio Canada" pitchFamily="34" charset="-122"/>
                <a:cs typeface="Radio Canada" pitchFamily="34" charset="-120"/>
              </a:rPr>
              <a:t> Model</a:t>
            </a:r>
            <a:endParaRPr lang="en-US" sz="2100" dirty="0"/>
          </a:p>
        </p:txBody>
      </p:sp>
      <p:sp>
        <p:nvSpPr>
          <p:cNvPr id="19" name="Text 13"/>
          <p:cNvSpPr/>
          <p:nvPr/>
        </p:nvSpPr>
        <p:spPr>
          <a:xfrm>
            <a:off x="8578804" y="2337153"/>
            <a:ext cx="2733937"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222836"/>
                </a:solidFill>
                <a:latin typeface="Radio Canada" pitchFamily="34" charset="0"/>
                <a:ea typeface="Radio Canada" pitchFamily="34" charset="-122"/>
                <a:cs typeface="Radio Canada" pitchFamily="34" charset="-120"/>
              </a:rPr>
              <a:t>GPT-OSS-20B</a:t>
            </a:r>
            <a:endParaRPr lang="en-US" sz="1800" dirty="0"/>
          </a:p>
        </p:txBody>
      </p:sp>
      <p:sp>
        <p:nvSpPr>
          <p:cNvPr id="20" name="Shape 14"/>
          <p:cNvSpPr/>
          <p:nvPr/>
        </p:nvSpPr>
        <p:spPr>
          <a:xfrm>
            <a:off x="8388325" y="3816341"/>
            <a:ext cx="3035267" cy="1511294"/>
          </a:xfrm>
          <a:prstGeom prst="rect">
            <a:avLst/>
          </a:prstGeom>
          <a:solidFill>
            <a:srgbClr val="FFFFFF"/>
          </a:solidFill>
          <a:ln/>
        </p:spPr>
        <p:txBody>
          <a:bodyPr/>
          <a:lstStyle/>
          <a:p>
            <a:endParaRPr lang="en-AE"/>
          </a:p>
        </p:txBody>
      </p:sp>
      <p:pic>
        <p:nvPicPr>
          <p:cNvPr id="21" name="Image 4" descr="preencoded.png"/>
          <p:cNvPicPr>
            <a:picLocks noChangeAspect="1"/>
          </p:cNvPicPr>
          <p:nvPr/>
        </p:nvPicPr>
        <p:blipFill>
          <a:blip r:embed="rId7"/>
          <a:srcRect/>
          <a:stretch/>
        </p:blipFill>
        <p:spPr>
          <a:xfrm>
            <a:off x="8578804" y="4216797"/>
            <a:ext cx="355568" cy="355568"/>
          </a:xfrm>
          <a:prstGeom prst="rect">
            <a:avLst/>
          </a:prstGeom>
        </p:spPr>
      </p:pic>
      <p:sp>
        <p:nvSpPr>
          <p:cNvPr id="22" name="Text 15"/>
          <p:cNvSpPr/>
          <p:nvPr/>
        </p:nvSpPr>
        <p:spPr>
          <a:xfrm>
            <a:off x="9023256" y="4229236"/>
            <a:ext cx="2287984"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4</a:t>
            </a:r>
            <a:r>
              <a:rPr lang="en-US" sz="2100" b="1" dirty="0">
                <a:solidFill>
                  <a:srgbClr val="000000"/>
                </a:solidFill>
                <a:latin typeface="Radio Canada" pitchFamily="34" charset="0"/>
                <a:ea typeface="Radio Canada" pitchFamily="34" charset="-122"/>
                <a:cs typeface="Radio Canada" pitchFamily="34" charset="-120"/>
              </a:rPr>
              <a:t> Environment</a:t>
            </a:r>
            <a:endParaRPr lang="en-US" sz="2100" dirty="0"/>
          </a:p>
        </p:txBody>
      </p:sp>
      <p:sp>
        <p:nvSpPr>
          <p:cNvPr id="23" name="Text 16"/>
          <p:cNvSpPr/>
          <p:nvPr/>
        </p:nvSpPr>
        <p:spPr>
          <a:xfrm>
            <a:off x="8578804" y="4623147"/>
            <a:ext cx="2733937"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222836"/>
                </a:solidFill>
                <a:latin typeface="Radio Canada" pitchFamily="34" charset="0"/>
                <a:ea typeface="Radio Canada" pitchFamily="34" charset="-122"/>
                <a:cs typeface="Radio Canada" pitchFamily="34" charset="-120"/>
              </a:rPr>
              <a:t>a support simulator</a:t>
            </a:r>
            <a:endParaRPr lang="en-US" sz="1800" dirty="0"/>
          </a:p>
        </p:txBody>
      </p:sp>
      <p:sp>
        <p:nvSpPr>
          <p:cNvPr id="24" name="Shape 17"/>
          <p:cNvSpPr/>
          <p:nvPr/>
        </p:nvSpPr>
        <p:spPr>
          <a:xfrm>
            <a:off x="4578325" y="3816341"/>
            <a:ext cx="3035267" cy="1511294"/>
          </a:xfrm>
          <a:prstGeom prst="rect">
            <a:avLst/>
          </a:prstGeom>
          <a:solidFill>
            <a:srgbClr val="FFFFFF"/>
          </a:solidFill>
          <a:ln/>
        </p:spPr>
        <p:txBody>
          <a:bodyPr/>
          <a:lstStyle/>
          <a:p>
            <a:endParaRPr lang="en-AE"/>
          </a:p>
        </p:txBody>
      </p:sp>
      <p:pic>
        <p:nvPicPr>
          <p:cNvPr id="25" name="Image 5" descr="preencoded.png"/>
          <p:cNvPicPr>
            <a:picLocks noChangeAspect="1"/>
          </p:cNvPicPr>
          <p:nvPr/>
        </p:nvPicPr>
        <p:blipFill>
          <a:blip r:embed="rId8"/>
          <a:srcRect/>
          <a:stretch/>
        </p:blipFill>
        <p:spPr>
          <a:xfrm>
            <a:off x="4768804" y="4216797"/>
            <a:ext cx="355568" cy="355568"/>
          </a:xfrm>
          <a:prstGeom prst="rect">
            <a:avLst/>
          </a:prstGeom>
        </p:spPr>
      </p:pic>
      <p:sp>
        <p:nvSpPr>
          <p:cNvPr id="26" name="Text 18"/>
          <p:cNvSpPr/>
          <p:nvPr/>
        </p:nvSpPr>
        <p:spPr>
          <a:xfrm>
            <a:off x="5213256" y="4229236"/>
            <a:ext cx="1136179"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5</a:t>
            </a:r>
            <a:r>
              <a:rPr lang="en-US" sz="2100" b="1" dirty="0">
                <a:solidFill>
                  <a:srgbClr val="000000"/>
                </a:solidFill>
                <a:latin typeface="Radio Canada" pitchFamily="34" charset="0"/>
                <a:ea typeface="Radio Canada" pitchFamily="34" charset="-122"/>
                <a:cs typeface="Radio Canada" pitchFamily="34" charset="-120"/>
              </a:rPr>
              <a:t> Score</a:t>
            </a:r>
            <a:endParaRPr lang="en-US" sz="2100" dirty="0"/>
          </a:p>
        </p:txBody>
      </p:sp>
      <p:sp>
        <p:nvSpPr>
          <p:cNvPr id="27" name="Text 19"/>
          <p:cNvSpPr/>
          <p:nvPr/>
        </p:nvSpPr>
        <p:spPr>
          <a:xfrm>
            <a:off x="4768804" y="4623147"/>
            <a:ext cx="2733937"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222836"/>
                </a:solidFill>
                <a:latin typeface="Radio Canada" pitchFamily="34" charset="0"/>
                <a:ea typeface="Radio Canada" pitchFamily="34" charset="-122"/>
                <a:cs typeface="Radio Canada" pitchFamily="34" charset="-120"/>
              </a:rPr>
              <a:t>0.25 per right step</a:t>
            </a:r>
            <a:endParaRPr lang="en-US" sz="1800" dirty="0"/>
          </a:p>
        </p:txBody>
      </p:sp>
      <p:sp>
        <p:nvSpPr>
          <p:cNvPr id="28" name="Shape 20"/>
          <p:cNvSpPr/>
          <p:nvPr/>
        </p:nvSpPr>
        <p:spPr>
          <a:xfrm>
            <a:off x="768325" y="3816341"/>
            <a:ext cx="3035267" cy="1511294"/>
          </a:xfrm>
          <a:prstGeom prst="rect">
            <a:avLst/>
          </a:prstGeom>
          <a:solidFill>
            <a:srgbClr val="FFFFFF"/>
          </a:solidFill>
          <a:ln/>
        </p:spPr>
        <p:txBody>
          <a:bodyPr/>
          <a:lstStyle/>
          <a:p>
            <a:endParaRPr lang="en-AE"/>
          </a:p>
        </p:txBody>
      </p:sp>
      <p:pic>
        <p:nvPicPr>
          <p:cNvPr id="29" name="Image 6" descr="preencoded.png"/>
          <p:cNvPicPr>
            <a:picLocks noChangeAspect="1"/>
          </p:cNvPicPr>
          <p:nvPr/>
        </p:nvPicPr>
        <p:blipFill>
          <a:blip r:embed="rId9"/>
          <a:srcRect/>
          <a:stretch/>
        </p:blipFill>
        <p:spPr>
          <a:xfrm>
            <a:off x="958804" y="4216797"/>
            <a:ext cx="355568" cy="355568"/>
          </a:xfrm>
          <a:prstGeom prst="rect">
            <a:avLst/>
          </a:prstGeom>
        </p:spPr>
      </p:pic>
      <p:sp>
        <p:nvSpPr>
          <p:cNvPr id="30" name="Text 21"/>
          <p:cNvSpPr/>
          <p:nvPr/>
        </p:nvSpPr>
        <p:spPr>
          <a:xfrm>
            <a:off x="1403256" y="4229236"/>
            <a:ext cx="1391254"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CF7322"/>
                </a:solidFill>
                <a:latin typeface="Radio Canada" pitchFamily="34" charset="0"/>
                <a:ea typeface="Radio Canada" pitchFamily="34" charset="-122"/>
                <a:cs typeface="Radio Canada" pitchFamily="34" charset="-120"/>
              </a:rPr>
              <a:t>6</a:t>
            </a:r>
            <a:r>
              <a:rPr lang="en-US" sz="2100" b="1" dirty="0">
                <a:solidFill>
                  <a:srgbClr val="000000"/>
                </a:solidFill>
                <a:latin typeface="Radio Canada" pitchFamily="34" charset="0"/>
                <a:ea typeface="Radio Canada" pitchFamily="34" charset="-122"/>
                <a:cs typeface="Radio Canada" pitchFamily="34" charset="-120"/>
              </a:rPr>
              <a:t> Update</a:t>
            </a:r>
            <a:endParaRPr lang="en-US" sz="2100" dirty="0"/>
          </a:p>
        </p:txBody>
      </p:sp>
      <p:sp>
        <p:nvSpPr>
          <p:cNvPr id="31" name="Text 22"/>
          <p:cNvSpPr/>
          <p:nvPr/>
        </p:nvSpPr>
        <p:spPr>
          <a:xfrm>
            <a:off x="958804" y="4623147"/>
            <a:ext cx="2733937"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222836"/>
                </a:solidFill>
                <a:latin typeface="Radio Canada" pitchFamily="34" charset="0"/>
                <a:ea typeface="Radio Canada" pitchFamily="34" charset="-122"/>
                <a:cs typeface="Radio Canada" pitchFamily="34" charset="-120"/>
              </a:rPr>
              <a:t>a small LoRA add-on</a:t>
            </a:r>
            <a:endParaRPr lang="en-US" sz="1800" dirty="0"/>
          </a:p>
        </p:txBody>
      </p:sp>
      <p:pic>
        <p:nvPicPr>
          <p:cNvPr id="32" name="Image 7" descr="connector"/>
          <p:cNvPicPr>
            <a:picLocks noChangeAspect="1"/>
          </p:cNvPicPr>
          <p:nvPr/>
        </p:nvPicPr>
        <p:blipFill>
          <a:blip r:embed="rId10"/>
          <a:srcRect l="-4" r="-4"/>
          <a:stretch/>
        </p:blipFill>
        <p:spPr>
          <a:xfrm>
            <a:off x="3778236" y="2222500"/>
            <a:ext cx="825479" cy="126986"/>
          </a:xfrm>
          <a:prstGeom prst="rect">
            <a:avLst/>
          </a:prstGeom>
        </p:spPr>
      </p:pic>
      <p:pic>
        <p:nvPicPr>
          <p:cNvPr id="33" name="Image 8" descr="connector"/>
          <p:cNvPicPr>
            <a:picLocks noChangeAspect="1"/>
          </p:cNvPicPr>
          <p:nvPr/>
        </p:nvPicPr>
        <p:blipFill>
          <a:blip r:embed="rId10"/>
          <a:srcRect l="-4" r="-4"/>
          <a:stretch/>
        </p:blipFill>
        <p:spPr>
          <a:xfrm>
            <a:off x="7588236" y="2222500"/>
            <a:ext cx="825479" cy="126986"/>
          </a:xfrm>
          <a:prstGeom prst="rect">
            <a:avLst/>
          </a:prstGeom>
        </p:spPr>
      </p:pic>
      <p:pic>
        <p:nvPicPr>
          <p:cNvPr id="34" name="Image 9" descr="connector"/>
          <p:cNvPicPr>
            <a:picLocks noChangeAspect="1"/>
          </p:cNvPicPr>
          <p:nvPr/>
        </p:nvPicPr>
        <p:blipFill>
          <a:blip r:embed="rId11"/>
          <a:srcRect t="-4" b="-4"/>
          <a:stretch/>
        </p:blipFill>
        <p:spPr>
          <a:xfrm>
            <a:off x="9842500" y="3016250"/>
            <a:ext cx="126986" cy="825479"/>
          </a:xfrm>
          <a:prstGeom prst="rect">
            <a:avLst/>
          </a:prstGeom>
        </p:spPr>
      </p:pic>
      <p:pic>
        <p:nvPicPr>
          <p:cNvPr id="35" name="Image 10" descr="connector"/>
          <p:cNvPicPr>
            <a:picLocks noChangeAspect="1"/>
          </p:cNvPicPr>
          <p:nvPr/>
        </p:nvPicPr>
        <p:blipFill>
          <a:blip r:embed="rId12"/>
          <a:srcRect l="-4" r="-4"/>
          <a:stretch/>
        </p:blipFill>
        <p:spPr>
          <a:xfrm>
            <a:off x="7588236" y="4508494"/>
            <a:ext cx="825479" cy="126986"/>
          </a:xfrm>
          <a:prstGeom prst="rect">
            <a:avLst/>
          </a:prstGeom>
        </p:spPr>
      </p:pic>
      <p:pic>
        <p:nvPicPr>
          <p:cNvPr id="36" name="Image 11" descr="connector"/>
          <p:cNvPicPr>
            <a:picLocks noChangeAspect="1"/>
          </p:cNvPicPr>
          <p:nvPr/>
        </p:nvPicPr>
        <p:blipFill>
          <a:blip r:embed="rId12"/>
          <a:srcRect l="-4" r="-4"/>
          <a:stretch/>
        </p:blipFill>
        <p:spPr>
          <a:xfrm>
            <a:off x="3778236" y="4508494"/>
            <a:ext cx="825479" cy="126986"/>
          </a:xfrm>
          <a:prstGeom prst="rect">
            <a:avLst/>
          </a:prstGeom>
        </p:spPr>
      </p:pic>
      <p:pic>
        <p:nvPicPr>
          <p:cNvPr id="37" name="Image 12" descr="connector"/>
          <p:cNvPicPr>
            <a:picLocks noChangeAspect="1"/>
          </p:cNvPicPr>
          <p:nvPr/>
        </p:nvPicPr>
        <p:blipFill>
          <a:blip r:embed="rId13"/>
          <a:srcRect t="-4" b="-4"/>
          <a:stretch/>
        </p:blipFill>
        <p:spPr>
          <a:xfrm>
            <a:off x="2222500" y="3016250"/>
            <a:ext cx="126986" cy="825479"/>
          </a:xfrm>
          <a:prstGeom prst="rect">
            <a:avLst/>
          </a:prstGeom>
        </p:spPr>
      </p:pic>
      <p:sp>
        <p:nvSpPr>
          <p:cNvPr id="38" name="Text 23"/>
          <p:cNvSpPr/>
          <p:nvPr/>
        </p:nvSpPr>
        <p:spPr>
          <a:xfrm>
            <a:off x="3054318" y="3054319"/>
            <a:ext cx="6083281" cy="749274"/>
          </a:xfrm>
          <a:prstGeom prst="rect">
            <a:avLst/>
          </a:prstGeom>
          <a:solidFill>
            <a:srgbClr val="222836"/>
          </a:solidFill>
          <a:ln/>
        </p:spPr>
        <p:txBody>
          <a:bodyPr wrap="square" lIns="104944" tIns="0" rIns="104945" bIns="0" rtlCol="0" anchor="ctr">
            <a:normAutofit/>
          </a:bodyPr>
          <a:lstStyle/>
          <a:p>
            <a:pPr marL="0" indent="0" algn="ctr">
              <a:lnSpc>
                <a:spcPts val="2394"/>
              </a:lnSpc>
              <a:buNone/>
            </a:pPr>
            <a:r>
              <a:rPr lang="en-US" sz="1800" b="1" dirty="0">
                <a:solidFill>
                  <a:srgbClr val="FFFFFF"/>
                </a:solidFill>
                <a:latin typeface="Radio Canada" pitchFamily="34" charset="0"/>
                <a:ea typeface="Radio Canada" pitchFamily="34" charset="-122"/>
                <a:cs typeface="Radio Canada" pitchFamily="34" charset="-120"/>
              </a:rPr>
              <a:t>SageMaker runs it. You babysit zero GPUs.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1. The data</a:t>
            </a:r>
            <a:endParaRPr lang="en-US" sz="3000" dirty="0"/>
          </a:p>
        </p:txBody>
      </p:sp>
      <p:sp>
        <p:nvSpPr>
          <p:cNvPr id="8" name="Rectangle 7"/>
          <p:cNvSpPr/>
          <p:nvPr/>
        </p:nvSpPr>
        <p:spPr>
          <a:xfrm>
            <a:off x="768350" y="1530350"/>
            <a:ext cx="5321300" cy="3035300"/>
          </a:xfrm>
          <a:prstGeom prst="rect">
            <a:avLst/>
          </a:prstGeom>
          <a:solidFill>
            <a:srgbClr val="FFFFFF"/>
          </a:solidFill>
          <a:ln>
            <a:noFill/>
          </a:ln>
        </p:spPr>
        <p:txBody>
          <a:bodyPr rtlCol="0" anchor="ctr"/>
          <a:lstStyle/>
          <a:p>
            <a:pPr algn="ctr"/>
            <a:endParaRPr/>
          </a:p>
        </p:txBody>
      </p:sp>
      <p:sp>
        <p:nvSpPr>
          <p:cNvPr id="9" name="TextBox 8"/>
          <p:cNvSpPr txBox="1"/>
          <p:nvPr/>
        </p:nvSpPr>
        <p:spPr>
          <a:xfrm>
            <a:off x="958850" y="1720850"/>
            <a:ext cx="4940300" cy="889000"/>
          </a:xfrm>
          <a:prstGeom prst="rect">
            <a:avLst/>
          </a:prstGeom>
          <a:noFill/>
        </p:spPr>
        <p:txBody>
          <a:bodyPr wrap="square" lIns="0" tIns="0" rIns="0" bIns="0" anchor="ctr">
            <a:noAutofit/>
          </a:bodyPr>
          <a:lstStyle/>
          <a:p>
            <a:pPr algn="ctr"/>
            <a:r>
              <a:rPr sz="5400" b="1">
                <a:solidFill>
                  <a:srgbClr val="F09601"/>
                </a:solidFill>
                <a:latin typeface="Radio Canada"/>
              </a:rPr>
              <a:t>64</a:t>
            </a:r>
          </a:p>
        </p:txBody>
      </p:sp>
      <p:sp>
        <p:nvSpPr>
          <p:cNvPr id="10" name="TextBox 9"/>
          <p:cNvSpPr txBox="1"/>
          <p:nvPr/>
        </p:nvSpPr>
        <p:spPr>
          <a:xfrm>
            <a:off x="958850" y="2673350"/>
            <a:ext cx="4940300" cy="355600"/>
          </a:xfrm>
          <a:prstGeom prst="rect">
            <a:avLst/>
          </a:prstGeom>
          <a:noFill/>
        </p:spPr>
        <p:txBody>
          <a:bodyPr wrap="square" lIns="0" tIns="0" rIns="0" bIns="0" anchor="ctr">
            <a:noAutofit/>
          </a:bodyPr>
          <a:lstStyle/>
          <a:p>
            <a:pPr algn="ctr"/>
            <a:r>
              <a:rPr sz="2400" b="1">
                <a:solidFill>
                  <a:srgbClr val="000000"/>
                </a:solidFill>
                <a:latin typeface="Radio Canada"/>
              </a:rPr>
              <a:t>training tickets</a:t>
            </a:r>
          </a:p>
        </p:txBody>
      </p:sp>
      <p:sp>
        <p:nvSpPr>
          <p:cNvPr id="11" name="TextBox 10"/>
          <p:cNvSpPr txBox="1"/>
          <p:nvPr/>
        </p:nvSpPr>
        <p:spPr>
          <a:xfrm>
            <a:off x="958850" y="3054350"/>
            <a:ext cx="4940300" cy="254000"/>
          </a:xfrm>
          <a:prstGeom prst="rect">
            <a:avLst/>
          </a:prstGeom>
          <a:noFill/>
        </p:spPr>
        <p:txBody>
          <a:bodyPr wrap="square" lIns="0" tIns="0" rIns="0" bIns="0" anchor="ctr">
            <a:noAutofit/>
          </a:bodyPr>
          <a:lstStyle/>
          <a:p>
            <a:pPr algn="ctr"/>
            <a:r>
              <a:rPr sz="1600" b="1">
                <a:solidFill>
                  <a:srgbClr val="CF7322"/>
                </a:solidFill>
                <a:latin typeface="Radio Canada"/>
              </a:rPr>
              <a:t>data/training_prompts.csv</a:t>
            </a:r>
          </a:p>
        </p:txBody>
      </p:sp>
      <p:sp>
        <p:nvSpPr>
          <p:cNvPr id="12" name="TextBox 11"/>
          <p:cNvSpPr txBox="1"/>
          <p:nvPr/>
        </p:nvSpPr>
        <p:spPr>
          <a:xfrm>
            <a:off x="958850" y="3371850"/>
            <a:ext cx="4940300" cy="304800"/>
          </a:xfrm>
          <a:prstGeom prst="rect">
            <a:avLst/>
          </a:prstGeom>
          <a:noFill/>
        </p:spPr>
        <p:txBody>
          <a:bodyPr wrap="square" lIns="0" tIns="0" rIns="0" bIns="0" anchor="ctr">
            <a:noAutofit/>
          </a:bodyPr>
          <a:lstStyle/>
          <a:p>
            <a:pPr algn="ctr"/>
            <a:r>
              <a:rPr sz="1800" b="0">
                <a:solidFill>
                  <a:srgbClr val="222836"/>
                </a:solidFill>
                <a:latin typeface="Radio Canada"/>
              </a:rPr>
              <a:t>used for practice</a:t>
            </a:r>
          </a:p>
        </p:txBody>
      </p:sp>
      <p:sp>
        <p:nvSpPr>
          <p:cNvPr id="13" name="Rectangle 12"/>
          <p:cNvSpPr/>
          <p:nvPr/>
        </p:nvSpPr>
        <p:spPr>
          <a:xfrm>
            <a:off x="6102350" y="1530350"/>
            <a:ext cx="5321300" cy="3035300"/>
          </a:xfrm>
          <a:prstGeom prst="rect">
            <a:avLst/>
          </a:prstGeom>
          <a:solidFill>
            <a:srgbClr val="FFFFFF"/>
          </a:solidFill>
          <a:ln>
            <a:noFill/>
          </a:ln>
        </p:spPr>
        <p:txBody>
          <a:bodyPr rtlCol="0" anchor="ctr"/>
          <a:lstStyle/>
          <a:p>
            <a:pPr algn="ctr"/>
            <a:endParaRPr/>
          </a:p>
        </p:txBody>
      </p:sp>
      <p:sp>
        <p:nvSpPr>
          <p:cNvPr id="14" name="TextBox 13"/>
          <p:cNvSpPr txBox="1"/>
          <p:nvPr/>
        </p:nvSpPr>
        <p:spPr>
          <a:xfrm>
            <a:off x="6292850" y="1720850"/>
            <a:ext cx="4940300" cy="889000"/>
          </a:xfrm>
          <a:prstGeom prst="rect">
            <a:avLst/>
          </a:prstGeom>
          <a:noFill/>
        </p:spPr>
        <p:txBody>
          <a:bodyPr wrap="square" lIns="0" tIns="0" rIns="0" bIns="0" anchor="ctr">
            <a:noAutofit/>
          </a:bodyPr>
          <a:lstStyle/>
          <a:p>
            <a:pPr algn="ctr"/>
            <a:r>
              <a:rPr sz="5400" b="1">
                <a:solidFill>
                  <a:srgbClr val="222836"/>
                </a:solidFill>
                <a:latin typeface="Radio Canada"/>
              </a:rPr>
              <a:t>32</a:t>
            </a:r>
          </a:p>
        </p:txBody>
      </p:sp>
      <p:sp>
        <p:nvSpPr>
          <p:cNvPr id="15" name="TextBox 14"/>
          <p:cNvSpPr txBox="1"/>
          <p:nvPr/>
        </p:nvSpPr>
        <p:spPr>
          <a:xfrm>
            <a:off x="6292850" y="2673350"/>
            <a:ext cx="4940300" cy="355600"/>
          </a:xfrm>
          <a:prstGeom prst="rect">
            <a:avLst/>
          </a:prstGeom>
          <a:noFill/>
        </p:spPr>
        <p:txBody>
          <a:bodyPr wrap="square" lIns="0" tIns="0" rIns="0" bIns="0" anchor="ctr">
            <a:noAutofit/>
          </a:bodyPr>
          <a:lstStyle/>
          <a:p>
            <a:pPr algn="ctr"/>
            <a:r>
              <a:rPr sz="2400" b="1">
                <a:solidFill>
                  <a:srgbClr val="000000"/>
                </a:solidFill>
                <a:latin typeface="Radio Canada"/>
              </a:rPr>
              <a:t>held-out test tickets</a:t>
            </a:r>
          </a:p>
        </p:txBody>
      </p:sp>
      <p:sp>
        <p:nvSpPr>
          <p:cNvPr id="16" name="TextBox 15"/>
          <p:cNvSpPr txBox="1"/>
          <p:nvPr/>
        </p:nvSpPr>
        <p:spPr>
          <a:xfrm>
            <a:off x="6292850" y="3054350"/>
            <a:ext cx="4940300" cy="254000"/>
          </a:xfrm>
          <a:prstGeom prst="rect">
            <a:avLst/>
          </a:prstGeom>
          <a:noFill/>
        </p:spPr>
        <p:txBody>
          <a:bodyPr wrap="square" lIns="0" tIns="0" rIns="0" bIns="0" anchor="ctr">
            <a:noAutofit/>
          </a:bodyPr>
          <a:lstStyle/>
          <a:p>
            <a:pPr algn="ctr"/>
            <a:r>
              <a:rPr sz="1600" b="1">
                <a:solidFill>
                  <a:srgbClr val="CF7322"/>
                </a:solidFill>
                <a:latin typeface="Radio Canada"/>
              </a:rPr>
              <a:t>data/evaluation_prompts.csv</a:t>
            </a:r>
          </a:p>
        </p:txBody>
      </p:sp>
      <p:sp>
        <p:nvSpPr>
          <p:cNvPr id="17" name="TextBox 16"/>
          <p:cNvSpPr txBox="1"/>
          <p:nvPr/>
        </p:nvSpPr>
        <p:spPr>
          <a:xfrm>
            <a:off x="6292850" y="3371850"/>
            <a:ext cx="4940300" cy="304800"/>
          </a:xfrm>
          <a:prstGeom prst="rect">
            <a:avLst/>
          </a:prstGeom>
          <a:noFill/>
        </p:spPr>
        <p:txBody>
          <a:bodyPr wrap="square" lIns="0" tIns="0" rIns="0" bIns="0" anchor="ctr">
            <a:noAutofit/>
          </a:bodyPr>
          <a:lstStyle/>
          <a:p>
            <a:pPr algn="ctr"/>
            <a:r>
              <a:rPr sz="1800" b="0">
                <a:solidFill>
                  <a:srgbClr val="222836"/>
                </a:solidFill>
                <a:latin typeface="Radio Canada"/>
              </a:rPr>
              <a:t>kept aside, never trained on</a:t>
            </a:r>
          </a:p>
        </p:txBody>
      </p:sp>
      <p:sp>
        <p:nvSpPr>
          <p:cNvPr id="18" name="Rectangle 17"/>
          <p:cNvSpPr/>
          <p:nvPr/>
        </p:nvSpPr>
        <p:spPr>
          <a:xfrm>
            <a:off x="768350" y="4578350"/>
            <a:ext cx="10655300" cy="749300"/>
          </a:xfrm>
          <a:prstGeom prst="rect">
            <a:avLst/>
          </a:prstGeom>
          <a:solidFill>
            <a:srgbClr val="FFFFFF"/>
          </a:solidFill>
          <a:ln>
            <a:noFill/>
          </a:ln>
        </p:spPr>
        <p:txBody>
          <a:bodyPr rtlCol="0" anchor="ctr"/>
          <a:lstStyle/>
          <a:p>
            <a:pPr algn="ctr"/>
            <a:endParaRPr/>
          </a:p>
        </p:txBody>
      </p:sp>
      <p:sp>
        <p:nvSpPr>
          <p:cNvPr id="19" name="TextBox 18"/>
          <p:cNvSpPr txBox="1"/>
          <p:nvPr/>
        </p:nvSpPr>
        <p:spPr>
          <a:xfrm>
            <a:off x="958850" y="4578350"/>
            <a:ext cx="10274300" cy="749300"/>
          </a:xfrm>
          <a:prstGeom prst="rect">
            <a:avLst/>
          </a:prstGeom>
          <a:noFill/>
        </p:spPr>
        <p:txBody>
          <a:bodyPr wrap="square" lIns="0" tIns="0" rIns="0" bIns="0" anchor="ctr">
            <a:noAutofit/>
          </a:bodyPr>
          <a:lstStyle/>
          <a:p>
            <a:pPr algn="ctr"/>
            <a:r>
              <a:rPr sz="1800" b="0">
                <a:solidFill>
                  <a:srgbClr val="222836"/>
                </a:solidFill>
                <a:latin typeface="Radio Canada"/>
              </a:rPr>
              <a:t>Each row is just one opening message, e.g. “My Wi-Fi works, but websites do not load.”</a:t>
            </a:r>
          </a:p>
        </p:txBody>
      </p:sp>
      <p:sp>
        <p:nvSpPr>
          <p:cNvPr id="20" name="Rectangle 19"/>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No answers, no labels: </a:t>
            </a:r>
            <a:r>
              <a:rPr sz="2100" b="0">
                <a:solidFill>
                  <a:srgbClr val="F09601"/>
                </a:solidFill>
                <a:latin typeface="Radio Canada"/>
              </a:rPr>
              <a:t>the simulator does the scoring.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2. The training loop</a:t>
            </a:r>
            <a:endParaRPr lang="en-US" sz="3000" dirty="0"/>
          </a:p>
        </p:txBody>
      </p:sp>
      <p:sp>
        <p:nvSpPr>
          <p:cNvPr id="8" name="Rectangle 7"/>
          <p:cNvSpPr/>
          <p:nvPr/>
        </p:nvSpPr>
        <p:spPr>
          <a:xfrm>
            <a:off x="768350" y="1657350"/>
            <a:ext cx="2286000" cy="1905000"/>
          </a:xfrm>
          <a:prstGeom prst="rect">
            <a:avLst/>
          </a:prstGeom>
          <a:solidFill>
            <a:srgbClr val="FFFFFF"/>
          </a:solidFill>
          <a:ln>
            <a:noFill/>
          </a:ln>
        </p:spPr>
        <p:txBody>
          <a:bodyPr rtlCol="0" anchor="ctr"/>
          <a:lstStyle/>
          <a:p>
            <a:pPr algn="ctr"/>
            <a:endParaRPr/>
          </a:p>
        </p:txBody>
      </p:sp>
      <p:sp>
        <p:nvSpPr>
          <p:cNvPr id="9" name="TextBox 8"/>
          <p:cNvSpPr txBox="1"/>
          <p:nvPr/>
        </p:nvSpPr>
        <p:spPr>
          <a:xfrm>
            <a:off x="768350" y="1720850"/>
            <a:ext cx="2286000" cy="381000"/>
          </a:xfrm>
          <a:prstGeom prst="rect">
            <a:avLst/>
          </a:prstGeom>
          <a:noFill/>
        </p:spPr>
        <p:txBody>
          <a:bodyPr wrap="square" lIns="0" tIns="0" rIns="0" bIns="0" anchor="ctr">
            <a:noAutofit/>
          </a:bodyPr>
          <a:lstStyle/>
          <a:p>
            <a:pPr algn="ctr"/>
            <a:r>
              <a:rPr sz="3200" b="1">
                <a:solidFill>
                  <a:srgbClr val="F09601"/>
                </a:solidFill>
                <a:latin typeface="Radio Canada"/>
              </a:rPr>
              <a:t>1</a:t>
            </a:r>
          </a:p>
        </p:txBody>
      </p:sp>
      <p:sp>
        <p:nvSpPr>
          <p:cNvPr id="10" name="TextBox 9"/>
          <p:cNvSpPr txBox="1"/>
          <p:nvPr/>
        </p:nvSpPr>
        <p:spPr>
          <a:xfrm>
            <a:off x="895350" y="2101850"/>
            <a:ext cx="2032000" cy="635000"/>
          </a:xfrm>
          <a:prstGeom prst="rect">
            <a:avLst/>
          </a:prstGeom>
          <a:noFill/>
        </p:spPr>
        <p:txBody>
          <a:bodyPr wrap="square" lIns="0" tIns="0" rIns="0" bIns="0" anchor="ctr">
            <a:noAutofit/>
          </a:bodyPr>
          <a:lstStyle/>
          <a:p>
            <a:pPr algn="ctr"/>
            <a:r>
              <a:rPr sz="2100" b="1">
                <a:solidFill>
                  <a:srgbClr val="000000"/>
                </a:solidFill>
                <a:latin typeface="Radio Canada"/>
              </a:rPr>
              <a:t>Take 32 tickets</a:t>
            </a:r>
          </a:p>
        </p:txBody>
      </p:sp>
      <p:sp>
        <p:nvSpPr>
          <p:cNvPr id="11" name="TextBox 10"/>
          <p:cNvSpPr txBox="1"/>
          <p:nvPr/>
        </p:nvSpPr>
        <p:spPr>
          <a:xfrm>
            <a:off x="895350" y="2800350"/>
            <a:ext cx="2032000" cy="635000"/>
          </a:xfrm>
          <a:prstGeom prst="rect">
            <a:avLst/>
          </a:prstGeom>
          <a:noFill/>
        </p:spPr>
        <p:txBody>
          <a:bodyPr wrap="square" lIns="0" tIns="0" rIns="0" bIns="0" anchor="ctr">
            <a:noAutofit/>
          </a:bodyPr>
          <a:lstStyle/>
          <a:p>
            <a:pPr algn="ctr"/>
            <a:r>
              <a:rPr sz="1600" b="0">
                <a:solidFill>
                  <a:srgbClr val="222836"/>
                </a:solidFill>
                <a:latin typeface="Radio Canada"/>
              </a:rPr>
              <a:t>of the 64; two rounds use all 64</a:t>
            </a:r>
          </a:p>
        </p:txBody>
      </p:sp>
      <p:sp>
        <p:nvSpPr>
          <p:cNvPr id="12" name="Rectangle 11"/>
          <p:cNvSpPr/>
          <p:nvPr/>
        </p:nvSpPr>
        <p:spPr>
          <a:xfrm>
            <a:off x="3556000" y="1657350"/>
            <a:ext cx="2286000" cy="1905000"/>
          </a:xfrm>
          <a:prstGeom prst="rect">
            <a:avLst/>
          </a:prstGeom>
          <a:solidFill>
            <a:srgbClr val="FFFFFF"/>
          </a:solidFill>
          <a:ln>
            <a:noFill/>
          </a:ln>
        </p:spPr>
        <p:txBody>
          <a:bodyPr rtlCol="0" anchor="ctr"/>
          <a:lstStyle/>
          <a:p>
            <a:pPr algn="ctr"/>
            <a:endParaRPr/>
          </a:p>
        </p:txBody>
      </p:sp>
      <p:sp>
        <p:nvSpPr>
          <p:cNvPr id="13" name="TextBox 12"/>
          <p:cNvSpPr txBox="1"/>
          <p:nvPr/>
        </p:nvSpPr>
        <p:spPr>
          <a:xfrm>
            <a:off x="3556000" y="1720850"/>
            <a:ext cx="2286000" cy="381000"/>
          </a:xfrm>
          <a:prstGeom prst="rect">
            <a:avLst/>
          </a:prstGeom>
          <a:noFill/>
        </p:spPr>
        <p:txBody>
          <a:bodyPr wrap="square" lIns="0" tIns="0" rIns="0" bIns="0" anchor="ctr">
            <a:noAutofit/>
          </a:bodyPr>
          <a:lstStyle/>
          <a:p>
            <a:pPr algn="ctr"/>
            <a:r>
              <a:rPr sz="3200" b="1">
                <a:solidFill>
                  <a:srgbClr val="F09601"/>
                </a:solidFill>
                <a:latin typeface="Radio Canada"/>
              </a:rPr>
              <a:t>2</a:t>
            </a:r>
          </a:p>
        </p:txBody>
      </p:sp>
      <p:sp>
        <p:nvSpPr>
          <p:cNvPr id="14" name="TextBox 13"/>
          <p:cNvSpPr txBox="1"/>
          <p:nvPr/>
        </p:nvSpPr>
        <p:spPr>
          <a:xfrm>
            <a:off x="3683000" y="2101850"/>
            <a:ext cx="2032000" cy="635000"/>
          </a:xfrm>
          <a:prstGeom prst="rect">
            <a:avLst/>
          </a:prstGeom>
          <a:noFill/>
        </p:spPr>
        <p:txBody>
          <a:bodyPr wrap="square" lIns="0" tIns="0" rIns="0" bIns="0" anchor="ctr">
            <a:noAutofit/>
          </a:bodyPr>
          <a:lstStyle/>
          <a:p>
            <a:pPr algn="ctr"/>
            <a:r>
              <a:rPr sz="2100" b="1">
                <a:solidFill>
                  <a:srgbClr val="000000"/>
                </a:solidFill>
                <a:latin typeface="Radio Canada"/>
              </a:rPr>
              <a:t>Try each 4 times</a:t>
            </a:r>
          </a:p>
        </p:txBody>
      </p:sp>
      <p:sp>
        <p:nvSpPr>
          <p:cNvPr id="15" name="TextBox 14"/>
          <p:cNvSpPr txBox="1"/>
          <p:nvPr/>
        </p:nvSpPr>
        <p:spPr>
          <a:xfrm>
            <a:off x="3683000" y="2800350"/>
            <a:ext cx="2032000" cy="635000"/>
          </a:xfrm>
          <a:prstGeom prst="rect">
            <a:avLst/>
          </a:prstGeom>
          <a:noFill/>
        </p:spPr>
        <p:txBody>
          <a:bodyPr wrap="square" lIns="0" tIns="0" rIns="0" bIns="0" anchor="ctr">
            <a:noAutofit/>
          </a:bodyPr>
          <a:lstStyle/>
          <a:p>
            <a:pPr algn="ctr"/>
            <a:r>
              <a:rPr sz="1600" b="0">
                <a:solidFill>
                  <a:srgbClr val="222836"/>
                </a:solidFill>
                <a:latin typeface="Radio Canada"/>
              </a:rPr>
              <a:t>32 × 4 = 128 conversations</a:t>
            </a:r>
          </a:p>
        </p:txBody>
      </p:sp>
      <p:sp>
        <p:nvSpPr>
          <p:cNvPr id="16" name="Rectangle 15"/>
          <p:cNvSpPr/>
          <p:nvPr/>
        </p:nvSpPr>
        <p:spPr>
          <a:xfrm>
            <a:off x="6343650" y="1657350"/>
            <a:ext cx="2286000" cy="1905000"/>
          </a:xfrm>
          <a:prstGeom prst="rect">
            <a:avLst/>
          </a:prstGeom>
          <a:solidFill>
            <a:srgbClr val="FFFFFF"/>
          </a:solidFill>
          <a:ln>
            <a:noFill/>
          </a:ln>
        </p:spPr>
        <p:txBody>
          <a:bodyPr rtlCol="0" anchor="ctr"/>
          <a:lstStyle/>
          <a:p>
            <a:pPr algn="ctr"/>
            <a:endParaRPr/>
          </a:p>
        </p:txBody>
      </p:sp>
      <p:sp>
        <p:nvSpPr>
          <p:cNvPr id="17" name="TextBox 16"/>
          <p:cNvSpPr txBox="1"/>
          <p:nvPr/>
        </p:nvSpPr>
        <p:spPr>
          <a:xfrm>
            <a:off x="6343650" y="1720850"/>
            <a:ext cx="2286000" cy="381000"/>
          </a:xfrm>
          <a:prstGeom prst="rect">
            <a:avLst/>
          </a:prstGeom>
          <a:noFill/>
        </p:spPr>
        <p:txBody>
          <a:bodyPr wrap="square" lIns="0" tIns="0" rIns="0" bIns="0" anchor="ctr">
            <a:noAutofit/>
          </a:bodyPr>
          <a:lstStyle/>
          <a:p>
            <a:pPr algn="ctr"/>
            <a:r>
              <a:rPr sz="3200" b="1">
                <a:solidFill>
                  <a:srgbClr val="F09601"/>
                </a:solidFill>
                <a:latin typeface="Radio Canada"/>
              </a:rPr>
              <a:t>3</a:t>
            </a:r>
          </a:p>
        </p:txBody>
      </p:sp>
      <p:sp>
        <p:nvSpPr>
          <p:cNvPr id="18" name="TextBox 17"/>
          <p:cNvSpPr txBox="1"/>
          <p:nvPr/>
        </p:nvSpPr>
        <p:spPr>
          <a:xfrm>
            <a:off x="6470650" y="2101850"/>
            <a:ext cx="2032000" cy="635000"/>
          </a:xfrm>
          <a:prstGeom prst="rect">
            <a:avLst/>
          </a:prstGeom>
          <a:noFill/>
        </p:spPr>
        <p:txBody>
          <a:bodyPr wrap="square" lIns="0" tIns="0" rIns="0" bIns="0" anchor="ctr">
            <a:noAutofit/>
          </a:bodyPr>
          <a:lstStyle/>
          <a:p>
            <a:pPr algn="ctr"/>
            <a:r>
              <a:rPr sz="2100" b="1">
                <a:solidFill>
                  <a:srgbClr val="000000"/>
                </a:solidFill>
                <a:latin typeface="Radio Canada"/>
              </a:rPr>
              <a:t>Score every chat</a:t>
            </a:r>
          </a:p>
        </p:txBody>
      </p:sp>
      <p:sp>
        <p:nvSpPr>
          <p:cNvPr id="19" name="TextBox 18"/>
          <p:cNvSpPr txBox="1"/>
          <p:nvPr/>
        </p:nvSpPr>
        <p:spPr>
          <a:xfrm>
            <a:off x="6470650" y="2800350"/>
            <a:ext cx="2032000" cy="635000"/>
          </a:xfrm>
          <a:prstGeom prst="rect">
            <a:avLst/>
          </a:prstGeom>
          <a:noFill/>
        </p:spPr>
        <p:txBody>
          <a:bodyPr wrap="square" lIns="0" tIns="0" rIns="0" bIns="0" anchor="ctr">
            <a:noAutofit/>
          </a:bodyPr>
          <a:lstStyle/>
          <a:p>
            <a:pPr algn="ctr"/>
            <a:r>
              <a:rPr sz="1600" b="0">
                <a:solidFill>
                  <a:srgbClr val="222836"/>
                </a:solidFill>
                <a:latin typeface="Radio Canada"/>
              </a:rPr>
              <a:t>a reward from 0.0 to 1.0</a:t>
            </a:r>
          </a:p>
        </p:txBody>
      </p:sp>
      <p:sp>
        <p:nvSpPr>
          <p:cNvPr id="20" name="Rectangle 19"/>
          <p:cNvSpPr/>
          <p:nvPr/>
        </p:nvSpPr>
        <p:spPr>
          <a:xfrm>
            <a:off x="9131300" y="1657350"/>
            <a:ext cx="2286000" cy="1905000"/>
          </a:xfrm>
          <a:prstGeom prst="rect">
            <a:avLst/>
          </a:prstGeom>
          <a:solidFill>
            <a:srgbClr val="FFFFFF"/>
          </a:solidFill>
          <a:ln>
            <a:noFill/>
          </a:ln>
        </p:spPr>
        <p:txBody>
          <a:bodyPr rtlCol="0" anchor="ctr"/>
          <a:lstStyle/>
          <a:p>
            <a:pPr algn="ctr"/>
            <a:endParaRPr/>
          </a:p>
        </p:txBody>
      </p:sp>
      <p:sp>
        <p:nvSpPr>
          <p:cNvPr id="21" name="TextBox 20"/>
          <p:cNvSpPr txBox="1"/>
          <p:nvPr/>
        </p:nvSpPr>
        <p:spPr>
          <a:xfrm>
            <a:off x="9131300" y="1720850"/>
            <a:ext cx="2286000" cy="381000"/>
          </a:xfrm>
          <a:prstGeom prst="rect">
            <a:avLst/>
          </a:prstGeom>
          <a:noFill/>
        </p:spPr>
        <p:txBody>
          <a:bodyPr wrap="square" lIns="0" tIns="0" rIns="0" bIns="0" anchor="ctr">
            <a:noAutofit/>
          </a:bodyPr>
          <a:lstStyle/>
          <a:p>
            <a:pPr algn="ctr"/>
            <a:r>
              <a:rPr sz="3200" b="1">
                <a:solidFill>
                  <a:srgbClr val="F09601"/>
                </a:solidFill>
                <a:latin typeface="Radio Canada"/>
              </a:rPr>
              <a:t>4</a:t>
            </a:r>
          </a:p>
        </p:txBody>
      </p:sp>
      <p:sp>
        <p:nvSpPr>
          <p:cNvPr id="22" name="TextBox 21"/>
          <p:cNvSpPr txBox="1"/>
          <p:nvPr/>
        </p:nvSpPr>
        <p:spPr>
          <a:xfrm>
            <a:off x="9258300" y="2101850"/>
            <a:ext cx="2032000" cy="635000"/>
          </a:xfrm>
          <a:prstGeom prst="rect">
            <a:avLst/>
          </a:prstGeom>
          <a:noFill/>
        </p:spPr>
        <p:txBody>
          <a:bodyPr wrap="square" lIns="0" tIns="0" rIns="0" bIns="0" anchor="ctr">
            <a:noAutofit/>
          </a:bodyPr>
          <a:lstStyle/>
          <a:p>
            <a:pPr algn="ctr"/>
            <a:r>
              <a:rPr sz="2100" b="1">
                <a:solidFill>
                  <a:srgbClr val="000000"/>
                </a:solidFill>
                <a:latin typeface="Radio Canada"/>
              </a:rPr>
              <a:t>Nudge the model</a:t>
            </a:r>
          </a:p>
        </p:txBody>
      </p:sp>
      <p:sp>
        <p:nvSpPr>
          <p:cNvPr id="23" name="TextBox 22"/>
          <p:cNvSpPr txBox="1"/>
          <p:nvPr/>
        </p:nvSpPr>
        <p:spPr>
          <a:xfrm>
            <a:off x="9258300" y="2800350"/>
            <a:ext cx="2032000" cy="635000"/>
          </a:xfrm>
          <a:prstGeom prst="rect">
            <a:avLst/>
          </a:prstGeom>
          <a:noFill/>
        </p:spPr>
        <p:txBody>
          <a:bodyPr wrap="square" lIns="0" tIns="0" rIns="0" bIns="0" anchor="ctr">
            <a:noAutofit/>
          </a:bodyPr>
          <a:lstStyle/>
          <a:p>
            <a:pPr algn="ctr"/>
            <a:r>
              <a:rPr sz="1600" b="0">
                <a:solidFill>
                  <a:srgbClr val="222836"/>
                </a:solidFill>
                <a:latin typeface="Radio Canada"/>
              </a:rPr>
              <a:t>only its small LoRA add-on</a:t>
            </a:r>
          </a:p>
        </p:txBody>
      </p:sp>
      <p:cxnSp>
        <p:nvCxnSpPr>
          <p:cNvPr id="24" name="Connector 23"/>
          <p:cNvCxnSpPr/>
          <p:nvPr/>
        </p:nvCxnSpPr>
        <p:spPr>
          <a:xfrm>
            <a:off x="3105150" y="2609850"/>
            <a:ext cx="400050" cy="0"/>
          </a:xfrm>
          <a:prstGeom prst="line">
            <a:avLst/>
          </a:prstGeom>
          <a:ln w="57150">
            <a:solidFill>
              <a:srgbClr val="222836"/>
            </a:solidFill>
            <a:tailEnd type="triangle" w="med" len="med"/>
          </a:ln>
        </p:spPr>
      </p:cxnSp>
      <p:cxnSp>
        <p:nvCxnSpPr>
          <p:cNvPr id="25" name="Connector 24"/>
          <p:cNvCxnSpPr/>
          <p:nvPr/>
        </p:nvCxnSpPr>
        <p:spPr>
          <a:xfrm>
            <a:off x="5892800" y="2609850"/>
            <a:ext cx="400050" cy="0"/>
          </a:xfrm>
          <a:prstGeom prst="line">
            <a:avLst/>
          </a:prstGeom>
          <a:ln w="57150">
            <a:solidFill>
              <a:srgbClr val="222836"/>
            </a:solidFill>
            <a:tailEnd type="triangle" w="med" len="med"/>
          </a:ln>
        </p:spPr>
      </p:cxnSp>
      <p:cxnSp>
        <p:nvCxnSpPr>
          <p:cNvPr id="26" name="Connector 25"/>
          <p:cNvCxnSpPr/>
          <p:nvPr/>
        </p:nvCxnSpPr>
        <p:spPr>
          <a:xfrm>
            <a:off x="8680450" y="2609850"/>
            <a:ext cx="400050" cy="0"/>
          </a:xfrm>
          <a:prstGeom prst="line">
            <a:avLst/>
          </a:prstGeom>
          <a:ln w="57150">
            <a:solidFill>
              <a:srgbClr val="222836"/>
            </a:solidFill>
            <a:tailEnd type="triangle" w="med" len="med"/>
          </a:ln>
        </p:spPr>
      </p:cxnSp>
      <p:cxnSp>
        <p:nvCxnSpPr>
          <p:cNvPr id="27" name="Connector 26"/>
          <p:cNvCxnSpPr/>
          <p:nvPr/>
        </p:nvCxnSpPr>
        <p:spPr>
          <a:xfrm>
            <a:off x="10274300" y="3562350"/>
            <a:ext cx="0" cy="444500"/>
          </a:xfrm>
          <a:prstGeom prst="line">
            <a:avLst/>
          </a:prstGeom>
          <a:ln w="57150">
            <a:solidFill>
              <a:srgbClr val="222836"/>
            </a:solidFill>
          </a:ln>
        </p:spPr>
      </p:cxnSp>
      <p:cxnSp>
        <p:nvCxnSpPr>
          <p:cNvPr id="28" name="Connector 27"/>
          <p:cNvCxnSpPr/>
          <p:nvPr/>
        </p:nvCxnSpPr>
        <p:spPr>
          <a:xfrm flipH="1">
            <a:off x="1911350" y="4006850"/>
            <a:ext cx="8362950" cy="0"/>
          </a:xfrm>
          <a:prstGeom prst="line">
            <a:avLst/>
          </a:prstGeom>
          <a:ln w="57150">
            <a:solidFill>
              <a:srgbClr val="222836"/>
            </a:solidFill>
          </a:ln>
        </p:spPr>
      </p:cxnSp>
      <p:cxnSp>
        <p:nvCxnSpPr>
          <p:cNvPr id="29" name="Connector 28"/>
          <p:cNvCxnSpPr/>
          <p:nvPr/>
        </p:nvCxnSpPr>
        <p:spPr>
          <a:xfrm flipV="1">
            <a:off x="1911350" y="3613150"/>
            <a:ext cx="0" cy="393700"/>
          </a:xfrm>
          <a:prstGeom prst="line">
            <a:avLst/>
          </a:prstGeom>
          <a:ln w="57150">
            <a:solidFill>
              <a:srgbClr val="222836"/>
            </a:solidFill>
            <a:tailEnd type="triangle" w="med" len="med"/>
          </a:ln>
        </p:spPr>
      </p:cxnSp>
      <p:sp>
        <p:nvSpPr>
          <p:cNvPr id="30" name="TextBox 29"/>
          <p:cNvSpPr txBox="1"/>
          <p:nvPr/>
        </p:nvSpPr>
        <p:spPr>
          <a:xfrm>
            <a:off x="3943350" y="4070350"/>
            <a:ext cx="4318000" cy="254000"/>
          </a:xfrm>
          <a:prstGeom prst="rect">
            <a:avLst/>
          </a:prstGeom>
          <a:noFill/>
        </p:spPr>
        <p:txBody>
          <a:bodyPr wrap="square" lIns="0" tIns="0" rIns="0" bIns="0" anchor="ctr">
            <a:noAutofit/>
          </a:bodyPr>
          <a:lstStyle/>
          <a:p>
            <a:pPr algn="ctr"/>
            <a:r>
              <a:rPr sz="1600" b="1">
                <a:solidFill>
                  <a:srgbClr val="CF7322"/>
                </a:solidFill>
                <a:latin typeface="Radio Canada"/>
              </a:rPr>
              <a:t>the next round uses the updated model</a:t>
            </a:r>
          </a:p>
        </p:txBody>
      </p:sp>
      <p:sp>
        <p:nvSpPr>
          <p:cNvPr id="31" name="Rectangle 30"/>
          <p:cNvSpPr/>
          <p:nvPr/>
        </p:nvSpPr>
        <p:spPr>
          <a:xfrm>
            <a:off x="768350" y="4578350"/>
            <a:ext cx="2286000" cy="749300"/>
          </a:xfrm>
          <a:prstGeom prst="rect">
            <a:avLst/>
          </a:prstGeom>
          <a:solidFill>
            <a:srgbClr val="FFFFFF"/>
          </a:solidFill>
          <a:ln>
            <a:noFill/>
          </a:ln>
        </p:spPr>
        <p:txBody>
          <a:bodyPr rtlCol="0" anchor="ctr"/>
          <a:lstStyle/>
          <a:p>
            <a:pPr algn="ctr"/>
            <a:endParaRPr/>
          </a:p>
        </p:txBody>
      </p:sp>
      <p:sp>
        <p:nvSpPr>
          <p:cNvPr id="34" name="Rectangle 33"/>
          <p:cNvSpPr/>
          <p:nvPr/>
        </p:nvSpPr>
        <p:spPr>
          <a:xfrm>
            <a:off x="3556000" y="4578350"/>
            <a:ext cx="2286000" cy="749300"/>
          </a:xfrm>
          <a:prstGeom prst="rect">
            <a:avLst/>
          </a:prstGeom>
          <a:solidFill>
            <a:srgbClr val="FFFFFF"/>
          </a:solidFill>
          <a:ln>
            <a:noFill/>
          </a:ln>
        </p:spPr>
        <p:txBody>
          <a:bodyPr rtlCol="0" anchor="ctr"/>
          <a:lstStyle/>
          <a:p>
            <a:pPr algn="ctr"/>
            <a:endParaRPr/>
          </a:p>
        </p:txBody>
      </p:sp>
      <p:sp>
        <p:nvSpPr>
          <p:cNvPr id="37" name="Rectangle 36"/>
          <p:cNvSpPr/>
          <p:nvPr/>
        </p:nvSpPr>
        <p:spPr>
          <a:xfrm>
            <a:off x="6343650" y="4578350"/>
            <a:ext cx="2286000" cy="749300"/>
          </a:xfrm>
          <a:prstGeom prst="rect">
            <a:avLst/>
          </a:prstGeom>
          <a:solidFill>
            <a:srgbClr val="FFFFFF"/>
          </a:solidFill>
          <a:ln>
            <a:noFill/>
          </a:ln>
        </p:spPr>
        <p:txBody>
          <a:bodyPr rtlCol="0" anchor="ctr"/>
          <a:lstStyle/>
          <a:p>
            <a:pPr algn="ctr"/>
            <a:endParaRPr/>
          </a:p>
        </p:txBody>
      </p:sp>
      <p:sp>
        <p:nvSpPr>
          <p:cNvPr id="40" name="Rectangle 39"/>
          <p:cNvSpPr/>
          <p:nvPr/>
        </p:nvSpPr>
        <p:spPr>
          <a:xfrm>
            <a:off x="9131300" y="4578350"/>
            <a:ext cx="2286000" cy="749300"/>
          </a:xfrm>
          <a:prstGeom prst="rect">
            <a:avLst/>
          </a:prstGeom>
          <a:solidFill>
            <a:srgbClr val="FFFFFF"/>
          </a:solidFill>
          <a:ln>
            <a:noFill/>
          </a:ln>
        </p:spPr>
        <p:txBody>
          <a:bodyPr rtlCol="0" anchor="ctr"/>
          <a:lstStyle/>
          <a:p>
            <a:pPr algn="ctr"/>
            <a:endParaRPr/>
          </a:p>
        </p:txBody>
      </p:sp>
      <p:sp>
        <p:nvSpPr>
          <p:cNvPr id="43" name="Rectangle 42"/>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Every training ticket: </a:t>
            </a:r>
            <a:r>
              <a:rPr sz="2100" b="0">
                <a:solidFill>
                  <a:srgbClr val="F09601"/>
                </a:solidFill>
                <a:latin typeface="Radio Canada"/>
              </a:rPr>
              <a:t>5 rounds × 4 tries = 20 practice chats</a:t>
            </a:r>
          </a:p>
        </p:txBody>
      </p:sp>
      <p:sp>
        <p:nvSpPr>
          <p:cNvPr id="44" name="TextBox 43">
            <a:extLst>
              <a:ext uri="{FF2B5EF4-FFF2-40B4-BE49-F238E27FC236}">
                <a16:creationId xmlns:a16="http://schemas.microsoft.com/office/drawing/2014/main" id="{8482BD23-2E7F-227E-B550-8B38CD7BA37F}"/>
              </a:ext>
            </a:extLst>
          </p:cNvPr>
          <p:cNvSpPr txBox="1"/>
          <p:nvPr/>
        </p:nvSpPr>
        <p:spPr>
          <a:xfrm>
            <a:off x="7737475" y="4641850"/>
            <a:ext cx="2286000" cy="355600"/>
          </a:xfrm>
          <a:prstGeom prst="rect">
            <a:avLst/>
          </a:prstGeom>
          <a:noFill/>
        </p:spPr>
        <p:txBody>
          <a:bodyPr wrap="square" lIns="0" tIns="0" rIns="0" bIns="0" anchor="ctr">
            <a:noAutofit/>
          </a:bodyPr>
          <a:lstStyle/>
          <a:p>
            <a:pPr algn="ctr"/>
            <a:r>
              <a:rPr sz="2800" b="1" dirty="0">
                <a:solidFill>
                  <a:srgbClr val="F09601"/>
                </a:solidFill>
                <a:latin typeface="Radio Canada"/>
              </a:rPr>
              <a:t>1,280</a:t>
            </a:r>
          </a:p>
        </p:txBody>
      </p:sp>
      <p:sp>
        <p:nvSpPr>
          <p:cNvPr id="45" name="TextBox 44">
            <a:extLst>
              <a:ext uri="{FF2B5EF4-FFF2-40B4-BE49-F238E27FC236}">
                <a16:creationId xmlns:a16="http://schemas.microsoft.com/office/drawing/2014/main" id="{EA3CB3A7-7D52-9012-2254-1F283D0B81A2}"/>
              </a:ext>
            </a:extLst>
          </p:cNvPr>
          <p:cNvSpPr txBox="1"/>
          <p:nvPr/>
        </p:nvSpPr>
        <p:spPr>
          <a:xfrm>
            <a:off x="7737475" y="5022850"/>
            <a:ext cx="2286000" cy="228600"/>
          </a:xfrm>
          <a:prstGeom prst="rect">
            <a:avLst/>
          </a:prstGeom>
          <a:noFill/>
        </p:spPr>
        <p:txBody>
          <a:bodyPr wrap="square" lIns="0" tIns="0" rIns="0" bIns="0" anchor="ctr">
            <a:noAutofit/>
          </a:bodyPr>
          <a:lstStyle/>
          <a:p>
            <a:pPr algn="ctr"/>
            <a:r>
              <a:rPr sz="1400" b="0">
                <a:solidFill>
                  <a:srgbClr val="222836"/>
                </a:solidFill>
                <a:latin typeface="Radio Canada"/>
              </a:rPr>
              <a:t>conversations</a:t>
            </a:r>
          </a:p>
        </p:txBody>
      </p:sp>
      <p:sp>
        <p:nvSpPr>
          <p:cNvPr id="46" name="TextBox 45">
            <a:extLst>
              <a:ext uri="{FF2B5EF4-FFF2-40B4-BE49-F238E27FC236}">
                <a16:creationId xmlns:a16="http://schemas.microsoft.com/office/drawing/2014/main" id="{F9CCC9F0-D94A-10A6-8694-BF2A615CBF19}"/>
              </a:ext>
            </a:extLst>
          </p:cNvPr>
          <p:cNvSpPr txBox="1"/>
          <p:nvPr/>
        </p:nvSpPr>
        <p:spPr>
          <a:xfrm>
            <a:off x="2298693" y="4654549"/>
            <a:ext cx="2286000" cy="355600"/>
          </a:xfrm>
          <a:prstGeom prst="rect">
            <a:avLst/>
          </a:prstGeom>
          <a:noFill/>
        </p:spPr>
        <p:txBody>
          <a:bodyPr wrap="square" lIns="0" tIns="0" rIns="0" bIns="0" anchor="ctr">
            <a:noAutofit/>
          </a:bodyPr>
          <a:lstStyle/>
          <a:p>
            <a:pPr algn="ctr"/>
            <a:r>
              <a:rPr sz="2800" b="1" dirty="0">
                <a:solidFill>
                  <a:srgbClr val="F09601"/>
                </a:solidFill>
                <a:latin typeface="Radio Canada"/>
              </a:rPr>
              <a:t>10</a:t>
            </a:r>
          </a:p>
        </p:txBody>
      </p:sp>
      <p:sp>
        <p:nvSpPr>
          <p:cNvPr id="47" name="TextBox 46">
            <a:extLst>
              <a:ext uri="{FF2B5EF4-FFF2-40B4-BE49-F238E27FC236}">
                <a16:creationId xmlns:a16="http://schemas.microsoft.com/office/drawing/2014/main" id="{EDF0C94F-B6F1-2CFD-12A3-31A388A02128}"/>
              </a:ext>
            </a:extLst>
          </p:cNvPr>
          <p:cNvSpPr txBox="1"/>
          <p:nvPr/>
        </p:nvSpPr>
        <p:spPr>
          <a:xfrm>
            <a:off x="2298693" y="5035549"/>
            <a:ext cx="2286000" cy="228600"/>
          </a:xfrm>
          <a:prstGeom prst="rect">
            <a:avLst/>
          </a:prstGeom>
          <a:noFill/>
        </p:spPr>
        <p:txBody>
          <a:bodyPr wrap="square" lIns="0" tIns="0" rIns="0" bIns="0" anchor="ctr">
            <a:noAutofit/>
          </a:bodyPr>
          <a:lstStyle/>
          <a:p>
            <a:pPr algn="ctr"/>
            <a:r>
              <a:rPr sz="1400" b="0" dirty="0">
                <a:solidFill>
                  <a:srgbClr val="222836"/>
                </a:solidFill>
                <a:latin typeface="Radio Canada"/>
              </a:rPr>
              <a:t>rounds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3. One conversation</a:t>
            </a:r>
            <a:endParaRPr lang="en-US" sz="3000" dirty="0"/>
          </a:p>
        </p:txBody>
      </p:sp>
      <p:sp>
        <p:nvSpPr>
          <p:cNvPr id="8" name="Rectangle 7"/>
          <p:cNvSpPr/>
          <p:nvPr/>
        </p:nvSpPr>
        <p:spPr>
          <a:xfrm>
            <a:off x="768350" y="2673350"/>
            <a:ext cx="2273300" cy="1511300"/>
          </a:xfrm>
          <a:prstGeom prst="rect">
            <a:avLst/>
          </a:prstGeom>
          <a:solidFill>
            <a:srgbClr val="222836"/>
          </a:solidFill>
          <a:ln>
            <a:noFill/>
          </a:ln>
        </p:spPr>
        <p:txBody>
          <a:bodyPr rtlCol="0" anchor="ctr"/>
          <a:lstStyle/>
          <a:p>
            <a:pPr algn="ctr"/>
            <a:endParaRPr/>
          </a:p>
        </p:txBody>
      </p:sp>
      <p:sp>
        <p:nvSpPr>
          <p:cNvPr id="9" name="TextBox 8"/>
          <p:cNvSpPr txBox="1"/>
          <p:nvPr/>
        </p:nvSpPr>
        <p:spPr>
          <a:xfrm>
            <a:off x="768350" y="2863850"/>
            <a:ext cx="2273300" cy="381000"/>
          </a:xfrm>
          <a:prstGeom prst="rect">
            <a:avLst/>
          </a:prstGeom>
          <a:noFill/>
        </p:spPr>
        <p:txBody>
          <a:bodyPr wrap="square" lIns="0" tIns="0" rIns="0" bIns="0" anchor="ctr">
            <a:noAutofit/>
          </a:bodyPr>
          <a:lstStyle/>
          <a:p>
            <a:pPr algn="ctr"/>
            <a:r>
              <a:rPr sz="2100" b="1">
                <a:solidFill>
                  <a:srgbClr val="FFFFFF"/>
                </a:solidFill>
                <a:latin typeface="Radio Canada"/>
              </a:rPr>
              <a:t>SageMaker</a:t>
            </a:r>
          </a:p>
        </p:txBody>
      </p:sp>
      <p:sp>
        <p:nvSpPr>
          <p:cNvPr id="10" name="TextBox 9"/>
          <p:cNvSpPr txBox="1"/>
          <p:nvPr/>
        </p:nvSpPr>
        <p:spPr>
          <a:xfrm>
            <a:off x="895350" y="3308350"/>
            <a:ext cx="2019300" cy="508000"/>
          </a:xfrm>
          <a:prstGeom prst="rect">
            <a:avLst/>
          </a:prstGeom>
          <a:noFill/>
        </p:spPr>
        <p:txBody>
          <a:bodyPr wrap="square" lIns="0" tIns="0" rIns="0" bIns="0" anchor="ctr">
            <a:noAutofit/>
          </a:bodyPr>
          <a:lstStyle/>
          <a:p>
            <a:pPr algn="ctr"/>
            <a:r>
              <a:rPr sz="1600" b="0">
                <a:solidFill>
                  <a:srgbClr val="D3D7E3"/>
                </a:solidFill>
                <a:latin typeface="Radio Canada"/>
              </a:rPr>
              <a:t>hands out a ticket, collects the reward</a:t>
            </a:r>
          </a:p>
        </p:txBody>
      </p:sp>
      <p:sp>
        <p:nvSpPr>
          <p:cNvPr id="11" name="Rectangle 10"/>
          <p:cNvSpPr/>
          <p:nvPr/>
        </p:nvSpPr>
        <p:spPr>
          <a:xfrm>
            <a:off x="4197350" y="1530350"/>
            <a:ext cx="2654300" cy="1384300"/>
          </a:xfrm>
          <a:prstGeom prst="rect">
            <a:avLst/>
          </a:prstGeom>
          <a:solidFill>
            <a:srgbClr val="FFFFFF"/>
          </a:solidFill>
          <a:ln>
            <a:noFill/>
          </a:ln>
        </p:spPr>
        <p:txBody>
          <a:bodyPr rtlCol="0" anchor="ctr"/>
          <a:lstStyle/>
          <a:p>
            <a:pPr algn="ctr"/>
            <a:endParaRPr/>
          </a:p>
        </p:txBody>
      </p:sp>
      <p:sp>
        <p:nvSpPr>
          <p:cNvPr id="12" name="TextBox 11"/>
          <p:cNvSpPr txBox="1"/>
          <p:nvPr/>
        </p:nvSpPr>
        <p:spPr>
          <a:xfrm>
            <a:off x="4197350" y="1784350"/>
            <a:ext cx="2654300" cy="381000"/>
          </a:xfrm>
          <a:prstGeom prst="rect">
            <a:avLst/>
          </a:prstGeom>
          <a:noFill/>
        </p:spPr>
        <p:txBody>
          <a:bodyPr wrap="square" lIns="0" tIns="0" rIns="0" bIns="0" anchor="ctr">
            <a:noAutofit/>
          </a:bodyPr>
          <a:lstStyle/>
          <a:p>
            <a:pPr algn="ctr"/>
            <a:r>
              <a:rPr sz="2100" b="1">
                <a:solidFill>
                  <a:srgbClr val="000000"/>
                </a:solidFill>
                <a:latin typeface="Radio Canada"/>
              </a:rPr>
              <a:t>Agent</a:t>
            </a:r>
          </a:p>
        </p:txBody>
      </p:sp>
      <p:sp>
        <p:nvSpPr>
          <p:cNvPr id="13" name="TextBox 12"/>
          <p:cNvSpPr txBox="1"/>
          <p:nvPr/>
        </p:nvSpPr>
        <p:spPr>
          <a:xfrm>
            <a:off x="4324350" y="2228850"/>
            <a:ext cx="2400300" cy="381000"/>
          </a:xfrm>
          <a:prstGeom prst="rect">
            <a:avLst/>
          </a:prstGeom>
          <a:noFill/>
        </p:spPr>
        <p:txBody>
          <a:bodyPr wrap="square" lIns="0" tIns="0" rIns="0" bIns="0" anchor="ctr">
            <a:noAutofit/>
          </a:bodyPr>
          <a:lstStyle/>
          <a:p>
            <a:pPr algn="ctr"/>
            <a:r>
              <a:rPr sz="1600" b="0">
                <a:solidFill>
                  <a:srgbClr val="222836"/>
                </a:solidFill>
                <a:latin typeface="Radio Canada"/>
              </a:rPr>
              <a:t>runs on AgentCore</a:t>
            </a:r>
          </a:p>
        </p:txBody>
      </p:sp>
      <p:sp>
        <p:nvSpPr>
          <p:cNvPr id="14" name="Rectangle 13"/>
          <p:cNvSpPr/>
          <p:nvPr/>
        </p:nvSpPr>
        <p:spPr>
          <a:xfrm>
            <a:off x="8388350" y="1530350"/>
            <a:ext cx="3035300" cy="1384300"/>
          </a:xfrm>
          <a:prstGeom prst="rect">
            <a:avLst/>
          </a:prstGeom>
          <a:solidFill>
            <a:srgbClr val="FFFFFF"/>
          </a:solidFill>
          <a:ln>
            <a:noFill/>
          </a:ln>
        </p:spPr>
        <p:txBody>
          <a:bodyPr rtlCol="0" anchor="ctr"/>
          <a:lstStyle/>
          <a:p>
            <a:pPr algn="ctr"/>
            <a:endParaRPr/>
          </a:p>
        </p:txBody>
      </p:sp>
      <p:sp>
        <p:nvSpPr>
          <p:cNvPr id="15" name="TextBox 14"/>
          <p:cNvSpPr txBox="1"/>
          <p:nvPr/>
        </p:nvSpPr>
        <p:spPr>
          <a:xfrm>
            <a:off x="8388350" y="1784350"/>
            <a:ext cx="3035300" cy="381000"/>
          </a:xfrm>
          <a:prstGeom prst="rect">
            <a:avLst/>
          </a:prstGeom>
          <a:noFill/>
        </p:spPr>
        <p:txBody>
          <a:bodyPr wrap="square" lIns="0" tIns="0" rIns="0" bIns="0" anchor="ctr">
            <a:noAutofit/>
          </a:bodyPr>
          <a:lstStyle/>
          <a:p>
            <a:pPr algn="ctr"/>
            <a:r>
              <a:rPr sz="2100" b="1">
                <a:solidFill>
                  <a:srgbClr val="000000"/>
                </a:solidFill>
                <a:latin typeface="Radio Canada"/>
              </a:rPr>
              <a:t>GPT-OSS-20B</a:t>
            </a:r>
          </a:p>
        </p:txBody>
      </p:sp>
      <p:sp>
        <p:nvSpPr>
          <p:cNvPr id="16" name="TextBox 15"/>
          <p:cNvSpPr txBox="1"/>
          <p:nvPr/>
        </p:nvSpPr>
        <p:spPr>
          <a:xfrm>
            <a:off x="8515350" y="2228850"/>
            <a:ext cx="2781300" cy="381000"/>
          </a:xfrm>
          <a:prstGeom prst="rect">
            <a:avLst/>
          </a:prstGeom>
          <a:noFill/>
        </p:spPr>
        <p:txBody>
          <a:bodyPr wrap="square" lIns="0" tIns="0" rIns="0" bIns="0" anchor="ctr">
            <a:noAutofit/>
          </a:bodyPr>
          <a:lstStyle/>
          <a:p>
            <a:pPr algn="ctr"/>
            <a:r>
              <a:rPr sz="1600" b="0">
                <a:solidFill>
                  <a:srgbClr val="222836"/>
                </a:solidFill>
                <a:latin typeface="Radio Canada"/>
              </a:rPr>
              <a:t>plus its LoRA add-on</a:t>
            </a:r>
          </a:p>
        </p:txBody>
      </p:sp>
      <p:sp>
        <p:nvSpPr>
          <p:cNvPr id="17" name="Rectangle 16"/>
          <p:cNvSpPr/>
          <p:nvPr/>
        </p:nvSpPr>
        <p:spPr>
          <a:xfrm>
            <a:off x="4197350" y="3816350"/>
            <a:ext cx="2654300" cy="1384300"/>
          </a:xfrm>
          <a:prstGeom prst="rect">
            <a:avLst/>
          </a:prstGeom>
          <a:solidFill>
            <a:srgbClr val="FFFFFF"/>
          </a:solidFill>
          <a:ln>
            <a:noFill/>
          </a:ln>
        </p:spPr>
        <p:txBody>
          <a:bodyPr rtlCol="0" anchor="ctr"/>
          <a:lstStyle/>
          <a:p>
            <a:pPr algn="ctr"/>
            <a:endParaRPr/>
          </a:p>
        </p:txBody>
      </p:sp>
      <p:sp>
        <p:nvSpPr>
          <p:cNvPr id="18" name="TextBox 17"/>
          <p:cNvSpPr txBox="1"/>
          <p:nvPr/>
        </p:nvSpPr>
        <p:spPr>
          <a:xfrm>
            <a:off x="4197350" y="4070350"/>
            <a:ext cx="2654300" cy="381000"/>
          </a:xfrm>
          <a:prstGeom prst="rect">
            <a:avLst/>
          </a:prstGeom>
          <a:noFill/>
        </p:spPr>
        <p:txBody>
          <a:bodyPr wrap="square" lIns="0" tIns="0" rIns="0" bIns="0" anchor="ctr">
            <a:noAutofit/>
          </a:bodyPr>
          <a:lstStyle/>
          <a:p>
            <a:pPr algn="ctr"/>
            <a:r>
              <a:rPr sz="2100" b="1">
                <a:solidFill>
                  <a:srgbClr val="000000"/>
                </a:solidFill>
                <a:latin typeface="Radio Canada"/>
              </a:rPr>
              <a:t>Support simulator</a:t>
            </a:r>
          </a:p>
        </p:txBody>
      </p:sp>
      <p:sp>
        <p:nvSpPr>
          <p:cNvPr id="19" name="TextBox 18"/>
          <p:cNvSpPr txBox="1"/>
          <p:nvPr/>
        </p:nvSpPr>
        <p:spPr>
          <a:xfrm>
            <a:off x="4324350" y="4514850"/>
            <a:ext cx="2400300" cy="381000"/>
          </a:xfrm>
          <a:prstGeom prst="rect">
            <a:avLst/>
          </a:prstGeom>
          <a:noFill/>
        </p:spPr>
        <p:txBody>
          <a:bodyPr wrap="square" lIns="0" tIns="0" rIns="0" bIns="0" anchor="ctr">
            <a:noAutofit/>
          </a:bodyPr>
          <a:lstStyle/>
          <a:p>
            <a:pPr algn="ctr"/>
            <a:r>
              <a:rPr sz="1600" b="0">
                <a:solidFill>
                  <a:srgbClr val="222836"/>
                </a:solidFill>
                <a:latin typeface="Radio Canada"/>
              </a:rPr>
              <a:t>applies the move, keeps score</a:t>
            </a:r>
          </a:p>
        </p:txBody>
      </p:sp>
      <p:cxnSp>
        <p:nvCxnSpPr>
          <p:cNvPr id="20" name="Connector 19"/>
          <p:cNvCxnSpPr/>
          <p:nvPr/>
        </p:nvCxnSpPr>
        <p:spPr>
          <a:xfrm flipV="1">
            <a:off x="3092450" y="2286000"/>
            <a:ext cx="1054100" cy="698500"/>
          </a:xfrm>
          <a:prstGeom prst="line">
            <a:avLst/>
          </a:prstGeom>
          <a:ln w="57150">
            <a:solidFill>
              <a:srgbClr val="222836"/>
            </a:solidFill>
            <a:tailEnd type="triangle" w="med" len="med"/>
          </a:ln>
        </p:spPr>
      </p:cxnSp>
      <p:sp>
        <p:nvSpPr>
          <p:cNvPr id="21" name="TextBox 20"/>
          <p:cNvSpPr txBox="1"/>
          <p:nvPr/>
        </p:nvSpPr>
        <p:spPr>
          <a:xfrm>
            <a:off x="2730500" y="2222500"/>
            <a:ext cx="1270000" cy="254000"/>
          </a:xfrm>
          <a:prstGeom prst="rect">
            <a:avLst/>
          </a:prstGeom>
          <a:noFill/>
        </p:spPr>
        <p:txBody>
          <a:bodyPr wrap="square" lIns="0" tIns="0" rIns="0" bIns="0" anchor="ctr">
            <a:noAutofit/>
          </a:bodyPr>
          <a:lstStyle/>
          <a:p>
            <a:pPr algn="ctr"/>
            <a:r>
              <a:rPr sz="1600" b="1">
                <a:solidFill>
                  <a:srgbClr val="CF7322"/>
                </a:solidFill>
                <a:latin typeface="Radio Canada"/>
              </a:rPr>
              <a:t>a ticket</a:t>
            </a:r>
          </a:p>
        </p:txBody>
      </p:sp>
      <p:cxnSp>
        <p:nvCxnSpPr>
          <p:cNvPr id="22" name="Connector 21"/>
          <p:cNvCxnSpPr/>
          <p:nvPr/>
        </p:nvCxnSpPr>
        <p:spPr>
          <a:xfrm>
            <a:off x="6902450" y="1968500"/>
            <a:ext cx="1435100" cy="0"/>
          </a:xfrm>
          <a:prstGeom prst="line">
            <a:avLst/>
          </a:prstGeom>
          <a:ln w="57150">
            <a:solidFill>
              <a:srgbClr val="222836"/>
            </a:solidFill>
            <a:tailEnd type="triangle" w="med" len="med"/>
          </a:ln>
        </p:spPr>
      </p:cxnSp>
      <p:sp>
        <p:nvSpPr>
          <p:cNvPr id="23" name="TextBox 22"/>
          <p:cNvSpPr txBox="1"/>
          <p:nvPr/>
        </p:nvSpPr>
        <p:spPr>
          <a:xfrm>
            <a:off x="6902450" y="1663700"/>
            <a:ext cx="1435100" cy="254000"/>
          </a:xfrm>
          <a:prstGeom prst="rect">
            <a:avLst/>
          </a:prstGeom>
          <a:noFill/>
        </p:spPr>
        <p:txBody>
          <a:bodyPr wrap="square" lIns="0" tIns="0" rIns="0" bIns="0" anchor="ctr">
            <a:noAutofit/>
          </a:bodyPr>
          <a:lstStyle/>
          <a:p>
            <a:pPr algn="ctr"/>
            <a:r>
              <a:rPr sz="1600" b="1">
                <a:solidFill>
                  <a:srgbClr val="CF7322"/>
                </a:solidFill>
                <a:latin typeface="Radio Canada"/>
              </a:rPr>
              <a:t>what next?</a:t>
            </a:r>
          </a:p>
        </p:txBody>
      </p:sp>
      <p:cxnSp>
        <p:nvCxnSpPr>
          <p:cNvPr id="24" name="Connector 23"/>
          <p:cNvCxnSpPr/>
          <p:nvPr/>
        </p:nvCxnSpPr>
        <p:spPr>
          <a:xfrm flipH="1">
            <a:off x="6902450" y="2476500"/>
            <a:ext cx="1435100" cy="0"/>
          </a:xfrm>
          <a:prstGeom prst="line">
            <a:avLst/>
          </a:prstGeom>
          <a:ln w="57150">
            <a:solidFill>
              <a:srgbClr val="222836"/>
            </a:solidFill>
            <a:tailEnd type="triangle" w="med" len="med"/>
          </a:ln>
        </p:spPr>
      </p:cxnSp>
      <p:sp>
        <p:nvSpPr>
          <p:cNvPr id="25" name="TextBox 24"/>
          <p:cNvSpPr txBox="1"/>
          <p:nvPr/>
        </p:nvSpPr>
        <p:spPr>
          <a:xfrm>
            <a:off x="6902450" y="2527300"/>
            <a:ext cx="1435100" cy="254000"/>
          </a:xfrm>
          <a:prstGeom prst="rect">
            <a:avLst/>
          </a:prstGeom>
          <a:noFill/>
        </p:spPr>
        <p:txBody>
          <a:bodyPr wrap="square" lIns="0" tIns="0" rIns="0" bIns="0" anchor="ctr">
            <a:noAutofit/>
          </a:bodyPr>
          <a:lstStyle/>
          <a:p>
            <a:pPr algn="ctr"/>
            <a:r>
              <a:rPr sz="1600" b="1">
                <a:solidFill>
                  <a:srgbClr val="CF7322"/>
                </a:solidFill>
                <a:latin typeface="Radio Canada"/>
              </a:rPr>
              <a:t>a move</a:t>
            </a:r>
          </a:p>
        </p:txBody>
      </p:sp>
      <p:cxnSp>
        <p:nvCxnSpPr>
          <p:cNvPr id="26" name="Connector 25"/>
          <p:cNvCxnSpPr/>
          <p:nvPr/>
        </p:nvCxnSpPr>
        <p:spPr>
          <a:xfrm>
            <a:off x="5207000" y="2965450"/>
            <a:ext cx="0" cy="800100"/>
          </a:xfrm>
          <a:prstGeom prst="line">
            <a:avLst/>
          </a:prstGeom>
          <a:ln w="57150">
            <a:solidFill>
              <a:srgbClr val="222836"/>
            </a:solidFill>
            <a:tailEnd type="triangle" w="med" len="med"/>
          </a:ln>
        </p:spPr>
      </p:cxnSp>
      <p:sp>
        <p:nvSpPr>
          <p:cNvPr id="27" name="TextBox 26"/>
          <p:cNvSpPr txBox="1"/>
          <p:nvPr/>
        </p:nvSpPr>
        <p:spPr>
          <a:xfrm>
            <a:off x="3810000" y="3238500"/>
            <a:ext cx="1333500" cy="254000"/>
          </a:xfrm>
          <a:prstGeom prst="rect">
            <a:avLst/>
          </a:prstGeom>
          <a:noFill/>
        </p:spPr>
        <p:txBody>
          <a:bodyPr wrap="square" lIns="0" tIns="0" rIns="0" bIns="0" anchor="ctr">
            <a:noAutofit/>
          </a:bodyPr>
          <a:lstStyle/>
          <a:p>
            <a:pPr algn="r"/>
            <a:r>
              <a:rPr sz="1600" b="1">
                <a:solidFill>
                  <a:srgbClr val="CF7322"/>
                </a:solidFill>
                <a:latin typeface="Radio Canada"/>
              </a:rPr>
              <a:t>the move</a:t>
            </a:r>
          </a:p>
        </p:txBody>
      </p:sp>
      <p:cxnSp>
        <p:nvCxnSpPr>
          <p:cNvPr id="28" name="Connector 27"/>
          <p:cNvCxnSpPr/>
          <p:nvPr/>
        </p:nvCxnSpPr>
        <p:spPr>
          <a:xfrm flipV="1">
            <a:off x="5842000" y="2965450"/>
            <a:ext cx="0" cy="800100"/>
          </a:xfrm>
          <a:prstGeom prst="line">
            <a:avLst/>
          </a:prstGeom>
          <a:ln w="57150">
            <a:solidFill>
              <a:srgbClr val="222836"/>
            </a:solidFill>
            <a:tailEnd type="triangle" w="med" len="med"/>
          </a:ln>
        </p:spPr>
      </p:cxnSp>
      <p:sp>
        <p:nvSpPr>
          <p:cNvPr id="29" name="TextBox 28"/>
          <p:cNvSpPr txBox="1"/>
          <p:nvPr/>
        </p:nvSpPr>
        <p:spPr>
          <a:xfrm>
            <a:off x="5937250" y="3206750"/>
            <a:ext cx="2667000" cy="254000"/>
          </a:xfrm>
          <a:prstGeom prst="rect">
            <a:avLst/>
          </a:prstGeom>
          <a:noFill/>
        </p:spPr>
        <p:txBody>
          <a:bodyPr wrap="square" lIns="0" tIns="0" rIns="0" bIns="0" anchor="ctr">
            <a:noAutofit/>
          </a:bodyPr>
          <a:lstStyle/>
          <a:p>
            <a:pPr algn="l"/>
            <a:r>
              <a:rPr sz="1600" b="1">
                <a:solidFill>
                  <a:srgbClr val="CF7322"/>
                </a:solidFill>
                <a:latin typeface="Radio Canada"/>
              </a:rPr>
              <a:t>new state + moves left</a:t>
            </a:r>
          </a:p>
        </p:txBody>
      </p:sp>
      <p:cxnSp>
        <p:nvCxnSpPr>
          <p:cNvPr id="30" name="Connector 29"/>
          <p:cNvCxnSpPr/>
          <p:nvPr/>
        </p:nvCxnSpPr>
        <p:spPr>
          <a:xfrm flipH="1" flipV="1">
            <a:off x="3092450" y="4064000"/>
            <a:ext cx="1054100" cy="762000"/>
          </a:xfrm>
          <a:prstGeom prst="line">
            <a:avLst/>
          </a:prstGeom>
          <a:ln w="57150">
            <a:solidFill>
              <a:srgbClr val="222836"/>
            </a:solidFill>
            <a:tailEnd type="triangle" w="med" len="med"/>
          </a:ln>
        </p:spPr>
      </p:cxnSp>
      <p:sp>
        <p:nvSpPr>
          <p:cNvPr id="31" name="TextBox 30"/>
          <p:cNvSpPr txBox="1"/>
          <p:nvPr/>
        </p:nvSpPr>
        <p:spPr>
          <a:xfrm>
            <a:off x="641350" y="4318000"/>
            <a:ext cx="2413000" cy="254000"/>
          </a:xfrm>
          <a:prstGeom prst="rect">
            <a:avLst/>
          </a:prstGeom>
          <a:noFill/>
        </p:spPr>
        <p:txBody>
          <a:bodyPr wrap="square" lIns="0" tIns="0" rIns="0" bIns="0" anchor="ctr">
            <a:noAutofit/>
          </a:bodyPr>
          <a:lstStyle/>
          <a:p>
            <a:pPr algn="ctr"/>
            <a:r>
              <a:rPr sz="1600" b="1">
                <a:solidFill>
                  <a:srgbClr val="CF7322"/>
                </a:solidFill>
                <a:latin typeface="Radio Canada"/>
              </a:rPr>
              <a:t>the reward, at the end</a:t>
            </a:r>
          </a:p>
        </p:txBody>
      </p:sp>
      <p:sp>
        <p:nvSpPr>
          <p:cNvPr id="32" name="Rectangle 31"/>
          <p:cNvSpPr/>
          <p:nvPr/>
        </p:nvSpPr>
        <p:spPr>
          <a:xfrm>
            <a:off x="8388350" y="3816350"/>
            <a:ext cx="3035300" cy="1384300"/>
          </a:xfrm>
          <a:prstGeom prst="rect">
            <a:avLst/>
          </a:prstGeom>
          <a:solidFill>
            <a:srgbClr val="FFFFFF"/>
          </a:solidFill>
          <a:ln>
            <a:noFill/>
          </a:ln>
        </p:spPr>
        <p:txBody>
          <a:bodyPr rtlCol="0" anchor="ctr"/>
          <a:lstStyle/>
          <a:p>
            <a:pPr algn="ctr"/>
            <a:endParaRPr/>
          </a:p>
        </p:txBody>
      </p:sp>
      <p:sp>
        <p:nvSpPr>
          <p:cNvPr id="33" name="TextBox 32"/>
          <p:cNvSpPr txBox="1"/>
          <p:nvPr/>
        </p:nvSpPr>
        <p:spPr>
          <a:xfrm>
            <a:off x="8515350" y="3816350"/>
            <a:ext cx="2781300" cy="1384300"/>
          </a:xfrm>
          <a:prstGeom prst="rect">
            <a:avLst/>
          </a:prstGeom>
          <a:noFill/>
        </p:spPr>
        <p:txBody>
          <a:bodyPr wrap="square" lIns="0" tIns="0" rIns="0" bIns="0" anchor="ctr">
            <a:noAutofit/>
          </a:bodyPr>
          <a:lstStyle/>
          <a:p>
            <a:pPr algn="ctr"/>
            <a:r>
              <a:rPr sz="1800" b="0">
                <a:solidFill>
                  <a:srgbClr val="222836"/>
                </a:solidFill>
                <a:latin typeface="Radio Canada"/>
              </a:rPr>
              <a:t>The base model stays frozen; only the small LoRA add-on learns.</a:t>
            </a:r>
          </a:p>
        </p:txBody>
      </p:sp>
      <p:sp>
        <p:nvSpPr>
          <p:cNvPr id="34" name="Rectangle 33"/>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Up to 4 turns, or until solved; </a:t>
            </a:r>
            <a:r>
              <a:rPr sz="2100" b="0">
                <a:solidFill>
                  <a:srgbClr val="F09601"/>
                </a:solidFill>
                <a:latin typeface="Radio Canada"/>
              </a:rPr>
              <a:t>then the reward goes back to SageMaker.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4. The simulator</a:t>
            </a:r>
            <a:endParaRPr lang="en-US" sz="3000" dirty="0"/>
          </a:p>
        </p:txBody>
      </p:sp>
      <p:sp>
        <p:nvSpPr>
          <p:cNvPr id="8" name="Rectangle 7"/>
          <p:cNvSpPr/>
          <p:nvPr/>
        </p:nvSpPr>
        <p:spPr>
          <a:xfrm>
            <a:off x="768350" y="1784350"/>
            <a:ext cx="1778000" cy="749300"/>
          </a:xfrm>
          <a:prstGeom prst="rect">
            <a:avLst/>
          </a:prstGeom>
          <a:solidFill>
            <a:srgbClr val="FFFFFF"/>
          </a:solidFill>
          <a:ln>
            <a:noFill/>
          </a:ln>
        </p:spPr>
        <p:txBody>
          <a:bodyPr rtlCol="0" anchor="ctr"/>
          <a:lstStyle/>
          <a:p>
            <a:pPr algn="ctr"/>
            <a:endParaRPr/>
          </a:p>
        </p:txBody>
      </p:sp>
      <p:sp>
        <p:nvSpPr>
          <p:cNvPr id="9" name="TextBox 8"/>
          <p:cNvSpPr txBox="1"/>
          <p:nvPr/>
        </p:nvSpPr>
        <p:spPr>
          <a:xfrm>
            <a:off x="831850" y="1784350"/>
            <a:ext cx="1651000" cy="749300"/>
          </a:xfrm>
          <a:prstGeom prst="rect">
            <a:avLst/>
          </a:prstGeom>
          <a:noFill/>
        </p:spPr>
        <p:txBody>
          <a:bodyPr wrap="square" lIns="0" tIns="0" rIns="0" bIns="0" anchor="ctr">
            <a:noAutofit/>
          </a:bodyPr>
          <a:lstStyle/>
          <a:p>
            <a:pPr algn="ctr"/>
            <a:r>
              <a:rPr sz="1800" b="1">
                <a:solidFill>
                  <a:srgbClr val="222836"/>
                </a:solidFill>
                <a:latin typeface="Radio Canada"/>
              </a:rPr>
              <a:t>New ticket</a:t>
            </a:r>
          </a:p>
        </p:txBody>
      </p:sp>
      <p:sp>
        <p:nvSpPr>
          <p:cNvPr id="10" name="Rectangle 9"/>
          <p:cNvSpPr/>
          <p:nvPr/>
        </p:nvSpPr>
        <p:spPr>
          <a:xfrm>
            <a:off x="2984500" y="1784350"/>
            <a:ext cx="1778000" cy="749300"/>
          </a:xfrm>
          <a:prstGeom prst="rect">
            <a:avLst/>
          </a:prstGeom>
          <a:solidFill>
            <a:srgbClr val="FFFFFF"/>
          </a:solidFill>
          <a:ln>
            <a:noFill/>
          </a:ln>
        </p:spPr>
        <p:txBody>
          <a:bodyPr rtlCol="0" anchor="ctr"/>
          <a:lstStyle/>
          <a:p>
            <a:pPr algn="ctr"/>
            <a:endParaRPr/>
          </a:p>
        </p:txBody>
      </p:sp>
      <p:sp>
        <p:nvSpPr>
          <p:cNvPr id="11" name="TextBox 10"/>
          <p:cNvSpPr txBox="1"/>
          <p:nvPr/>
        </p:nvSpPr>
        <p:spPr>
          <a:xfrm>
            <a:off x="3048000" y="1784350"/>
            <a:ext cx="1651000" cy="749300"/>
          </a:xfrm>
          <a:prstGeom prst="rect">
            <a:avLst/>
          </a:prstGeom>
          <a:noFill/>
        </p:spPr>
        <p:txBody>
          <a:bodyPr wrap="square" lIns="0" tIns="0" rIns="0" bIns="0" anchor="ctr">
            <a:noAutofit/>
          </a:bodyPr>
          <a:lstStyle/>
          <a:p>
            <a:pPr algn="ctr"/>
            <a:r>
              <a:rPr sz="1800" b="1">
                <a:solidFill>
                  <a:srgbClr val="222836"/>
                </a:solidFill>
                <a:latin typeface="Radio Canada"/>
              </a:rPr>
              <a:t>No outage</a:t>
            </a:r>
          </a:p>
        </p:txBody>
      </p:sp>
      <p:sp>
        <p:nvSpPr>
          <p:cNvPr id="12" name="Rectangle 11"/>
          <p:cNvSpPr/>
          <p:nvPr/>
        </p:nvSpPr>
        <p:spPr>
          <a:xfrm>
            <a:off x="5200650" y="1784350"/>
            <a:ext cx="1778000" cy="749300"/>
          </a:xfrm>
          <a:prstGeom prst="rect">
            <a:avLst/>
          </a:prstGeom>
          <a:solidFill>
            <a:srgbClr val="FFFFFF"/>
          </a:solidFill>
          <a:ln>
            <a:noFill/>
          </a:ln>
        </p:spPr>
        <p:txBody>
          <a:bodyPr rtlCol="0" anchor="ctr"/>
          <a:lstStyle/>
          <a:p>
            <a:pPr algn="ctr"/>
            <a:endParaRPr/>
          </a:p>
        </p:txBody>
      </p:sp>
      <p:sp>
        <p:nvSpPr>
          <p:cNvPr id="13" name="TextBox 12"/>
          <p:cNvSpPr txBox="1"/>
          <p:nvPr/>
        </p:nvSpPr>
        <p:spPr>
          <a:xfrm>
            <a:off x="5264150" y="1784350"/>
            <a:ext cx="1651000" cy="749300"/>
          </a:xfrm>
          <a:prstGeom prst="rect">
            <a:avLst/>
          </a:prstGeom>
          <a:noFill/>
        </p:spPr>
        <p:txBody>
          <a:bodyPr wrap="square" lIns="0" tIns="0" rIns="0" bIns="0" anchor="ctr">
            <a:noAutofit/>
          </a:bodyPr>
          <a:lstStyle/>
          <a:p>
            <a:pPr algn="ctr"/>
            <a:r>
              <a:rPr sz="1800" b="1">
                <a:solidFill>
                  <a:srgbClr val="222836"/>
                </a:solidFill>
                <a:latin typeface="Radio Canada"/>
              </a:rPr>
              <a:t>Red WAN light</a:t>
            </a:r>
          </a:p>
        </p:txBody>
      </p:sp>
      <p:sp>
        <p:nvSpPr>
          <p:cNvPr id="14" name="Rectangle 13"/>
          <p:cNvSpPr/>
          <p:nvPr/>
        </p:nvSpPr>
        <p:spPr>
          <a:xfrm>
            <a:off x="7416800" y="1784350"/>
            <a:ext cx="1778000" cy="749300"/>
          </a:xfrm>
          <a:prstGeom prst="rect">
            <a:avLst/>
          </a:prstGeom>
          <a:solidFill>
            <a:srgbClr val="FFFFFF"/>
          </a:solidFill>
          <a:ln>
            <a:noFill/>
          </a:ln>
        </p:spPr>
        <p:txBody>
          <a:bodyPr rtlCol="0" anchor="ctr"/>
          <a:lstStyle/>
          <a:p>
            <a:pPr algn="ctr"/>
            <a:endParaRPr/>
          </a:p>
        </p:txBody>
      </p:sp>
      <p:sp>
        <p:nvSpPr>
          <p:cNvPr id="15" name="TextBox 14"/>
          <p:cNvSpPr txBox="1"/>
          <p:nvPr/>
        </p:nvSpPr>
        <p:spPr>
          <a:xfrm>
            <a:off x="7480300" y="1784350"/>
            <a:ext cx="1651000" cy="749300"/>
          </a:xfrm>
          <a:prstGeom prst="rect">
            <a:avLst/>
          </a:prstGeom>
          <a:noFill/>
        </p:spPr>
        <p:txBody>
          <a:bodyPr wrap="square" lIns="0" tIns="0" rIns="0" bIns="0" anchor="ctr">
            <a:noAutofit/>
          </a:bodyPr>
          <a:lstStyle/>
          <a:p>
            <a:pPr algn="ctr"/>
            <a:r>
              <a:rPr sz="1800" b="1">
                <a:solidFill>
                  <a:srgbClr val="222836"/>
                </a:solidFill>
                <a:latin typeface="Radio Canada"/>
              </a:rPr>
              <a:t>Config mismatch</a:t>
            </a:r>
          </a:p>
        </p:txBody>
      </p:sp>
      <p:sp>
        <p:nvSpPr>
          <p:cNvPr id="16" name="Rectangle 15"/>
          <p:cNvSpPr/>
          <p:nvPr/>
        </p:nvSpPr>
        <p:spPr>
          <a:xfrm>
            <a:off x="9632950" y="1784350"/>
            <a:ext cx="1778000" cy="749300"/>
          </a:xfrm>
          <a:prstGeom prst="rect">
            <a:avLst/>
          </a:prstGeom>
          <a:solidFill>
            <a:srgbClr val="F09601"/>
          </a:solidFill>
          <a:ln>
            <a:noFill/>
          </a:ln>
        </p:spPr>
        <p:txBody>
          <a:bodyPr rtlCol="0" anchor="ctr"/>
          <a:lstStyle/>
          <a:p>
            <a:pPr algn="ctr"/>
            <a:endParaRPr/>
          </a:p>
        </p:txBody>
      </p:sp>
      <p:sp>
        <p:nvSpPr>
          <p:cNvPr id="17" name="TextBox 16"/>
          <p:cNvSpPr txBox="1"/>
          <p:nvPr/>
        </p:nvSpPr>
        <p:spPr>
          <a:xfrm>
            <a:off x="9696450" y="1784350"/>
            <a:ext cx="1651000" cy="749300"/>
          </a:xfrm>
          <a:prstGeom prst="rect">
            <a:avLst/>
          </a:prstGeom>
          <a:noFill/>
        </p:spPr>
        <p:txBody>
          <a:bodyPr wrap="square" lIns="0" tIns="0" rIns="0" bIns="0" anchor="ctr">
            <a:noAutofit/>
          </a:bodyPr>
          <a:lstStyle/>
          <a:p>
            <a:pPr algn="ctr"/>
            <a:r>
              <a:rPr sz="1800" b="1">
                <a:solidFill>
                  <a:srgbClr val="222836"/>
                </a:solidFill>
                <a:latin typeface="Radio Canada"/>
              </a:rPr>
              <a:t>Resolved</a:t>
            </a:r>
          </a:p>
        </p:txBody>
      </p:sp>
      <p:cxnSp>
        <p:nvCxnSpPr>
          <p:cNvPr id="18" name="Connector 17"/>
          <p:cNvCxnSpPr/>
          <p:nvPr/>
        </p:nvCxnSpPr>
        <p:spPr>
          <a:xfrm>
            <a:off x="2584450" y="2159000"/>
            <a:ext cx="361950" cy="0"/>
          </a:xfrm>
          <a:prstGeom prst="line">
            <a:avLst/>
          </a:prstGeom>
          <a:ln w="57150">
            <a:solidFill>
              <a:srgbClr val="222836"/>
            </a:solidFill>
            <a:tailEnd type="triangle" w="med" len="med"/>
          </a:ln>
        </p:spPr>
      </p:cxnSp>
      <p:sp>
        <p:nvSpPr>
          <p:cNvPr id="19" name="TextBox 18"/>
          <p:cNvSpPr txBox="1"/>
          <p:nvPr/>
        </p:nvSpPr>
        <p:spPr>
          <a:xfrm>
            <a:off x="2000250" y="2597150"/>
            <a:ext cx="1524000" cy="254000"/>
          </a:xfrm>
          <a:prstGeom prst="rect">
            <a:avLst/>
          </a:prstGeom>
          <a:noFill/>
        </p:spPr>
        <p:txBody>
          <a:bodyPr wrap="square" lIns="0" tIns="0" rIns="0" bIns="0" anchor="ctr">
            <a:noAutofit/>
          </a:bodyPr>
          <a:lstStyle/>
          <a:p>
            <a:pPr algn="ctr"/>
            <a:r>
              <a:rPr sz="1600" b="1">
                <a:solidFill>
                  <a:srgbClr val="F09601"/>
                </a:solidFill>
                <a:latin typeface="Radio Canada"/>
              </a:rPr>
              <a:t>check outage</a:t>
            </a:r>
          </a:p>
        </p:txBody>
      </p:sp>
      <p:cxnSp>
        <p:nvCxnSpPr>
          <p:cNvPr id="20" name="Connector 19"/>
          <p:cNvCxnSpPr/>
          <p:nvPr/>
        </p:nvCxnSpPr>
        <p:spPr>
          <a:xfrm>
            <a:off x="4800600" y="2159000"/>
            <a:ext cx="361950" cy="0"/>
          </a:xfrm>
          <a:prstGeom prst="line">
            <a:avLst/>
          </a:prstGeom>
          <a:ln w="57150">
            <a:solidFill>
              <a:srgbClr val="222836"/>
            </a:solidFill>
            <a:tailEnd type="triangle" w="med" len="med"/>
          </a:ln>
        </p:spPr>
      </p:cxnSp>
      <p:sp>
        <p:nvSpPr>
          <p:cNvPr id="21" name="TextBox 20"/>
          <p:cNvSpPr txBox="1"/>
          <p:nvPr/>
        </p:nvSpPr>
        <p:spPr>
          <a:xfrm>
            <a:off x="4216400" y="2597150"/>
            <a:ext cx="1524000" cy="254000"/>
          </a:xfrm>
          <a:prstGeom prst="rect">
            <a:avLst/>
          </a:prstGeom>
          <a:noFill/>
        </p:spPr>
        <p:txBody>
          <a:bodyPr wrap="square" lIns="0" tIns="0" rIns="0" bIns="0" anchor="ctr">
            <a:noAutofit/>
          </a:bodyPr>
          <a:lstStyle/>
          <a:p>
            <a:pPr algn="ctr"/>
            <a:r>
              <a:rPr sz="1600" b="1">
                <a:solidFill>
                  <a:srgbClr val="F09601"/>
                </a:solidFill>
                <a:latin typeface="Radio Canada"/>
              </a:rPr>
              <a:t>check lights</a:t>
            </a:r>
          </a:p>
        </p:txBody>
      </p:sp>
      <p:cxnSp>
        <p:nvCxnSpPr>
          <p:cNvPr id="22" name="Connector 21"/>
          <p:cNvCxnSpPr/>
          <p:nvPr/>
        </p:nvCxnSpPr>
        <p:spPr>
          <a:xfrm>
            <a:off x="7016750" y="2159000"/>
            <a:ext cx="361950" cy="0"/>
          </a:xfrm>
          <a:prstGeom prst="line">
            <a:avLst/>
          </a:prstGeom>
          <a:ln w="57150">
            <a:solidFill>
              <a:srgbClr val="222836"/>
            </a:solidFill>
            <a:tailEnd type="triangle" w="med" len="med"/>
          </a:ln>
        </p:spPr>
      </p:cxnSp>
      <p:sp>
        <p:nvSpPr>
          <p:cNvPr id="23" name="TextBox 22"/>
          <p:cNvSpPr txBox="1"/>
          <p:nvPr/>
        </p:nvSpPr>
        <p:spPr>
          <a:xfrm>
            <a:off x="6432550" y="2597150"/>
            <a:ext cx="1524000" cy="254000"/>
          </a:xfrm>
          <a:prstGeom prst="rect">
            <a:avLst/>
          </a:prstGeom>
          <a:noFill/>
        </p:spPr>
        <p:txBody>
          <a:bodyPr wrap="square" lIns="0" tIns="0" rIns="0" bIns="0" anchor="ctr">
            <a:noAutofit/>
          </a:bodyPr>
          <a:lstStyle/>
          <a:p>
            <a:pPr algn="ctr"/>
            <a:r>
              <a:rPr sz="1600" b="1">
                <a:solidFill>
                  <a:srgbClr val="F09601"/>
                </a:solidFill>
                <a:latin typeface="Radio Canada"/>
              </a:rPr>
              <a:t>check account</a:t>
            </a:r>
          </a:p>
        </p:txBody>
      </p:sp>
      <p:cxnSp>
        <p:nvCxnSpPr>
          <p:cNvPr id="24" name="Connector 23"/>
          <p:cNvCxnSpPr/>
          <p:nvPr/>
        </p:nvCxnSpPr>
        <p:spPr>
          <a:xfrm>
            <a:off x="9232900" y="2159000"/>
            <a:ext cx="361950" cy="0"/>
          </a:xfrm>
          <a:prstGeom prst="line">
            <a:avLst/>
          </a:prstGeom>
          <a:ln w="57150">
            <a:solidFill>
              <a:srgbClr val="222836"/>
            </a:solidFill>
            <a:tailEnd type="triangle" w="med" len="med"/>
          </a:ln>
        </p:spPr>
      </p:cxnSp>
      <p:sp>
        <p:nvSpPr>
          <p:cNvPr id="25" name="TextBox 24"/>
          <p:cNvSpPr txBox="1"/>
          <p:nvPr/>
        </p:nvSpPr>
        <p:spPr>
          <a:xfrm>
            <a:off x="8648700" y="2597150"/>
            <a:ext cx="1524000" cy="254000"/>
          </a:xfrm>
          <a:prstGeom prst="rect">
            <a:avLst/>
          </a:prstGeom>
          <a:noFill/>
        </p:spPr>
        <p:txBody>
          <a:bodyPr wrap="square" lIns="0" tIns="0" rIns="0" bIns="0" anchor="ctr">
            <a:noAutofit/>
          </a:bodyPr>
          <a:lstStyle/>
          <a:p>
            <a:pPr algn="ctr"/>
            <a:r>
              <a:rPr sz="1600" b="1">
                <a:solidFill>
                  <a:srgbClr val="F09601"/>
                </a:solidFill>
                <a:latin typeface="Radio Canada"/>
              </a:rPr>
              <a:t>apply fix</a:t>
            </a:r>
          </a:p>
        </p:txBody>
      </p:sp>
      <p:sp>
        <p:nvSpPr>
          <p:cNvPr id="26" name="Rectangle 25"/>
          <p:cNvSpPr/>
          <p:nvPr/>
        </p:nvSpPr>
        <p:spPr>
          <a:xfrm>
            <a:off x="768350" y="3181350"/>
            <a:ext cx="10655300" cy="1892300"/>
          </a:xfrm>
          <a:prstGeom prst="rect">
            <a:avLst/>
          </a:prstGeom>
          <a:solidFill>
            <a:srgbClr val="FFFFFF"/>
          </a:solidFill>
          <a:ln>
            <a:noFill/>
          </a:ln>
        </p:spPr>
        <p:txBody>
          <a:bodyPr rtlCol="0" anchor="ctr"/>
          <a:lstStyle/>
          <a:p>
            <a:pPr algn="ctr"/>
            <a:endParaRPr/>
          </a:p>
        </p:txBody>
      </p:sp>
      <p:sp>
        <p:nvSpPr>
          <p:cNvPr id="27" name="TextBox 26"/>
          <p:cNvSpPr txBox="1"/>
          <p:nvPr/>
        </p:nvSpPr>
        <p:spPr>
          <a:xfrm>
            <a:off x="958850" y="3308350"/>
            <a:ext cx="3810000" cy="317500"/>
          </a:xfrm>
          <a:prstGeom prst="rect">
            <a:avLst/>
          </a:prstGeom>
          <a:noFill/>
        </p:spPr>
        <p:txBody>
          <a:bodyPr wrap="square" lIns="0" tIns="0" rIns="0" bIns="0" anchor="ctr">
            <a:noAutofit/>
          </a:bodyPr>
          <a:lstStyle/>
          <a:p>
            <a:pPr algn="l"/>
            <a:r>
              <a:rPr sz="2100" b="1">
                <a:solidFill>
                  <a:srgbClr val="000000"/>
                </a:solidFill>
                <a:latin typeface="Radio Canada"/>
              </a:rPr>
              <a:t>Wrong moves</a:t>
            </a:r>
          </a:p>
        </p:txBody>
      </p:sp>
      <p:sp>
        <p:nvSpPr>
          <p:cNvPr id="28" name="Rectangle 27"/>
          <p:cNvSpPr/>
          <p:nvPr/>
        </p:nvSpPr>
        <p:spPr>
          <a:xfrm>
            <a:off x="958850" y="3752850"/>
            <a:ext cx="2286000" cy="444500"/>
          </a:xfrm>
          <a:prstGeom prst="rect">
            <a:avLst/>
          </a:prstGeom>
          <a:solidFill>
            <a:srgbClr val="D3D7E3"/>
          </a:solidFill>
          <a:ln>
            <a:noFill/>
          </a:ln>
        </p:spPr>
        <p:txBody>
          <a:bodyPr rtlCol="0" anchor="ctr"/>
          <a:lstStyle/>
          <a:p>
            <a:pPr algn="ctr"/>
            <a:endParaRPr/>
          </a:p>
        </p:txBody>
      </p:sp>
      <p:sp>
        <p:nvSpPr>
          <p:cNvPr id="29" name="TextBox 28"/>
          <p:cNvSpPr txBox="1"/>
          <p:nvPr/>
        </p:nvSpPr>
        <p:spPr>
          <a:xfrm>
            <a:off x="1022350" y="3752850"/>
            <a:ext cx="2159000" cy="444500"/>
          </a:xfrm>
          <a:prstGeom prst="rect">
            <a:avLst/>
          </a:prstGeom>
          <a:noFill/>
        </p:spPr>
        <p:txBody>
          <a:bodyPr wrap="square" lIns="0" tIns="0" rIns="0" bIns="0" anchor="ctr">
            <a:noAutofit/>
          </a:bodyPr>
          <a:lstStyle/>
          <a:p>
            <a:pPr algn="ctr"/>
            <a:r>
              <a:rPr sz="1800" b="1">
                <a:solidFill>
                  <a:srgbClr val="222836"/>
                </a:solidFill>
                <a:latin typeface="Radio Canada"/>
              </a:rPr>
              <a:t>restart router</a:t>
            </a:r>
          </a:p>
        </p:txBody>
      </p:sp>
      <p:sp>
        <p:nvSpPr>
          <p:cNvPr id="30" name="Rectangle 29"/>
          <p:cNvSpPr/>
          <p:nvPr/>
        </p:nvSpPr>
        <p:spPr>
          <a:xfrm>
            <a:off x="3498850" y="3752850"/>
            <a:ext cx="2286000" cy="444500"/>
          </a:xfrm>
          <a:prstGeom prst="rect">
            <a:avLst/>
          </a:prstGeom>
          <a:solidFill>
            <a:srgbClr val="D3D7E3"/>
          </a:solidFill>
          <a:ln>
            <a:noFill/>
          </a:ln>
        </p:spPr>
        <p:txBody>
          <a:bodyPr rtlCol="0" anchor="ctr"/>
          <a:lstStyle/>
          <a:p>
            <a:pPr algn="ctr"/>
            <a:endParaRPr/>
          </a:p>
        </p:txBody>
      </p:sp>
      <p:sp>
        <p:nvSpPr>
          <p:cNvPr id="31" name="TextBox 30"/>
          <p:cNvSpPr txBox="1"/>
          <p:nvPr/>
        </p:nvSpPr>
        <p:spPr>
          <a:xfrm>
            <a:off x="3562350" y="3752850"/>
            <a:ext cx="2159000" cy="444500"/>
          </a:xfrm>
          <a:prstGeom prst="rect">
            <a:avLst/>
          </a:prstGeom>
          <a:noFill/>
        </p:spPr>
        <p:txBody>
          <a:bodyPr wrap="square" lIns="0" tIns="0" rIns="0" bIns="0" anchor="ctr">
            <a:noAutofit/>
          </a:bodyPr>
          <a:lstStyle/>
          <a:p>
            <a:pPr algn="ctr"/>
            <a:r>
              <a:rPr sz="1800" b="1">
                <a:solidFill>
                  <a:srgbClr val="222836"/>
                </a:solidFill>
                <a:latin typeface="Radio Canada"/>
              </a:rPr>
              <a:t>replace router</a:t>
            </a:r>
          </a:p>
        </p:txBody>
      </p:sp>
      <p:sp>
        <p:nvSpPr>
          <p:cNvPr id="32" name="Rectangle 31"/>
          <p:cNvSpPr/>
          <p:nvPr/>
        </p:nvSpPr>
        <p:spPr>
          <a:xfrm>
            <a:off x="6038850" y="3752850"/>
            <a:ext cx="2286000" cy="444500"/>
          </a:xfrm>
          <a:prstGeom prst="rect">
            <a:avLst/>
          </a:prstGeom>
          <a:solidFill>
            <a:srgbClr val="D3D7E3"/>
          </a:solidFill>
          <a:ln>
            <a:noFill/>
          </a:ln>
        </p:spPr>
        <p:txBody>
          <a:bodyPr rtlCol="0" anchor="ctr"/>
          <a:lstStyle/>
          <a:p>
            <a:pPr algn="ctr"/>
            <a:endParaRPr/>
          </a:p>
        </p:txBody>
      </p:sp>
      <p:sp>
        <p:nvSpPr>
          <p:cNvPr id="33" name="TextBox 32"/>
          <p:cNvSpPr txBox="1"/>
          <p:nvPr/>
        </p:nvSpPr>
        <p:spPr>
          <a:xfrm>
            <a:off x="6102350" y="3752850"/>
            <a:ext cx="2159000" cy="444500"/>
          </a:xfrm>
          <a:prstGeom prst="rect">
            <a:avLst/>
          </a:prstGeom>
          <a:noFill/>
        </p:spPr>
        <p:txBody>
          <a:bodyPr wrap="square" lIns="0" tIns="0" rIns="0" bIns="0" anchor="ctr">
            <a:noAutofit/>
          </a:bodyPr>
          <a:lstStyle/>
          <a:p>
            <a:pPr algn="ctr"/>
            <a:r>
              <a:rPr sz="1800" b="1">
                <a:solidFill>
                  <a:srgbClr val="222836"/>
                </a:solidFill>
                <a:latin typeface="Radio Canada"/>
              </a:rPr>
              <a:t>escalate</a:t>
            </a:r>
          </a:p>
        </p:txBody>
      </p:sp>
      <p:sp>
        <p:nvSpPr>
          <p:cNvPr id="34" name="Rectangle 33"/>
          <p:cNvSpPr/>
          <p:nvPr/>
        </p:nvSpPr>
        <p:spPr>
          <a:xfrm>
            <a:off x="8578850" y="3752850"/>
            <a:ext cx="2286000" cy="444500"/>
          </a:xfrm>
          <a:prstGeom prst="rect">
            <a:avLst/>
          </a:prstGeom>
          <a:solidFill>
            <a:srgbClr val="D3D7E3"/>
          </a:solidFill>
          <a:ln>
            <a:noFill/>
          </a:ln>
        </p:spPr>
        <p:txBody>
          <a:bodyPr rtlCol="0" anchor="ctr"/>
          <a:lstStyle/>
          <a:p>
            <a:pPr algn="ctr"/>
            <a:endParaRPr/>
          </a:p>
        </p:txBody>
      </p:sp>
      <p:sp>
        <p:nvSpPr>
          <p:cNvPr id="35" name="TextBox 34"/>
          <p:cNvSpPr txBox="1"/>
          <p:nvPr/>
        </p:nvSpPr>
        <p:spPr>
          <a:xfrm>
            <a:off x="8642350" y="3752850"/>
            <a:ext cx="2159000" cy="444500"/>
          </a:xfrm>
          <a:prstGeom prst="rect">
            <a:avLst/>
          </a:prstGeom>
          <a:noFill/>
        </p:spPr>
        <p:txBody>
          <a:bodyPr wrap="square" lIns="0" tIns="0" rIns="0" bIns="0" anchor="ctr">
            <a:noAutofit/>
          </a:bodyPr>
          <a:lstStyle/>
          <a:p>
            <a:pPr algn="ctr"/>
            <a:r>
              <a:rPr sz="1800" b="1">
                <a:solidFill>
                  <a:srgbClr val="222836"/>
                </a:solidFill>
                <a:latin typeface="Radio Canada"/>
              </a:rPr>
              <a:t>close ticket</a:t>
            </a:r>
          </a:p>
        </p:txBody>
      </p:sp>
      <p:sp>
        <p:nvSpPr>
          <p:cNvPr id="36" name="TextBox 35"/>
          <p:cNvSpPr txBox="1"/>
          <p:nvPr/>
        </p:nvSpPr>
        <p:spPr>
          <a:xfrm>
            <a:off x="958850" y="4387850"/>
            <a:ext cx="10274300" cy="317500"/>
          </a:xfrm>
          <a:prstGeom prst="rect">
            <a:avLst/>
          </a:prstGeom>
          <a:noFill/>
        </p:spPr>
        <p:txBody>
          <a:bodyPr wrap="square" lIns="0" tIns="0" rIns="0" bIns="0" anchor="ctr">
            <a:noAutofit/>
          </a:bodyPr>
          <a:lstStyle/>
          <a:p>
            <a:pPr algn="ctr"/>
            <a:r>
              <a:rPr sz="1800" b="0">
                <a:solidFill>
                  <a:srgbClr val="222836"/>
                </a:solidFill>
                <a:latin typeface="Radio Canada"/>
              </a:rPr>
              <a:t>The state stays the same, but the turn is used up.</a:t>
            </a:r>
          </a:p>
        </p:txBody>
      </p:sp>
      <p:sp>
        <p:nvSpPr>
          <p:cNvPr id="37" name="Rectangle 36"/>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Move order is shuffled every time, </a:t>
            </a:r>
            <a:r>
              <a:rPr sz="2100" b="0">
                <a:solidFill>
                  <a:srgbClr val="F09601"/>
                </a:solidFill>
                <a:latin typeface="Radio Canada"/>
              </a:rPr>
              <a:t>so it can't memorise positions.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5. The reward</a:t>
            </a:r>
            <a:endParaRPr lang="en-US" sz="3000" dirty="0"/>
          </a:p>
        </p:txBody>
      </p:sp>
      <p:sp>
        <p:nvSpPr>
          <p:cNvPr id="8" name="TextBox 7"/>
          <p:cNvSpPr txBox="1"/>
          <p:nvPr/>
        </p:nvSpPr>
        <p:spPr>
          <a:xfrm>
            <a:off x="2419350" y="1657350"/>
            <a:ext cx="1714500" cy="279400"/>
          </a:xfrm>
          <a:prstGeom prst="rect">
            <a:avLst/>
          </a:prstGeom>
          <a:noFill/>
        </p:spPr>
        <p:txBody>
          <a:bodyPr wrap="square" lIns="0" tIns="0" rIns="0" bIns="0" anchor="ctr">
            <a:noAutofit/>
          </a:bodyPr>
          <a:lstStyle/>
          <a:p>
            <a:pPr algn="ctr"/>
            <a:r>
              <a:rPr sz="1600" b="1">
                <a:solidFill>
                  <a:srgbClr val="222836"/>
                </a:solidFill>
                <a:latin typeface="Radio Canada"/>
              </a:rPr>
              <a:t>Turn 1</a:t>
            </a:r>
          </a:p>
        </p:txBody>
      </p:sp>
      <p:sp>
        <p:nvSpPr>
          <p:cNvPr id="9" name="TextBox 8"/>
          <p:cNvSpPr txBox="1"/>
          <p:nvPr/>
        </p:nvSpPr>
        <p:spPr>
          <a:xfrm>
            <a:off x="4260850" y="1657350"/>
            <a:ext cx="1714500" cy="279400"/>
          </a:xfrm>
          <a:prstGeom prst="rect">
            <a:avLst/>
          </a:prstGeom>
          <a:noFill/>
        </p:spPr>
        <p:txBody>
          <a:bodyPr wrap="square" lIns="0" tIns="0" rIns="0" bIns="0" anchor="ctr">
            <a:noAutofit/>
          </a:bodyPr>
          <a:lstStyle/>
          <a:p>
            <a:pPr algn="ctr"/>
            <a:r>
              <a:rPr sz="1600" b="1">
                <a:solidFill>
                  <a:srgbClr val="222836"/>
                </a:solidFill>
                <a:latin typeface="Radio Canada"/>
              </a:rPr>
              <a:t>Turn 2</a:t>
            </a:r>
          </a:p>
        </p:txBody>
      </p:sp>
      <p:sp>
        <p:nvSpPr>
          <p:cNvPr id="10" name="TextBox 9"/>
          <p:cNvSpPr txBox="1"/>
          <p:nvPr/>
        </p:nvSpPr>
        <p:spPr>
          <a:xfrm>
            <a:off x="6102350" y="1657350"/>
            <a:ext cx="1714500" cy="279400"/>
          </a:xfrm>
          <a:prstGeom prst="rect">
            <a:avLst/>
          </a:prstGeom>
          <a:noFill/>
        </p:spPr>
        <p:txBody>
          <a:bodyPr wrap="square" lIns="0" tIns="0" rIns="0" bIns="0" anchor="ctr">
            <a:noAutofit/>
          </a:bodyPr>
          <a:lstStyle/>
          <a:p>
            <a:pPr algn="ctr"/>
            <a:r>
              <a:rPr sz="1600" b="1">
                <a:solidFill>
                  <a:srgbClr val="222836"/>
                </a:solidFill>
                <a:latin typeface="Radio Canada"/>
              </a:rPr>
              <a:t>Turn 3</a:t>
            </a:r>
          </a:p>
        </p:txBody>
      </p:sp>
      <p:sp>
        <p:nvSpPr>
          <p:cNvPr id="11" name="TextBox 10"/>
          <p:cNvSpPr txBox="1"/>
          <p:nvPr/>
        </p:nvSpPr>
        <p:spPr>
          <a:xfrm>
            <a:off x="7943850" y="1657350"/>
            <a:ext cx="1714500" cy="279400"/>
          </a:xfrm>
          <a:prstGeom prst="rect">
            <a:avLst/>
          </a:prstGeom>
          <a:noFill/>
        </p:spPr>
        <p:txBody>
          <a:bodyPr wrap="square" lIns="0" tIns="0" rIns="0" bIns="0" anchor="ctr">
            <a:noAutofit/>
          </a:bodyPr>
          <a:lstStyle/>
          <a:p>
            <a:pPr algn="ctr"/>
            <a:r>
              <a:rPr sz="1600" b="1">
                <a:solidFill>
                  <a:srgbClr val="222836"/>
                </a:solidFill>
                <a:latin typeface="Radio Canada"/>
              </a:rPr>
              <a:t>Turn 4</a:t>
            </a:r>
          </a:p>
        </p:txBody>
      </p:sp>
      <p:sp>
        <p:nvSpPr>
          <p:cNvPr id="12" name="TextBox 11"/>
          <p:cNvSpPr txBox="1"/>
          <p:nvPr/>
        </p:nvSpPr>
        <p:spPr>
          <a:xfrm>
            <a:off x="9785350" y="1657350"/>
            <a:ext cx="1638300" cy="279400"/>
          </a:xfrm>
          <a:prstGeom prst="rect">
            <a:avLst/>
          </a:prstGeom>
          <a:noFill/>
        </p:spPr>
        <p:txBody>
          <a:bodyPr wrap="square" lIns="0" tIns="0" rIns="0" bIns="0" anchor="ctr">
            <a:noAutofit/>
          </a:bodyPr>
          <a:lstStyle/>
          <a:p>
            <a:pPr algn="ctr"/>
            <a:r>
              <a:rPr sz="1600" b="1">
                <a:solidFill>
                  <a:srgbClr val="222836"/>
                </a:solidFill>
                <a:latin typeface="Radio Canada"/>
              </a:rPr>
              <a:t>Reward</a:t>
            </a:r>
          </a:p>
        </p:txBody>
      </p:sp>
      <p:sp>
        <p:nvSpPr>
          <p:cNvPr id="13" name="Rectangle 12"/>
          <p:cNvSpPr/>
          <p:nvPr/>
        </p:nvSpPr>
        <p:spPr>
          <a:xfrm>
            <a:off x="768350" y="2038350"/>
            <a:ext cx="1524000" cy="698500"/>
          </a:xfrm>
          <a:prstGeom prst="rect">
            <a:avLst/>
          </a:prstGeom>
          <a:solidFill>
            <a:srgbClr val="FFFFFF"/>
          </a:solidFill>
          <a:ln>
            <a:noFill/>
          </a:ln>
        </p:spPr>
        <p:txBody>
          <a:bodyPr rtlCol="0" anchor="ctr"/>
          <a:lstStyle/>
          <a:p>
            <a:pPr algn="ctr"/>
            <a:endParaRPr/>
          </a:p>
        </p:txBody>
      </p:sp>
      <p:sp>
        <p:nvSpPr>
          <p:cNvPr id="14" name="TextBox 13"/>
          <p:cNvSpPr txBox="1"/>
          <p:nvPr/>
        </p:nvSpPr>
        <p:spPr>
          <a:xfrm>
            <a:off x="831850" y="2038350"/>
            <a:ext cx="1397000" cy="698500"/>
          </a:xfrm>
          <a:prstGeom prst="rect">
            <a:avLst/>
          </a:prstGeom>
          <a:noFill/>
        </p:spPr>
        <p:txBody>
          <a:bodyPr wrap="square" lIns="0" tIns="0" rIns="0" bIns="0" anchor="ctr">
            <a:noAutofit/>
          </a:bodyPr>
          <a:lstStyle/>
          <a:p>
            <a:pPr algn="ctr"/>
            <a:r>
              <a:rPr sz="1800" b="1">
                <a:solidFill>
                  <a:srgbClr val="222836"/>
                </a:solidFill>
                <a:latin typeface="Radio Canada"/>
              </a:rPr>
              <a:t>Perfect</a:t>
            </a:r>
          </a:p>
        </p:txBody>
      </p:sp>
      <p:sp>
        <p:nvSpPr>
          <p:cNvPr id="15" name="Rectangle 14"/>
          <p:cNvSpPr/>
          <p:nvPr/>
        </p:nvSpPr>
        <p:spPr>
          <a:xfrm>
            <a:off x="2419350" y="2133600"/>
            <a:ext cx="1714500" cy="508000"/>
          </a:xfrm>
          <a:prstGeom prst="rect">
            <a:avLst/>
          </a:prstGeom>
          <a:solidFill>
            <a:srgbClr val="F09601"/>
          </a:solidFill>
          <a:ln>
            <a:noFill/>
          </a:ln>
        </p:spPr>
        <p:txBody>
          <a:bodyPr rtlCol="0" anchor="ctr"/>
          <a:lstStyle/>
          <a:p>
            <a:pPr algn="ctr"/>
            <a:endParaRPr/>
          </a:p>
        </p:txBody>
      </p:sp>
      <p:sp>
        <p:nvSpPr>
          <p:cNvPr id="16" name="TextBox 15"/>
          <p:cNvSpPr txBox="1"/>
          <p:nvPr/>
        </p:nvSpPr>
        <p:spPr>
          <a:xfrm>
            <a:off x="2482850" y="2133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outage</a:t>
            </a:r>
          </a:p>
        </p:txBody>
      </p:sp>
      <p:sp>
        <p:nvSpPr>
          <p:cNvPr id="17" name="Rectangle 16"/>
          <p:cNvSpPr/>
          <p:nvPr/>
        </p:nvSpPr>
        <p:spPr>
          <a:xfrm>
            <a:off x="4260850" y="2133600"/>
            <a:ext cx="1714500" cy="508000"/>
          </a:xfrm>
          <a:prstGeom prst="rect">
            <a:avLst/>
          </a:prstGeom>
          <a:solidFill>
            <a:srgbClr val="F09601"/>
          </a:solidFill>
          <a:ln>
            <a:noFill/>
          </a:ln>
        </p:spPr>
        <p:txBody>
          <a:bodyPr rtlCol="0" anchor="ctr"/>
          <a:lstStyle/>
          <a:p>
            <a:pPr algn="ctr"/>
            <a:endParaRPr/>
          </a:p>
        </p:txBody>
      </p:sp>
      <p:sp>
        <p:nvSpPr>
          <p:cNvPr id="18" name="TextBox 17"/>
          <p:cNvSpPr txBox="1"/>
          <p:nvPr/>
        </p:nvSpPr>
        <p:spPr>
          <a:xfrm>
            <a:off x="4324350" y="2133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lights</a:t>
            </a:r>
          </a:p>
        </p:txBody>
      </p:sp>
      <p:sp>
        <p:nvSpPr>
          <p:cNvPr id="19" name="Rectangle 18"/>
          <p:cNvSpPr/>
          <p:nvPr/>
        </p:nvSpPr>
        <p:spPr>
          <a:xfrm>
            <a:off x="6102350" y="2133600"/>
            <a:ext cx="1714500" cy="508000"/>
          </a:xfrm>
          <a:prstGeom prst="rect">
            <a:avLst/>
          </a:prstGeom>
          <a:solidFill>
            <a:srgbClr val="F09601"/>
          </a:solidFill>
          <a:ln>
            <a:noFill/>
          </a:ln>
        </p:spPr>
        <p:txBody>
          <a:bodyPr rtlCol="0" anchor="ctr"/>
          <a:lstStyle/>
          <a:p>
            <a:pPr algn="ctr"/>
            <a:endParaRPr/>
          </a:p>
        </p:txBody>
      </p:sp>
      <p:sp>
        <p:nvSpPr>
          <p:cNvPr id="20" name="TextBox 19"/>
          <p:cNvSpPr txBox="1"/>
          <p:nvPr/>
        </p:nvSpPr>
        <p:spPr>
          <a:xfrm>
            <a:off x="6165850" y="2133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account</a:t>
            </a:r>
          </a:p>
        </p:txBody>
      </p:sp>
      <p:sp>
        <p:nvSpPr>
          <p:cNvPr id="21" name="Rectangle 20"/>
          <p:cNvSpPr/>
          <p:nvPr/>
        </p:nvSpPr>
        <p:spPr>
          <a:xfrm>
            <a:off x="7943850" y="2133600"/>
            <a:ext cx="1714500" cy="508000"/>
          </a:xfrm>
          <a:prstGeom prst="rect">
            <a:avLst/>
          </a:prstGeom>
          <a:solidFill>
            <a:srgbClr val="F09601"/>
          </a:solidFill>
          <a:ln>
            <a:noFill/>
          </a:ln>
        </p:spPr>
        <p:txBody>
          <a:bodyPr rtlCol="0" anchor="ctr"/>
          <a:lstStyle/>
          <a:p>
            <a:pPr algn="ctr"/>
            <a:endParaRPr/>
          </a:p>
        </p:txBody>
      </p:sp>
      <p:sp>
        <p:nvSpPr>
          <p:cNvPr id="22" name="TextBox 21"/>
          <p:cNvSpPr txBox="1"/>
          <p:nvPr/>
        </p:nvSpPr>
        <p:spPr>
          <a:xfrm>
            <a:off x="8007350" y="2133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apply fix</a:t>
            </a:r>
          </a:p>
        </p:txBody>
      </p:sp>
      <p:sp>
        <p:nvSpPr>
          <p:cNvPr id="23" name="Rectangle 22"/>
          <p:cNvSpPr/>
          <p:nvPr/>
        </p:nvSpPr>
        <p:spPr>
          <a:xfrm>
            <a:off x="9785350" y="2038350"/>
            <a:ext cx="1638300" cy="698500"/>
          </a:xfrm>
          <a:prstGeom prst="rect">
            <a:avLst/>
          </a:prstGeom>
          <a:solidFill>
            <a:srgbClr val="FFFFFF"/>
          </a:solidFill>
          <a:ln>
            <a:noFill/>
          </a:ln>
        </p:spPr>
        <p:txBody>
          <a:bodyPr rtlCol="0" anchor="ctr"/>
          <a:lstStyle/>
          <a:p>
            <a:pPr algn="ctr"/>
            <a:endParaRPr/>
          </a:p>
        </p:txBody>
      </p:sp>
      <p:sp>
        <p:nvSpPr>
          <p:cNvPr id="24" name="TextBox 23"/>
          <p:cNvSpPr txBox="1"/>
          <p:nvPr/>
        </p:nvSpPr>
        <p:spPr>
          <a:xfrm>
            <a:off x="9785350" y="2038350"/>
            <a:ext cx="1638300" cy="698500"/>
          </a:xfrm>
          <a:prstGeom prst="rect">
            <a:avLst/>
          </a:prstGeom>
          <a:noFill/>
        </p:spPr>
        <p:txBody>
          <a:bodyPr wrap="square" lIns="0" tIns="0" rIns="0" bIns="0" anchor="ctr">
            <a:noAutofit/>
          </a:bodyPr>
          <a:lstStyle/>
          <a:p>
            <a:pPr algn="ctr"/>
            <a:r>
              <a:rPr sz="3200" b="1">
                <a:solidFill>
                  <a:srgbClr val="F09601"/>
                </a:solidFill>
                <a:latin typeface="Radio Canada"/>
              </a:rPr>
              <a:t>1.00</a:t>
            </a:r>
          </a:p>
        </p:txBody>
      </p:sp>
      <p:sp>
        <p:nvSpPr>
          <p:cNvPr id="25" name="Rectangle 24"/>
          <p:cNvSpPr/>
          <p:nvPr/>
        </p:nvSpPr>
        <p:spPr>
          <a:xfrm>
            <a:off x="768350" y="2863850"/>
            <a:ext cx="1524000" cy="698500"/>
          </a:xfrm>
          <a:prstGeom prst="rect">
            <a:avLst/>
          </a:prstGeom>
          <a:solidFill>
            <a:srgbClr val="FFFFFF"/>
          </a:solidFill>
          <a:ln>
            <a:noFill/>
          </a:ln>
        </p:spPr>
        <p:txBody>
          <a:bodyPr rtlCol="0" anchor="ctr"/>
          <a:lstStyle/>
          <a:p>
            <a:pPr algn="ctr"/>
            <a:endParaRPr/>
          </a:p>
        </p:txBody>
      </p:sp>
      <p:sp>
        <p:nvSpPr>
          <p:cNvPr id="26" name="TextBox 25"/>
          <p:cNvSpPr txBox="1"/>
          <p:nvPr/>
        </p:nvSpPr>
        <p:spPr>
          <a:xfrm>
            <a:off x="831850" y="2863850"/>
            <a:ext cx="1397000" cy="698500"/>
          </a:xfrm>
          <a:prstGeom prst="rect">
            <a:avLst/>
          </a:prstGeom>
          <a:noFill/>
        </p:spPr>
        <p:txBody>
          <a:bodyPr wrap="square" lIns="0" tIns="0" rIns="0" bIns="0" anchor="ctr">
            <a:noAutofit/>
          </a:bodyPr>
          <a:lstStyle/>
          <a:p>
            <a:pPr algn="ctr"/>
            <a:r>
              <a:rPr sz="1800" b="1">
                <a:solidFill>
                  <a:srgbClr val="222836"/>
                </a:solidFill>
                <a:latin typeface="Radio Canada"/>
              </a:rPr>
              <a:t>One slip</a:t>
            </a:r>
          </a:p>
        </p:txBody>
      </p:sp>
      <p:sp>
        <p:nvSpPr>
          <p:cNvPr id="27" name="Rectangle 26"/>
          <p:cNvSpPr/>
          <p:nvPr/>
        </p:nvSpPr>
        <p:spPr>
          <a:xfrm>
            <a:off x="2419350" y="2959100"/>
            <a:ext cx="1714500" cy="508000"/>
          </a:xfrm>
          <a:prstGeom prst="rect">
            <a:avLst/>
          </a:prstGeom>
          <a:solidFill>
            <a:srgbClr val="D3D7E3"/>
          </a:solidFill>
          <a:ln>
            <a:noFill/>
          </a:ln>
        </p:spPr>
        <p:txBody>
          <a:bodyPr rtlCol="0" anchor="ctr"/>
          <a:lstStyle/>
          <a:p>
            <a:pPr algn="ctr"/>
            <a:endParaRPr/>
          </a:p>
        </p:txBody>
      </p:sp>
      <p:sp>
        <p:nvSpPr>
          <p:cNvPr id="28" name="TextBox 27"/>
          <p:cNvSpPr txBox="1"/>
          <p:nvPr/>
        </p:nvSpPr>
        <p:spPr>
          <a:xfrm>
            <a:off x="2482850" y="29591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 restart router</a:t>
            </a:r>
          </a:p>
        </p:txBody>
      </p:sp>
      <p:sp>
        <p:nvSpPr>
          <p:cNvPr id="29" name="Rectangle 28"/>
          <p:cNvSpPr/>
          <p:nvPr/>
        </p:nvSpPr>
        <p:spPr>
          <a:xfrm>
            <a:off x="4260850" y="2959100"/>
            <a:ext cx="1714500" cy="508000"/>
          </a:xfrm>
          <a:prstGeom prst="rect">
            <a:avLst/>
          </a:prstGeom>
          <a:solidFill>
            <a:srgbClr val="F09601"/>
          </a:solidFill>
          <a:ln>
            <a:noFill/>
          </a:ln>
        </p:spPr>
        <p:txBody>
          <a:bodyPr rtlCol="0" anchor="ctr"/>
          <a:lstStyle/>
          <a:p>
            <a:pPr algn="ctr"/>
            <a:endParaRPr/>
          </a:p>
        </p:txBody>
      </p:sp>
      <p:sp>
        <p:nvSpPr>
          <p:cNvPr id="30" name="TextBox 29"/>
          <p:cNvSpPr txBox="1"/>
          <p:nvPr/>
        </p:nvSpPr>
        <p:spPr>
          <a:xfrm>
            <a:off x="4324350" y="29591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outage</a:t>
            </a:r>
          </a:p>
        </p:txBody>
      </p:sp>
      <p:sp>
        <p:nvSpPr>
          <p:cNvPr id="31" name="Rectangle 30"/>
          <p:cNvSpPr/>
          <p:nvPr/>
        </p:nvSpPr>
        <p:spPr>
          <a:xfrm>
            <a:off x="6102350" y="2959100"/>
            <a:ext cx="1714500" cy="508000"/>
          </a:xfrm>
          <a:prstGeom prst="rect">
            <a:avLst/>
          </a:prstGeom>
          <a:solidFill>
            <a:srgbClr val="F09601"/>
          </a:solidFill>
          <a:ln>
            <a:noFill/>
          </a:ln>
        </p:spPr>
        <p:txBody>
          <a:bodyPr rtlCol="0" anchor="ctr"/>
          <a:lstStyle/>
          <a:p>
            <a:pPr algn="ctr"/>
            <a:endParaRPr/>
          </a:p>
        </p:txBody>
      </p:sp>
      <p:sp>
        <p:nvSpPr>
          <p:cNvPr id="32" name="TextBox 31"/>
          <p:cNvSpPr txBox="1"/>
          <p:nvPr/>
        </p:nvSpPr>
        <p:spPr>
          <a:xfrm>
            <a:off x="6165850" y="29591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lights</a:t>
            </a:r>
          </a:p>
        </p:txBody>
      </p:sp>
      <p:sp>
        <p:nvSpPr>
          <p:cNvPr id="33" name="Rectangle 32"/>
          <p:cNvSpPr/>
          <p:nvPr/>
        </p:nvSpPr>
        <p:spPr>
          <a:xfrm>
            <a:off x="7943850" y="2959100"/>
            <a:ext cx="1714500" cy="508000"/>
          </a:xfrm>
          <a:prstGeom prst="rect">
            <a:avLst/>
          </a:prstGeom>
          <a:solidFill>
            <a:srgbClr val="F09601"/>
          </a:solidFill>
          <a:ln>
            <a:noFill/>
          </a:ln>
        </p:spPr>
        <p:txBody>
          <a:bodyPr rtlCol="0" anchor="ctr"/>
          <a:lstStyle/>
          <a:p>
            <a:pPr algn="ctr"/>
            <a:endParaRPr/>
          </a:p>
        </p:txBody>
      </p:sp>
      <p:sp>
        <p:nvSpPr>
          <p:cNvPr id="34" name="TextBox 33"/>
          <p:cNvSpPr txBox="1"/>
          <p:nvPr/>
        </p:nvSpPr>
        <p:spPr>
          <a:xfrm>
            <a:off x="8007350" y="29591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account</a:t>
            </a:r>
          </a:p>
        </p:txBody>
      </p:sp>
      <p:sp>
        <p:nvSpPr>
          <p:cNvPr id="35" name="Rectangle 34"/>
          <p:cNvSpPr/>
          <p:nvPr/>
        </p:nvSpPr>
        <p:spPr>
          <a:xfrm>
            <a:off x="9785350" y="2863850"/>
            <a:ext cx="1638300" cy="698500"/>
          </a:xfrm>
          <a:prstGeom prst="rect">
            <a:avLst/>
          </a:prstGeom>
          <a:solidFill>
            <a:srgbClr val="FFFFFF"/>
          </a:solidFill>
          <a:ln>
            <a:noFill/>
          </a:ln>
        </p:spPr>
        <p:txBody>
          <a:bodyPr rtlCol="0" anchor="ctr"/>
          <a:lstStyle/>
          <a:p>
            <a:pPr algn="ctr"/>
            <a:endParaRPr/>
          </a:p>
        </p:txBody>
      </p:sp>
      <p:sp>
        <p:nvSpPr>
          <p:cNvPr id="36" name="TextBox 35"/>
          <p:cNvSpPr txBox="1"/>
          <p:nvPr/>
        </p:nvSpPr>
        <p:spPr>
          <a:xfrm>
            <a:off x="9785350" y="2863850"/>
            <a:ext cx="1638300" cy="698500"/>
          </a:xfrm>
          <a:prstGeom prst="rect">
            <a:avLst/>
          </a:prstGeom>
          <a:noFill/>
        </p:spPr>
        <p:txBody>
          <a:bodyPr wrap="square" lIns="0" tIns="0" rIns="0" bIns="0" anchor="ctr">
            <a:noAutofit/>
          </a:bodyPr>
          <a:lstStyle/>
          <a:p>
            <a:pPr algn="ctr"/>
            <a:r>
              <a:rPr sz="3200" b="1">
                <a:solidFill>
                  <a:srgbClr val="222836"/>
                </a:solidFill>
                <a:latin typeface="Radio Canada"/>
              </a:rPr>
              <a:t>0.75</a:t>
            </a:r>
          </a:p>
        </p:txBody>
      </p:sp>
      <p:sp>
        <p:nvSpPr>
          <p:cNvPr id="37" name="Rectangle 36"/>
          <p:cNvSpPr/>
          <p:nvPr/>
        </p:nvSpPr>
        <p:spPr>
          <a:xfrm>
            <a:off x="768350" y="3689350"/>
            <a:ext cx="1524000" cy="698500"/>
          </a:xfrm>
          <a:prstGeom prst="rect">
            <a:avLst/>
          </a:prstGeom>
          <a:solidFill>
            <a:srgbClr val="FFFFFF"/>
          </a:solidFill>
          <a:ln>
            <a:noFill/>
          </a:ln>
        </p:spPr>
        <p:txBody>
          <a:bodyPr rtlCol="0" anchor="ctr"/>
          <a:lstStyle/>
          <a:p>
            <a:pPr algn="ctr"/>
            <a:endParaRPr/>
          </a:p>
        </p:txBody>
      </p:sp>
      <p:sp>
        <p:nvSpPr>
          <p:cNvPr id="38" name="TextBox 37"/>
          <p:cNvSpPr txBox="1"/>
          <p:nvPr/>
        </p:nvSpPr>
        <p:spPr>
          <a:xfrm>
            <a:off x="831850" y="3689350"/>
            <a:ext cx="1397000" cy="698500"/>
          </a:xfrm>
          <a:prstGeom prst="rect">
            <a:avLst/>
          </a:prstGeom>
          <a:noFill/>
        </p:spPr>
        <p:txBody>
          <a:bodyPr wrap="square" lIns="0" tIns="0" rIns="0" bIns="0" anchor="ctr">
            <a:noAutofit/>
          </a:bodyPr>
          <a:lstStyle/>
          <a:p>
            <a:pPr algn="ctr"/>
            <a:r>
              <a:rPr sz="1800" b="1">
                <a:solidFill>
                  <a:srgbClr val="222836"/>
                </a:solidFill>
                <a:latin typeface="Radio Canada"/>
              </a:rPr>
              <a:t>Two slips</a:t>
            </a:r>
          </a:p>
        </p:txBody>
      </p:sp>
      <p:sp>
        <p:nvSpPr>
          <p:cNvPr id="39" name="Rectangle 38"/>
          <p:cNvSpPr/>
          <p:nvPr/>
        </p:nvSpPr>
        <p:spPr>
          <a:xfrm>
            <a:off x="2419350" y="3784600"/>
            <a:ext cx="1714500" cy="508000"/>
          </a:xfrm>
          <a:prstGeom prst="rect">
            <a:avLst/>
          </a:prstGeom>
          <a:solidFill>
            <a:srgbClr val="D3D7E3"/>
          </a:solidFill>
          <a:ln>
            <a:noFill/>
          </a:ln>
        </p:spPr>
        <p:txBody>
          <a:bodyPr rtlCol="0" anchor="ctr"/>
          <a:lstStyle/>
          <a:p>
            <a:pPr algn="ctr"/>
            <a:endParaRPr/>
          </a:p>
        </p:txBody>
      </p:sp>
      <p:sp>
        <p:nvSpPr>
          <p:cNvPr id="40" name="TextBox 39"/>
          <p:cNvSpPr txBox="1"/>
          <p:nvPr/>
        </p:nvSpPr>
        <p:spPr>
          <a:xfrm>
            <a:off x="2482850" y="3784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 restart router</a:t>
            </a:r>
          </a:p>
        </p:txBody>
      </p:sp>
      <p:sp>
        <p:nvSpPr>
          <p:cNvPr id="41" name="Rectangle 40"/>
          <p:cNvSpPr/>
          <p:nvPr/>
        </p:nvSpPr>
        <p:spPr>
          <a:xfrm>
            <a:off x="4260850" y="3784600"/>
            <a:ext cx="1714500" cy="508000"/>
          </a:xfrm>
          <a:prstGeom prst="rect">
            <a:avLst/>
          </a:prstGeom>
          <a:solidFill>
            <a:srgbClr val="D3D7E3"/>
          </a:solidFill>
          <a:ln>
            <a:noFill/>
          </a:ln>
        </p:spPr>
        <p:txBody>
          <a:bodyPr rtlCol="0" anchor="ctr"/>
          <a:lstStyle/>
          <a:p>
            <a:pPr algn="ctr"/>
            <a:endParaRPr/>
          </a:p>
        </p:txBody>
      </p:sp>
      <p:sp>
        <p:nvSpPr>
          <p:cNvPr id="42" name="TextBox 41"/>
          <p:cNvSpPr txBox="1"/>
          <p:nvPr/>
        </p:nvSpPr>
        <p:spPr>
          <a:xfrm>
            <a:off x="4324350" y="3784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 close ticket</a:t>
            </a:r>
          </a:p>
        </p:txBody>
      </p:sp>
      <p:sp>
        <p:nvSpPr>
          <p:cNvPr id="43" name="Rectangle 42"/>
          <p:cNvSpPr/>
          <p:nvPr/>
        </p:nvSpPr>
        <p:spPr>
          <a:xfrm>
            <a:off x="6102350" y="3784600"/>
            <a:ext cx="1714500" cy="508000"/>
          </a:xfrm>
          <a:prstGeom prst="rect">
            <a:avLst/>
          </a:prstGeom>
          <a:solidFill>
            <a:srgbClr val="F09601"/>
          </a:solidFill>
          <a:ln>
            <a:noFill/>
          </a:ln>
        </p:spPr>
        <p:txBody>
          <a:bodyPr rtlCol="0" anchor="ctr"/>
          <a:lstStyle/>
          <a:p>
            <a:pPr algn="ctr"/>
            <a:endParaRPr/>
          </a:p>
        </p:txBody>
      </p:sp>
      <p:sp>
        <p:nvSpPr>
          <p:cNvPr id="44" name="TextBox 43"/>
          <p:cNvSpPr txBox="1"/>
          <p:nvPr/>
        </p:nvSpPr>
        <p:spPr>
          <a:xfrm>
            <a:off x="6165850" y="3784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outage</a:t>
            </a:r>
          </a:p>
        </p:txBody>
      </p:sp>
      <p:sp>
        <p:nvSpPr>
          <p:cNvPr id="45" name="Rectangle 44"/>
          <p:cNvSpPr/>
          <p:nvPr/>
        </p:nvSpPr>
        <p:spPr>
          <a:xfrm>
            <a:off x="7943850" y="3784600"/>
            <a:ext cx="1714500" cy="508000"/>
          </a:xfrm>
          <a:prstGeom prst="rect">
            <a:avLst/>
          </a:prstGeom>
          <a:solidFill>
            <a:srgbClr val="F09601"/>
          </a:solidFill>
          <a:ln>
            <a:noFill/>
          </a:ln>
        </p:spPr>
        <p:txBody>
          <a:bodyPr rtlCol="0" anchor="ctr"/>
          <a:lstStyle/>
          <a:p>
            <a:pPr algn="ctr"/>
            <a:endParaRPr/>
          </a:p>
        </p:txBody>
      </p:sp>
      <p:sp>
        <p:nvSpPr>
          <p:cNvPr id="46" name="TextBox 45"/>
          <p:cNvSpPr txBox="1"/>
          <p:nvPr/>
        </p:nvSpPr>
        <p:spPr>
          <a:xfrm>
            <a:off x="8007350" y="3784600"/>
            <a:ext cx="1587500" cy="508000"/>
          </a:xfrm>
          <a:prstGeom prst="rect">
            <a:avLst/>
          </a:prstGeom>
          <a:noFill/>
        </p:spPr>
        <p:txBody>
          <a:bodyPr wrap="square" lIns="0" tIns="0" rIns="0" bIns="0" anchor="ctr">
            <a:noAutofit/>
          </a:bodyPr>
          <a:lstStyle/>
          <a:p>
            <a:pPr algn="ctr"/>
            <a:r>
              <a:rPr sz="1600" b="1">
                <a:solidFill>
                  <a:srgbClr val="222836"/>
                </a:solidFill>
                <a:latin typeface="Radio Canada"/>
              </a:rPr>
              <a:t>check lights</a:t>
            </a:r>
          </a:p>
        </p:txBody>
      </p:sp>
      <p:sp>
        <p:nvSpPr>
          <p:cNvPr id="47" name="Rectangle 46"/>
          <p:cNvSpPr/>
          <p:nvPr/>
        </p:nvSpPr>
        <p:spPr>
          <a:xfrm>
            <a:off x="9785350" y="3689350"/>
            <a:ext cx="1638300" cy="698500"/>
          </a:xfrm>
          <a:prstGeom prst="rect">
            <a:avLst/>
          </a:prstGeom>
          <a:solidFill>
            <a:srgbClr val="FFFFFF"/>
          </a:solidFill>
          <a:ln>
            <a:noFill/>
          </a:ln>
        </p:spPr>
        <p:txBody>
          <a:bodyPr rtlCol="0" anchor="ctr"/>
          <a:lstStyle/>
          <a:p>
            <a:pPr algn="ctr"/>
            <a:endParaRPr/>
          </a:p>
        </p:txBody>
      </p:sp>
      <p:sp>
        <p:nvSpPr>
          <p:cNvPr id="48" name="TextBox 47"/>
          <p:cNvSpPr txBox="1"/>
          <p:nvPr/>
        </p:nvSpPr>
        <p:spPr>
          <a:xfrm>
            <a:off x="9785350" y="3689350"/>
            <a:ext cx="1638300" cy="698500"/>
          </a:xfrm>
          <a:prstGeom prst="rect">
            <a:avLst/>
          </a:prstGeom>
          <a:noFill/>
        </p:spPr>
        <p:txBody>
          <a:bodyPr wrap="square" lIns="0" tIns="0" rIns="0" bIns="0" anchor="ctr">
            <a:noAutofit/>
          </a:bodyPr>
          <a:lstStyle/>
          <a:p>
            <a:pPr algn="ctr"/>
            <a:r>
              <a:rPr sz="3200" b="1">
                <a:solidFill>
                  <a:srgbClr val="222836"/>
                </a:solidFill>
                <a:latin typeface="Radio Canada"/>
              </a:rPr>
              <a:t>0.50</a:t>
            </a:r>
          </a:p>
        </p:txBody>
      </p:sp>
      <p:sp>
        <p:nvSpPr>
          <p:cNvPr id="49" name="Rectangle 48"/>
          <p:cNvSpPr/>
          <p:nvPr/>
        </p:nvSpPr>
        <p:spPr>
          <a:xfrm>
            <a:off x="768350" y="4578350"/>
            <a:ext cx="10655300" cy="749300"/>
          </a:xfrm>
          <a:prstGeom prst="rect">
            <a:avLst/>
          </a:prstGeom>
          <a:solidFill>
            <a:srgbClr val="FFFFFF"/>
          </a:solidFill>
          <a:ln>
            <a:noFill/>
          </a:ln>
        </p:spPr>
        <p:txBody>
          <a:bodyPr rtlCol="0" anchor="ctr"/>
          <a:lstStyle/>
          <a:p>
            <a:pPr algn="ctr"/>
            <a:endParaRPr/>
          </a:p>
        </p:txBody>
      </p:sp>
      <p:sp>
        <p:nvSpPr>
          <p:cNvPr id="50" name="TextBox 49"/>
          <p:cNvSpPr txBox="1"/>
          <p:nvPr/>
        </p:nvSpPr>
        <p:spPr>
          <a:xfrm>
            <a:off x="958850" y="4578350"/>
            <a:ext cx="10274300" cy="749300"/>
          </a:xfrm>
          <a:prstGeom prst="rect">
            <a:avLst/>
          </a:prstGeom>
          <a:noFill/>
        </p:spPr>
        <p:txBody>
          <a:bodyPr wrap="square" lIns="0" tIns="0" rIns="0" bIns="0" anchor="ctr">
            <a:noAutofit/>
          </a:bodyPr>
          <a:lstStyle/>
          <a:p>
            <a:pPr algn="ctr"/>
            <a:r>
              <a:rPr sz="1800" b="0">
                <a:solidFill>
                  <a:srgbClr val="222836"/>
                </a:solidFill>
                <a:latin typeface="Radio Canada"/>
              </a:rPr>
              <a:t>0.25 for each correct step · 1.0 only when solved · a wrong move scores nothing and uses a turn</a:t>
            </a:r>
          </a:p>
        </p:txBody>
      </p:sp>
      <p:sp>
        <p:nvSpPr>
          <p:cNvPr id="51" name="Rectangle 50"/>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reward = </a:t>
            </a:r>
            <a:r>
              <a:rPr sz="2100" b="0">
                <a:solidFill>
                  <a:srgbClr val="F09601"/>
                </a:solidFill>
                <a:latin typeface="Radio Canada"/>
              </a:rPr>
              <a:t>correct steps ÷ 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6. How it learns from 4 tries</a:t>
            </a:r>
            <a:endParaRPr lang="en-US" sz="3000" dirty="0"/>
          </a:p>
        </p:txBody>
      </p:sp>
      <p:sp>
        <p:nvSpPr>
          <p:cNvPr id="8" name="Rectangle 7"/>
          <p:cNvSpPr/>
          <p:nvPr/>
        </p:nvSpPr>
        <p:spPr>
          <a:xfrm>
            <a:off x="768350" y="1657350"/>
            <a:ext cx="2286000" cy="1905000"/>
          </a:xfrm>
          <a:prstGeom prst="rect">
            <a:avLst/>
          </a:prstGeom>
          <a:solidFill>
            <a:srgbClr val="FFFFFF"/>
          </a:solidFill>
          <a:ln>
            <a:noFill/>
          </a:ln>
        </p:spPr>
        <p:txBody>
          <a:bodyPr rtlCol="0" anchor="ctr"/>
          <a:lstStyle/>
          <a:p>
            <a:pPr algn="ctr"/>
            <a:endParaRPr/>
          </a:p>
        </p:txBody>
      </p:sp>
      <p:sp>
        <p:nvSpPr>
          <p:cNvPr id="9" name="TextBox 8"/>
          <p:cNvSpPr txBox="1"/>
          <p:nvPr/>
        </p:nvSpPr>
        <p:spPr>
          <a:xfrm>
            <a:off x="768350" y="1784350"/>
            <a:ext cx="2286000" cy="317500"/>
          </a:xfrm>
          <a:prstGeom prst="rect">
            <a:avLst/>
          </a:prstGeom>
          <a:noFill/>
        </p:spPr>
        <p:txBody>
          <a:bodyPr wrap="square" lIns="0" tIns="0" rIns="0" bIns="0" anchor="ctr">
            <a:noAutofit/>
          </a:bodyPr>
          <a:lstStyle/>
          <a:p>
            <a:pPr algn="ctr"/>
            <a:r>
              <a:rPr sz="1800" b="1">
                <a:solidFill>
                  <a:srgbClr val="222836"/>
                </a:solidFill>
                <a:latin typeface="Radio Canada"/>
              </a:rPr>
              <a:t>Try A</a:t>
            </a:r>
          </a:p>
        </p:txBody>
      </p:sp>
      <p:sp>
        <p:nvSpPr>
          <p:cNvPr id="10" name="TextBox 9"/>
          <p:cNvSpPr txBox="1"/>
          <p:nvPr/>
        </p:nvSpPr>
        <p:spPr>
          <a:xfrm>
            <a:off x="768350" y="2133600"/>
            <a:ext cx="2286000" cy="571500"/>
          </a:xfrm>
          <a:prstGeom prst="rect">
            <a:avLst/>
          </a:prstGeom>
          <a:noFill/>
        </p:spPr>
        <p:txBody>
          <a:bodyPr wrap="square" lIns="0" tIns="0" rIns="0" bIns="0" anchor="ctr">
            <a:noAutofit/>
          </a:bodyPr>
          <a:lstStyle/>
          <a:p>
            <a:pPr algn="ctr"/>
            <a:r>
              <a:rPr sz="4400" b="1">
                <a:solidFill>
                  <a:srgbClr val="F09601"/>
                </a:solidFill>
                <a:latin typeface="Radio Canada"/>
              </a:rPr>
              <a:t>1.00</a:t>
            </a:r>
          </a:p>
        </p:txBody>
      </p:sp>
      <p:sp>
        <p:nvSpPr>
          <p:cNvPr id="11" name="Isosceles Triangle 10"/>
          <p:cNvSpPr/>
          <p:nvPr/>
        </p:nvSpPr>
        <p:spPr>
          <a:xfrm>
            <a:off x="1720850" y="2832100"/>
            <a:ext cx="381000" cy="317500"/>
          </a:xfrm>
          <a:prstGeom prst="triangle">
            <a:avLst/>
          </a:prstGeom>
          <a:solidFill>
            <a:srgbClr val="F09601"/>
          </a:solidFill>
          <a:ln>
            <a:noFill/>
          </a:ln>
        </p:spPr>
        <p:txBody>
          <a:bodyPr rtlCol="0" anchor="ctr"/>
          <a:lstStyle/>
          <a:p>
            <a:pPr algn="ctr"/>
            <a:endParaRPr/>
          </a:p>
        </p:txBody>
      </p:sp>
      <p:sp>
        <p:nvSpPr>
          <p:cNvPr id="12" name="TextBox 11"/>
          <p:cNvSpPr txBox="1"/>
          <p:nvPr/>
        </p:nvSpPr>
        <p:spPr>
          <a:xfrm>
            <a:off x="768350" y="3213100"/>
            <a:ext cx="2286000" cy="254000"/>
          </a:xfrm>
          <a:prstGeom prst="rect">
            <a:avLst/>
          </a:prstGeom>
          <a:noFill/>
        </p:spPr>
        <p:txBody>
          <a:bodyPr wrap="square" lIns="0" tIns="0" rIns="0" bIns="0" anchor="ctr">
            <a:noAutofit/>
          </a:bodyPr>
          <a:lstStyle/>
          <a:p>
            <a:pPr algn="ctr"/>
            <a:r>
              <a:rPr sz="1600" b="1">
                <a:solidFill>
                  <a:srgbClr val="F09601"/>
                </a:solidFill>
                <a:latin typeface="Radio Canada"/>
              </a:rPr>
              <a:t>more likely</a:t>
            </a:r>
          </a:p>
        </p:txBody>
      </p:sp>
      <p:sp>
        <p:nvSpPr>
          <p:cNvPr id="13" name="Rectangle 12"/>
          <p:cNvSpPr/>
          <p:nvPr/>
        </p:nvSpPr>
        <p:spPr>
          <a:xfrm>
            <a:off x="3556000" y="1657350"/>
            <a:ext cx="2286000" cy="1905000"/>
          </a:xfrm>
          <a:prstGeom prst="rect">
            <a:avLst/>
          </a:prstGeom>
          <a:solidFill>
            <a:srgbClr val="FFFFFF"/>
          </a:solidFill>
          <a:ln>
            <a:noFill/>
          </a:ln>
        </p:spPr>
        <p:txBody>
          <a:bodyPr rtlCol="0" anchor="ctr"/>
          <a:lstStyle/>
          <a:p>
            <a:pPr algn="ctr"/>
            <a:endParaRPr/>
          </a:p>
        </p:txBody>
      </p:sp>
      <p:sp>
        <p:nvSpPr>
          <p:cNvPr id="14" name="TextBox 13"/>
          <p:cNvSpPr txBox="1"/>
          <p:nvPr/>
        </p:nvSpPr>
        <p:spPr>
          <a:xfrm>
            <a:off x="3556000" y="1784350"/>
            <a:ext cx="2286000" cy="317500"/>
          </a:xfrm>
          <a:prstGeom prst="rect">
            <a:avLst/>
          </a:prstGeom>
          <a:noFill/>
        </p:spPr>
        <p:txBody>
          <a:bodyPr wrap="square" lIns="0" tIns="0" rIns="0" bIns="0" anchor="ctr">
            <a:noAutofit/>
          </a:bodyPr>
          <a:lstStyle/>
          <a:p>
            <a:pPr algn="ctr"/>
            <a:r>
              <a:rPr sz="1800" b="1">
                <a:solidFill>
                  <a:srgbClr val="222836"/>
                </a:solidFill>
                <a:latin typeface="Radio Canada"/>
              </a:rPr>
              <a:t>Try B</a:t>
            </a:r>
          </a:p>
        </p:txBody>
      </p:sp>
      <p:sp>
        <p:nvSpPr>
          <p:cNvPr id="15" name="TextBox 14"/>
          <p:cNvSpPr txBox="1"/>
          <p:nvPr/>
        </p:nvSpPr>
        <p:spPr>
          <a:xfrm>
            <a:off x="3556000" y="2133600"/>
            <a:ext cx="2286000" cy="571500"/>
          </a:xfrm>
          <a:prstGeom prst="rect">
            <a:avLst/>
          </a:prstGeom>
          <a:noFill/>
        </p:spPr>
        <p:txBody>
          <a:bodyPr wrap="square" lIns="0" tIns="0" rIns="0" bIns="0" anchor="ctr">
            <a:noAutofit/>
          </a:bodyPr>
          <a:lstStyle/>
          <a:p>
            <a:pPr algn="ctr"/>
            <a:r>
              <a:rPr sz="4400" b="1">
                <a:solidFill>
                  <a:srgbClr val="9E9E9E"/>
                </a:solidFill>
                <a:latin typeface="Radio Canada"/>
              </a:rPr>
              <a:t>0.75</a:t>
            </a:r>
          </a:p>
        </p:txBody>
      </p:sp>
      <p:sp>
        <p:nvSpPr>
          <p:cNvPr id="16" name="Isosceles Triangle 15"/>
          <p:cNvSpPr/>
          <p:nvPr/>
        </p:nvSpPr>
        <p:spPr>
          <a:xfrm rot="10800000">
            <a:off x="4508500" y="2832100"/>
            <a:ext cx="381000" cy="317500"/>
          </a:xfrm>
          <a:prstGeom prst="triangle">
            <a:avLst/>
          </a:prstGeom>
          <a:solidFill>
            <a:srgbClr val="9E9E9E"/>
          </a:solidFill>
          <a:ln>
            <a:noFill/>
          </a:ln>
        </p:spPr>
        <p:txBody>
          <a:bodyPr rtlCol="0" anchor="ctr"/>
          <a:lstStyle/>
          <a:p>
            <a:pPr algn="ctr"/>
            <a:endParaRPr/>
          </a:p>
        </p:txBody>
      </p:sp>
      <p:sp>
        <p:nvSpPr>
          <p:cNvPr id="17" name="TextBox 16"/>
          <p:cNvSpPr txBox="1"/>
          <p:nvPr/>
        </p:nvSpPr>
        <p:spPr>
          <a:xfrm>
            <a:off x="3556000" y="3213100"/>
            <a:ext cx="2286000" cy="254000"/>
          </a:xfrm>
          <a:prstGeom prst="rect">
            <a:avLst/>
          </a:prstGeom>
          <a:noFill/>
        </p:spPr>
        <p:txBody>
          <a:bodyPr wrap="square" lIns="0" tIns="0" rIns="0" bIns="0" anchor="ctr">
            <a:noAutofit/>
          </a:bodyPr>
          <a:lstStyle/>
          <a:p>
            <a:pPr algn="ctr"/>
            <a:r>
              <a:rPr sz="1600" b="1">
                <a:solidFill>
                  <a:srgbClr val="9E9E9E"/>
                </a:solidFill>
                <a:latin typeface="Radio Canada"/>
              </a:rPr>
              <a:t>less likely</a:t>
            </a:r>
          </a:p>
        </p:txBody>
      </p:sp>
      <p:sp>
        <p:nvSpPr>
          <p:cNvPr id="18" name="Rectangle 17"/>
          <p:cNvSpPr/>
          <p:nvPr/>
        </p:nvSpPr>
        <p:spPr>
          <a:xfrm>
            <a:off x="6343650" y="1657350"/>
            <a:ext cx="2286000" cy="1905000"/>
          </a:xfrm>
          <a:prstGeom prst="rect">
            <a:avLst/>
          </a:prstGeom>
          <a:solidFill>
            <a:srgbClr val="FFFFFF"/>
          </a:solidFill>
          <a:ln>
            <a:noFill/>
          </a:ln>
        </p:spPr>
        <p:txBody>
          <a:bodyPr rtlCol="0" anchor="ctr"/>
          <a:lstStyle/>
          <a:p>
            <a:pPr algn="ctr"/>
            <a:endParaRPr/>
          </a:p>
        </p:txBody>
      </p:sp>
      <p:sp>
        <p:nvSpPr>
          <p:cNvPr id="19" name="TextBox 18"/>
          <p:cNvSpPr txBox="1"/>
          <p:nvPr/>
        </p:nvSpPr>
        <p:spPr>
          <a:xfrm>
            <a:off x="6343650" y="1784350"/>
            <a:ext cx="2286000" cy="317500"/>
          </a:xfrm>
          <a:prstGeom prst="rect">
            <a:avLst/>
          </a:prstGeom>
          <a:noFill/>
        </p:spPr>
        <p:txBody>
          <a:bodyPr wrap="square" lIns="0" tIns="0" rIns="0" bIns="0" anchor="ctr">
            <a:noAutofit/>
          </a:bodyPr>
          <a:lstStyle/>
          <a:p>
            <a:pPr algn="ctr"/>
            <a:r>
              <a:rPr sz="1800" b="1">
                <a:solidFill>
                  <a:srgbClr val="222836"/>
                </a:solidFill>
                <a:latin typeface="Radio Canada"/>
              </a:rPr>
              <a:t>Try C</a:t>
            </a:r>
          </a:p>
        </p:txBody>
      </p:sp>
      <p:sp>
        <p:nvSpPr>
          <p:cNvPr id="20" name="TextBox 19"/>
          <p:cNvSpPr txBox="1"/>
          <p:nvPr/>
        </p:nvSpPr>
        <p:spPr>
          <a:xfrm>
            <a:off x="6343650" y="2133600"/>
            <a:ext cx="2286000" cy="571500"/>
          </a:xfrm>
          <a:prstGeom prst="rect">
            <a:avLst/>
          </a:prstGeom>
          <a:noFill/>
        </p:spPr>
        <p:txBody>
          <a:bodyPr wrap="square" lIns="0" tIns="0" rIns="0" bIns="0" anchor="ctr">
            <a:noAutofit/>
          </a:bodyPr>
          <a:lstStyle/>
          <a:p>
            <a:pPr algn="ctr"/>
            <a:r>
              <a:rPr sz="4400" b="1">
                <a:solidFill>
                  <a:srgbClr val="F09601"/>
                </a:solidFill>
                <a:latin typeface="Radio Canada"/>
              </a:rPr>
              <a:t>1.00</a:t>
            </a:r>
          </a:p>
        </p:txBody>
      </p:sp>
      <p:sp>
        <p:nvSpPr>
          <p:cNvPr id="21" name="Isosceles Triangle 20"/>
          <p:cNvSpPr/>
          <p:nvPr/>
        </p:nvSpPr>
        <p:spPr>
          <a:xfrm>
            <a:off x="7296150" y="2832100"/>
            <a:ext cx="381000" cy="317500"/>
          </a:xfrm>
          <a:prstGeom prst="triangle">
            <a:avLst/>
          </a:prstGeom>
          <a:solidFill>
            <a:srgbClr val="F09601"/>
          </a:solidFill>
          <a:ln>
            <a:noFill/>
          </a:ln>
        </p:spPr>
        <p:txBody>
          <a:bodyPr rtlCol="0" anchor="ctr"/>
          <a:lstStyle/>
          <a:p>
            <a:pPr algn="ctr"/>
            <a:endParaRPr/>
          </a:p>
        </p:txBody>
      </p:sp>
      <p:sp>
        <p:nvSpPr>
          <p:cNvPr id="22" name="TextBox 21"/>
          <p:cNvSpPr txBox="1"/>
          <p:nvPr/>
        </p:nvSpPr>
        <p:spPr>
          <a:xfrm>
            <a:off x="6343650" y="3213100"/>
            <a:ext cx="2286000" cy="254000"/>
          </a:xfrm>
          <a:prstGeom prst="rect">
            <a:avLst/>
          </a:prstGeom>
          <a:noFill/>
        </p:spPr>
        <p:txBody>
          <a:bodyPr wrap="square" lIns="0" tIns="0" rIns="0" bIns="0" anchor="ctr">
            <a:noAutofit/>
          </a:bodyPr>
          <a:lstStyle/>
          <a:p>
            <a:pPr algn="ctr"/>
            <a:r>
              <a:rPr sz="1600" b="1">
                <a:solidFill>
                  <a:srgbClr val="F09601"/>
                </a:solidFill>
                <a:latin typeface="Radio Canada"/>
              </a:rPr>
              <a:t>more likely</a:t>
            </a:r>
          </a:p>
        </p:txBody>
      </p:sp>
      <p:sp>
        <p:nvSpPr>
          <p:cNvPr id="23" name="Rectangle 22"/>
          <p:cNvSpPr/>
          <p:nvPr/>
        </p:nvSpPr>
        <p:spPr>
          <a:xfrm>
            <a:off x="9131300" y="1657350"/>
            <a:ext cx="2286000" cy="1905000"/>
          </a:xfrm>
          <a:prstGeom prst="rect">
            <a:avLst/>
          </a:prstGeom>
          <a:solidFill>
            <a:srgbClr val="FFFFFF"/>
          </a:solidFill>
          <a:ln>
            <a:noFill/>
          </a:ln>
        </p:spPr>
        <p:txBody>
          <a:bodyPr rtlCol="0" anchor="ctr"/>
          <a:lstStyle/>
          <a:p>
            <a:pPr algn="ctr"/>
            <a:endParaRPr/>
          </a:p>
        </p:txBody>
      </p:sp>
      <p:sp>
        <p:nvSpPr>
          <p:cNvPr id="24" name="TextBox 23"/>
          <p:cNvSpPr txBox="1"/>
          <p:nvPr/>
        </p:nvSpPr>
        <p:spPr>
          <a:xfrm>
            <a:off x="9131300" y="1784350"/>
            <a:ext cx="2286000" cy="317500"/>
          </a:xfrm>
          <a:prstGeom prst="rect">
            <a:avLst/>
          </a:prstGeom>
          <a:noFill/>
        </p:spPr>
        <p:txBody>
          <a:bodyPr wrap="square" lIns="0" tIns="0" rIns="0" bIns="0" anchor="ctr">
            <a:noAutofit/>
          </a:bodyPr>
          <a:lstStyle/>
          <a:p>
            <a:pPr algn="ctr"/>
            <a:r>
              <a:rPr sz="1800" b="1">
                <a:solidFill>
                  <a:srgbClr val="222836"/>
                </a:solidFill>
                <a:latin typeface="Radio Canada"/>
              </a:rPr>
              <a:t>Try D</a:t>
            </a:r>
          </a:p>
        </p:txBody>
      </p:sp>
      <p:sp>
        <p:nvSpPr>
          <p:cNvPr id="25" name="TextBox 24"/>
          <p:cNvSpPr txBox="1"/>
          <p:nvPr/>
        </p:nvSpPr>
        <p:spPr>
          <a:xfrm>
            <a:off x="9131300" y="2133600"/>
            <a:ext cx="2286000" cy="571500"/>
          </a:xfrm>
          <a:prstGeom prst="rect">
            <a:avLst/>
          </a:prstGeom>
          <a:noFill/>
        </p:spPr>
        <p:txBody>
          <a:bodyPr wrap="square" lIns="0" tIns="0" rIns="0" bIns="0" anchor="ctr">
            <a:noAutofit/>
          </a:bodyPr>
          <a:lstStyle/>
          <a:p>
            <a:pPr algn="ctr"/>
            <a:r>
              <a:rPr sz="4400" b="1">
                <a:solidFill>
                  <a:srgbClr val="9E9E9E"/>
                </a:solidFill>
                <a:latin typeface="Radio Canada"/>
              </a:rPr>
              <a:t>0.50</a:t>
            </a:r>
          </a:p>
        </p:txBody>
      </p:sp>
      <p:sp>
        <p:nvSpPr>
          <p:cNvPr id="26" name="Isosceles Triangle 25"/>
          <p:cNvSpPr/>
          <p:nvPr/>
        </p:nvSpPr>
        <p:spPr>
          <a:xfrm rot="10800000">
            <a:off x="10083800" y="2832100"/>
            <a:ext cx="381000" cy="317500"/>
          </a:xfrm>
          <a:prstGeom prst="triangle">
            <a:avLst/>
          </a:prstGeom>
          <a:solidFill>
            <a:srgbClr val="9E9E9E"/>
          </a:solidFill>
          <a:ln>
            <a:noFill/>
          </a:ln>
        </p:spPr>
        <p:txBody>
          <a:bodyPr rtlCol="0" anchor="ctr"/>
          <a:lstStyle/>
          <a:p>
            <a:pPr algn="ctr"/>
            <a:endParaRPr/>
          </a:p>
        </p:txBody>
      </p:sp>
      <p:sp>
        <p:nvSpPr>
          <p:cNvPr id="27" name="TextBox 26"/>
          <p:cNvSpPr txBox="1"/>
          <p:nvPr/>
        </p:nvSpPr>
        <p:spPr>
          <a:xfrm>
            <a:off x="9131300" y="3213100"/>
            <a:ext cx="2286000" cy="254000"/>
          </a:xfrm>
          <a:prstGeom prst="rect">
            <a:avLst/>
          </a:prstGeom>
          <a:noFill/>
        </p:spPr>
        <p:txBody>
          <a:bodyPr wrap="square" lIns="0" tIns="0" rIns="0" bIns="0" anchor="ctr">
            <a:noAutofit/>
          </a:bodyPr>
          <a:lstStyle/>
          <a:p>
            <a:pPr algn="ctr"/>
            <a:r>
              <a:rPr sz="1600" b="1">
                <a:solidFill>
                  <a:srgbClr val="9E9E9E"/>
                </a:solidFill>
                <a:latin typeface="Radio Canada"/>
              </a:rPr>
              <a:t>less likely</a:t>
            </a:r>
          </a:p>
        </p:txBody>
      </p:sp>
      <p:sp>
        <p:nvSpPr>
          <p:cNvPr id="28" name="Rectangle 27"/>
          <p:cNvSpPr/>
          <p:nvPr/>
        </p:nvSpPr>
        <p:spPr>
          <a:xfrm>
            <a:off x="768350" y="3816350"/>
            <a:ext cx="10655300" cy="508000"/>
          </a:xfrm>
          <a:prstGeom prst="rect">
            <a:avLst/>
          </a:prstGeom>
          <a:solidFill>
            <a:srgbClr val="D3D7E3"/>
          </a:solidFill>
          <a:ln>
            <a:noFill/>
          </a:ln>
        </p:spPr>
        <p:txBody>
          <a:bodyPr rtlCol="0" anchor="ctr"/>
          <a:lstStyle/>
          <a:p>
            <a:pPr algn="ctr"/>
            <a:endParaRPr/>
          </a:p>
        </p:txBody>
      </p:sp>
      <p:sp>
        <p:nvSpPr>
          <p:cNvPr id="29" name="TextBox 28"/>
          <p:cNvSpPr txBox="1"/>
          <p:nvPr/>
        </p:nvSpPr>
        <p:spPr>
          <a:xfrm>
            <a:off x="831850" y="3816350"/>
            <a:ext cx="10528300" cy="508000"/>
          </a:xfrm>
          <a:prstGeom prst="rect">
            <a:avLst/>
          </a:prstGeom>
          <a:noFill/>
        </p:spPr>
        <p:txBody>
          <a:bodyPr wrap="square" lIns="0" tIns="0" rIns="0" bIns="0" anchor="ctr">
            <a:noAutofit/>
          </a:bodyPr>
          <a:lstStyle/>
          <a:p>
            <a:pPr algn="ctr"/>
            <a:r>
              <a:rPr sz="1800" b="1">
                <a:solidFill>
                  <a:srgbClr val="222836"/>
                </a:solidFill>
                <a:latin typeface="Radio Canada"/>
              </a:rPr>
              <a:t>Group average 0.81: above it, do more of that; below it, do less.</a:t>
            </a:r>
          </a:p>
        </p:txBody>
      </p:sp>
      <p:sp>
        <p:nvSpPr>
          <p:cNvPr id="30" name="Rectangle 29"/>
          <p:cNvSpPr/>
          <p:nvPr/>
        </p:nvSpPr>
        <p:spPr>
          <a:xfrm>
            <a:off x="768350" y="4578350"/>
            <a:ext cx="10655300" cy="749300"/>
          </a:xfrm>
          <a:prstGeom prst="rect">
            <a:avLst/>
          </a:prstGeom>
          <a:solidFill>
            <a:srgbClr val="FFFFFF"/>
          </a:solidFill>
          <a:ln>
            <a:noFill/>
          </a:ln>
        </p:spPr>
        <p:txBody>
          <a:bodyPr rtlCol="0" anchor="ctr"/>
          <a:lstStyle/>
          <a:p>
            <a:pPr algn="ctr"/>
            <a:endParaRPr/>
          </a:p>
        </p:txBody>
      </p:sp>
      <p:sp>
        <p:nvSpPr>
          <p:cNvPr id="31" name="TextBox 30"/>
          <p:cNvSpPr txBox="1"/>
          <p:nvPr/>
        </p:nvSpPr>
        <p:spPr>
          <a:xfrm>
            <a:off x="958850" y="4578350"/>
            <a:ext cx="10274300" cy="749300"/>
          </a:xfrm>
          <a:prstGeom prst="rect">
            <a:avLst/>
          </a:prstGeom>
          <a:noFill/>
        </p:spPr>
        <p:txBody>
          <a:bodyPr wrap="square" lIns="0" tIns="0" rIns="0" bIns="0" anchor="ctr">
            <a:noAutofit/>
          </a:bodyPr>
          <a:lstStyle/>
          <a:p>
            <a:pPr algn="ctr"/>
            <a:r>
              <a:rPr sz="1800" b="0">
                <a:solidFill>
                  <a:srgbClr val="222836"/>
                </a:solidFill>
                <a:latin typeface="Radio Canada"/>
              </a:rPr>
              <a:t>Only the small LoRA add-on changes; the base model stays frozen. (These four scores are an illustration.)</a:t>
            </a:r>
          </a:p>
        </p:txBody>
      </p:sp>
      <p:sp>
        <p:nvSpPr>
          <p:cNvPr id="32" name="Rectangle 31"/>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Average training reward: </a:t>
            </a:r>
            <a:r>
              <a:rPr sz="2100" b="0">
                <a:solidFill>
                  <a:srgbClr val="F09601"/>
                </a:solidFill>
                <a:latin typeface="Radio Canada"/>
              </a:rPr>
              <a:t>0.89 in round 1 → 0.96 in round 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2292331"/>
            <a:ext cx="749274" cy="749274"/>
          </a:xfrm>
          <a:prstGeom prst="rect">
            <a:avLst/>
          </a:prstGeom>
          <a:solidFill>
            <a:srgbClr val="F09601"/>
          </a:solidFill>
          <a:ln/>
        </p:spPr>
        <p:txBody>
          <a:bodyPr/>
          <a:lstStyle/>
          <a:p>
            <a:endParaRPr lang="en-AE"/>
          </a:p>
        </p:txBody>
      </p:sp>
      <p:sp>
        <p:nvSpPr>
          <p:cNvPr id="4" name="Shape 1"/>
          <p:cNvSpPr/>
          <p:nvPr/>
        </p:nvSpPr>
        <p:spPr>
          <a:xfrm>
            <a:off x="1530346" y="5340344"/>
            <a:ext cx="749274" cy="749274"/>
          </a:xfrm>
          <a:prstGeom prst="rect">
            <a:avLst/>
          </a:prstGeom>
          <a:solidFill>
            <a:srgbClr val="222836"/>
          </a:solidFill>
          <a:ln/>
        </p:spPr>
        <p:txBody>
          <a:bodyPr/>
          <a:lstStyle/>
          <a:p>
            <a:endParaRPr lang="en-AE"/>
          </a:p>
        </p:txBody>
      </p:sp>
      <p:sp>
        <p:nvSpPr>
          <p:cNvPr id="5" name="Shape 2"/>
          <p:cNvSpPr/>
          <p:nvPr/>
        </p:nvSpPr>
        <p:spPr>
          <a:xfrm>
            <a:off x="9912331" y="5340344"/>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a:lnSpc>
                <a:spcPts val="3390"/>
              </a:lnSpc>
            </a:pPr>
            <a:r>
              <a:rPr lang="en-US" b="1" dirty="0"/>
              <a:t>7. The Training results</a:t>
            </a:r>
            <a:endParaRPr lang="en-US" sz="3000" dirty="0"/>
          </a:p>
        </p:txBody>
      </p:sp>
      <p:sp>
        <p:nvSpPr>
          <p:cNvPr id="8" name="Shape 5"/>
          <p:cNvSpPr/>
          <p:nvPr/>
        </p:nvSpPr>
        <p:spPr>
          <a:xfrm>
            <a:off x="768325" y="1530344"/>
            <a:ext cx="3797288" cy="2273281"/>
          </a:xfrm>
          <a:prstGeom prst="rect">
            <a:avLst/>
          </a:prstGeom>
          <a:solidFill>
            <a:srgbClr val="FFFFFF"/>
          </a:solidFill>
          <a:ln/>
        </p:spPr>
        <p:txBody>
          <a:bodyPr/>
          <a:lstStyle/>
          <a:p>
            <a:endParaRPr lang="en-AE"/>
          </a:p>
        </p:txBody>
      </p:sp>
      <p:pic>
        <p:nvPicPr>
          <p:cNvPr id="9" name="Image 1" descr="The robot straining to lift a barbell"/>
          <p:cNvPicPr>
            <a:picLocks noChangeAspect="1"/>
          </p:cNvPicPr>
          <p:nvPr/>
        </p:nvPicPr>
        <p:blipFill>
          <a:blip r:embed="rId4"/>
          <a:srcRect t="-1" b="-1"/>
          <a:stretch/>
        </p:blipFill>
        <p:spPr>
          <a:xfrm>
            <a:off x="1777979" y="1714481"/>
            <a:ext cx="1777979" cy="1905000"/>
          </a:xfrm>
          <a:prstGeom prst="rect">
            <a:avLst/>
          </a:prstGeom>
        </p:spPr>
      </p:pic>
      <p:sp>
        <p:nvSpPr>
          <p:cNvPr id="10" name="Shape 6"/>
          <p:cNvSpPr/>
          <p:nvPr/>
        </p:nvSpPr>
        <p:spPr>
          <a:xfrm>
            <a:off x="768325" y="3816338"/>
            <a:ext cx="3797288" cy="1511294"/>
          </a:xfrm>
          <a:prstGeom prst="rect">
            <a:avLst/>
          </a:prstGeom>
          <a:solidFill>
            <a:srgbClr val="FFFFFF"/>
          </a:solidFill>
          <a:ln/>
        </p:spPr>
        <p:txBody>
          <a:bodyPr/>
          <a:lstStyle/>
          <a:p>
            <a:endParaRPr lang="en-AE"/>
          </a:p>
        </p:txBody>
      </p:sp>
      <p:sp>
        <p:nvSpPr>
          <p:cNvPr id="11" name="Text 7"/>
          <p:cNvSpPr/>
          <p:nvPr/>
        </p:nvSpPr>
        <p:spPr>
          <a:xfrm>
            <a:off x="2960175" y="4235930"/>
            <a:ext cx="1315357" cy="455899"/>
          </a:xfrm>
          <a:prstGeom prst="rect">
            <a:avLst/>
          </a:prstGeom>
          <a:noFill/>
          <a:ln/>
        </p:spPr>
        <p:txBody>
          <a:bodyPr wrap="none" lIns="0" tIns="0" rIns="0" bIns="0" rtlCol="0" anchor="t">
            <a:normAutofit/>
          </a:bodyPr>
          <a:lstStyle/>
          <a:p>
            <a:pPr marL="0" indent="0" algn="l">
              <a:lnSpc>
                <a:spcPts val="3390"/>
              </a:lnSpc>
              <a:buNone/>
            </a:pPr>
            <a:r>
              <a:rPr lang="en-US" sz="3000" b="1" dirty="0">
                <a:solidFill>
                  <a:srgbClr val="000000"/>
                </a:solidFill>
                <a:latin typeface="Radio Canada" pitchFamily="34" charset="0"/>
                <a:ea typeface="Radio Canada" pitchFamily="34" charset="-122"/>
                <a:cs typeface="Radio Canada" pitchFamily="34" charset="-120"/>
              </a:rPr>
              <a:t>19 min</a:t>
            </a:r>
            <a:endParaRPr lang="en-US" sz="3000" dirty="0"/>
          </a:p>
        </p:txBody>
      </p:sp>
      <p:sp>
        <p:nvSpPr>
          <p:cNvPr id="12" name="Text 8"/>
          <p:cNvSpPr/>
          <p:nvPr/>
        </p:nvSpPr>
        <p:spPr>
          <a:xfrm>
            <a:off x="1073065" y="4330290"/>
            <a:ext cx="2084958" cy="267177"/>
          </a:xfrm>
          <a:prstGeom prst="rect">
            <a:avLst/>
          </a:prstGeom>
          <a:noFill/>
          <a:ln/>
        </p:spPr>
        <p:txBody>
          <a:bodyPr wrap="square" lIns="0" tIns="0" rIns="0" bIns="0" rtlCol="0" anchor="t">
            <a:normAutofit/>
          </a:bodyPr>
          <a:lstStyle/>
          <a:p>
            <a:pPr marL="0" indent="0" algn="l">
              <a:lnSpc>
                <a:spcPts val="1904"/>
              </a:lnSpc>
              <a:buNone/>
            </a:pPr>
            <a:r>
              <a:rPr lang="en-US" dirty="0">
                <a:solidFill>
                  <a:srgbClr val="222836"/>
                </a:solidFill>
                <a:latin typeface="Radio Canada" pitchFamily="34" charset="0"/>
                <a:ea typeface="Radio Canada" pitchFamily="34" charset="-122"/>
                <a:cs typeface="Radio Canada" pitchFamily="34" charset="-120"/>
              </a:rPr>
              <a:t>Trained for:</a:t>
            </a:r>
            <a:endParaRPr lang="en-US" dirty="0"/>
          </a:p>
        </p:txBody>
      </p:sp>
      <p:sp>
        <p:nvSpPr>
          <p:cNvPr id="15" name="Shape 11"/>
          <p:cNvSpPr/>
          <p:nvPr/>
        </p:nvSpPr>
        <p:spPr>
          <a:xfrm>
            <a:off x="4578325" y="1530344"/>
            <a:ext cx="6845267" cy="3797288"/>
          </a:xfrm>
          <a:prstGeom prst="rect">
            <a:avLst/>
          </a:prstGeom>
          <a:solidFill>
            <a:srgbClr val="FFFFFF"/>
          </a:solidFill>
          <a:ln/>
        </p:spPr>
        <p:txBody>
          <a:bodyPr/>
          <a:lstStyle/>
          <a:p>
            <a:endParaRPr lang="en-AE"/>
          </a:p>
        </p:txBody>
      </p:sp>
      <p:sp>
        <p:nvSpPr>
          <p:cNvPr id="16" name="Text 12"/>
          <p:cNvSpPr/>
          <p:nvPr/>
        </p:nvSpPr>
        <p:spPr>
          <a:xfrm>
            <a:off x="4768839" y="1657331"/>
            <a:ext cx="6658202" cy="267177"/>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222836"/>
                </a:solidFill>
                <a:latin typeface="Radio Canada" pitchFamily="34" charset="0"/>
                <a:ea typeface="Radio Canada" pitchFamily="34" charset="-122"/>
                <a:cs typeface="Radio Canada" pitchFamily="34" charset="-120"/>
              </a:rPr>
              <a:t>Score per round</a:t>
            </a:r>
            <a:endParaRPr lang="en-US" sz="1400" dirty="0"/>
          </a:p>
        </p:txBody>
      </p:sp>
      <p:sp>
        <p:nvSpPr>
          <p:cNvPr id="17" name="Text 13"/>
          <p:cNvSpPr/>
          <p:nvPr/>
        </p:nvSpPr>
        <p:spPr>
          <a:xfrm>
            <a:off x="4711700" y="1974831"/>
            <a:ext cx="495286" cy="267177"/>
          </a:xfrm>
          <a:prstGeom prst="rect">
            <a:avLst/>
          </a:prstGeom>
          <a:noFill/>
          <a:ln/>
        </p:spPr>
        <p:txBody>
          <a:bodyPr wrap="square" lIns="0" tIns="0" rIns="0" bIns="0" rtlCol="0" anchor="t">
            <a:normAutofit/>
          </a:bodyPr>
          <a:lstStyle/>
          <a:p>
            <a:pPr marL="0" indent="0" algn="r">
              <a:lnSpc>
                <a:spcPts val="1904"/>
              </a:lnSpc>
              <a:buNone/>
            </a:pPr>
            <a:r>
              <a:rPr lang="en-US" sz="1400" dirty="0">
                <a:solidFill>
                  <a:srgbClr val="222836"/>
                </a:solidFill>
                <a:latin typeface="Radio Canada" pitchFamily="34" charset="0"/>
                <a:ea typeface="Radio Canada" pitchFamily="34" charset="-122"/>
                <a:cs typeface="Radio Canada" pitchFamily="34" charset="-120"/>
              </a:rPr>
              <a:t>1.0</a:t>
            </a:r>
            <a:endParaRPr lang="en-US" sz="1400" dirty="0"/>
          </a:p>
        </p:txBody>
      </p:sp>
      <p:sp>
        <p:nvSpPr>
          <p:cNvPr id="18" name="Text 14"/>
          <p:cNvSpPr/>
          <p:nvPr/>
        </p:nvSpPr>
        <p:spPr>
          <a:xfrm>
            <a:off x="4711700" y="3308325"/>
            <a:ext cx="495286" cy="267177"/>
          </a:xfrm>
          <a:prstGeom prst="rect">
            <a:avLst/>
          </a:prstGeom>
          <a:noFill/>
          <a:ln/>
        </p:spPr>
        <p:txBody>
          <a:bodyPr wrap="square" lIns="0" tIns="0" rIns="0" bIns="0" rtlCol="0" anchor="t">
            <a:normAutofit/>
          </a:bodyPr>
          <a:lstStyle/>
          <a:p>
            <a:pPr marL="0" indent="0" algn="r">
              <a:lnSpc>
                <a:spcPts val="1904"/>
              </a:lnSpc>
              <a:buNone/>
            </a:pPr>
            <a:r>
              <a:rPr lang="en-US" sz="1400" dirty="0">
                <a:solidFill>
                  <a:srgbClr val="222836"/>
                </a:solidFill>
                <a:latin typeface="Radio Canada" pitchFamily="34" charset="0"/>
                <a:ea typeface="Radio Canada" pitchFamily="34" charset="-122"/>
                <a:cs typeface="Radio Canada" pitchFamily="34" charset="-120"/>
              </a:rPr>
              <a:t>0.9</a:t>
            </a:r>
            <a:endParaRPr lang="en-US" sz="1400" dirty="0"/>
          </a:p>
        </p:txBody>
      </p:sp>
      <p:sp>
        <p:nvSpPr>
          <p:cNvPr id="19" name="Text 15"/>
          <p:cNvSpPr/>
          <p:nvPr/>
        </p:nvSpPr>
        <p:spPr>
          <a:xfrm>
            <a:off x="4711700" y="4641813"/>
            <a:ext cx="495286" cy="267177"/>
          </a:xfrm>
          <a:prstGeom prst="rect">
            <a:avLst/>
          </a:prstGeom>
          <a:noFill/>
          <a:ln/>
        </p:spPr>
        <p:txBody>
          <a:bodyPr wrap="square" lIns="0" tIns="0" rIns="0" bIns="0" rtlCol="0" anchor="t">
            <a:normAutofit/>
          </a:bodyPr>
          <a:lstStyle/>
          <a:p>
            <a:pPr marL="0" indent="0" algn="r">
              <a:lnSpc>
                <a:spcPts val="1904"/>
              </a:lnSpc>
              <a:buNone/>
            </a:pPr>
            <a:r>
              <a:rPr lang="en-US" sz="1400" dirty="0">
                <a:solidFill>
                  <a:srgbClr val="222836"/>
                </a:solidFill>
                <a:latin typeface="Radio Canada" pitchFamily="34" charset="0"/>
                <a:ea typeface="Radio Canada" pitchFamily="34" charset="-122"/>
                <a:cs typeface="Radio Canada" pitchFamily="34" charset="-120"/>
              </a:rPr>
              <a:t>0.8</a:t>
            </a:r>
            <a:endParaRPr lang="en-US" sz="1400" dirty="0"/>
          </a:p>
        </p:txBody>
      </p:sp>
      <p:pic>
        <p:nvPicPr>
          <p:cNvPr id="20" name="Image 2" descr="Line chart: average score rises from 0.89 in round 1 to 0.96 in round 10"/>
          <p:cNvPicPr>
            <a:picLocks noChangeAspect="1"/>
          </p:cNvPicPr>
          <p:nvPr/>
        </p:nvPicPr>
        <p:blipFill>
          <a:blip r:embed="rId5"/>
          <a:srcRect/>
          <a:stretch/>
        </p:blipFill>
        <p:spPr>
          <a:xfrm>
            <a:off x="5333972" y="2095475"/>
            <a:ext cx="5715000" cy="2666986"/>
          </a:xfrm>
          <a:prstGeom prst="rect">
            <a:avLst/>
          </a:prstGeom>
        </p:spPr>
      </p:pic>
      <p:sp>
        <p:nvSpPr>
          <p:cNvPr id="21" name="Text 16"/>
          <p:cNvSpPr/>
          <p:nvPr/>
        </p:nvSpPr>
        <p:spPr>
          <a:xfrm>
            <a:off x="5181586" y="3714738"/>
            <a:ext cx="685800"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000000"/>
                </a:solidFill>
                <a:latin typeface="Radio Canada" pitchFamily="34" charset="0"/>
                <a:ea typeface="Radio Canada" pitchFamily="34" charset="-122"/>
                <a:cs typeface="Radio Canada" pitchFamily="34" charset="-120"/>
              </a:rPr>
              <a:t>0.89</a:t>
            </a:r>
            <a:endParaRPr lang="en-US" sz="1800" dirty="0"/>
          </a:p>
        </p:txBody>
      </p:sp>
      <p:sp>
        <p:nvSpPr>
          <p:cNvPr id="22" name="Text 17"/>
          <p:cNvSpPr/>
          <p:nvPr/>
        </p:nvSpPr>
        <p:spPr>
          <a:xfrm>
            <a:off x="10515593" y="2235175"/>
            <a:ext cx="685800" cy="329430"/>
          </a:xfrm>
          <a:prstGeom prst="rect">
            <a:avLst/>
          </a:prstGeom>
          <a:noFill/>
          <a:ln/>
        </p:spPr>
        <p:txBody>
          <a:bodyPr wrap="square" lIns="0" tIns="0" rIns="0" bIns="0" rtlCol="0" anchor="t">
            <a:normAutofit/>
          </a:bodyPr>
          <a:lstStyle/>
          <a:p>
            <a:pPr marL="0" indent="0" algn="ctr">
              <a:lnSpc>
                <a:spcPts val="2394"/>
              </a:lnSpc>
              <a:buNone/>
            </a:pPr>
            <a:r>
              <a:rPr lang="en-US" sz="1800" b="1" dirty="0">
                <a:solidFill>
                  <a:srgbClr val="CF7322"/>
                </a:solidFill>
                <a:latin typeface="Radio Canada" pitchFamily="34" charset="0"/>
                <a:ea typeface="Radio Canada" pitchFamily="34" charset="-122"/>
                <a:cs typeface="Radio Canada" pitchFamily="34" charset="-120"/>
              </a:rPr>
              <a:t>0.96</a:t>
            </a:r>
            <a:endParaRPr lang="en-US" sz="1800" dirty="0"/>
          </a:p>
        </p:txBody>
      </p:sp>
      <p:sp>
        <p:nvSpPr>
          <p:cNvPr id="23" name="Text 18"/>
          <p:cNvSpPr/>
          <p:nvPr/>
        </p:nvSpPr>
        <p:spPr>
          <a:xfrm>
            <a:off x="5054600" y="4857719"/>
            <a:ext cx="939772" cy="267177"/>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Round 1</a:t>
            </a:r>
            <a:endParaRPr lang="en-US" sz="1400" dirty="0"/>
          </a:p>
        </p:txBody>
      </p:sp>
      <p:sp>
        <p:nvSpPr>
          <p:cNvPr id="24" name="Text 19"/>
          <p:cNvSpPr/>
          <p:nvPr/>
        </p:nvSpPr>
        <p:spPr>
          <a:xfrm>
            <a:off x="10388572" y="4857719"/>
            <a:ext cx="939772" cy="267177"/>
          </a:xfrm>
          <a:prstGeom prst="rect">
            <a:avLst/>
          </a:prstGeom>
          <a:noFill/>
          <a:ln/>
        </p:spPr>
        <p:txBody>
          <a:bodyPr wrap="square" lIns="0" tIns="0" rIns="0" bIns="0" rtlCol="0" anchor="t">
            <a:normAutofit/>
          </a:bodyPr>
          <a:lstStyle/>
          <a:p>
            <a:pPr marL="0" indent="0" algn="ctr">
              <a:lnSpc>
                <a:spcPts val="1904"/>
              </a:lnSpc>
              <a:buNone/>
            </a:pPr>
            <a:r>
              <a:rPr lang="en-US" sz="1400" dirty="0">
                <a:solidFill>
                  <a:srgbClr val="222836"/>
                </a:solidFill>
                <a:latin typeface="Radio Canada" pitchFamily="34" charset="0"/>
                <a:ea typeface="Radio Canada" pitchFamily="34" charset="-122"/>
                <a:cs typeface="Radio Canada" pitchFamily="34" charset="-120"/>
              </a:rPr>
              <a:t>Round 10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12191986" cy="6857979"/>
          </a:xfrm>
          <a:prstGeom prst="rect">
            <a:avLst/>
          </a:prstGeom>
        </p:spPr>
      </p:pic>
      <p:sp>
        <p:nvSpPr>
          <p:cNvPr id="3" name="Rectangle 2"/>
          <p:cNvSpPr/>
          <p:nvPr/>
        </p:nvSpPr>
        <p:spPr>
          <a:xfrm>
            <a:off x="6350" y="1530350"/>
            <a:ext cx="749300" cy="749300"/>
          </a:xfrm>
          <a:prstGeom prst="rect">
            <a:avLst/>
          </a:prstGeom>
          <a:solidFill>
            <a:srgbClr val="F09601"/>
          </a:solidFill>
          <a:ln>
            <a:noFill/>
          </a:ln>
        </p:spPr>
        <p:txBody>
          <a:bodyPr rtlCol="0" anchor="ctr"/>
          <a:lstStyle/>
          <a:p>
            <a:pPr algn="ctr"/>
            <a:endParaRPr/>
          </a:p>
        </p:txBody>
      </p:sp>
      <p:sp>
        <p:nvSpPr>
          <p:cNvPr id="4" name="Rectangle 3"/>
          <p:cNvSpPr/>
          <p:nvPr/>
        </p:nvSpPr>
        <p:spPr>
          <a:xfrm>
            <a:off x="11436350" y="3054350"/>
            <a:ext cx="749300" cy="749300"/>
          </a:xfrm>
          <a:prstGeom prst="rect">
            <a:avLst/>
          </a:prstGeom>
          <a:solidFill>
            <a:srgbClr val="222836"/>
          </a:solidFill>
          <a:ln>
            <a:noFill/>
          </a:ln>
        </p:spPr>
        <p:txBody>
          <a:bodyPr rtlCol="0" anchor="ctr"/>
          <a:lstStyle/>
          <a:p>
            <a:pPr algn="ctr"/>
            <a:endParaRPr/>
          </a:p>
        </p:txBody>
      </p:sp>
      <p:sp>
        <p:nvSpPr>
          <p:cNvPr id="5" name="Rectangle 4"/>
          <p:cNvSpPr/>
          <p:nvPr/>
        </p:nvSpPr>
        <p:spPr>
          <a:xfrm>
            <a:off x="11436350" y="5340350"/>
            <a:ext cx="749300" cy="749300"/>
          </a:xfrm>
          <a:prstGeom prst="rect">
            <a:avLst/>
          </a:prstGeom>
          <a:solidFill>
            <a:srgbClr val="F09601"/>
          </a:solidFill>
          <a:ln>
            <a:noFill/>
          </a:ln>
        </p:spPr>
        <p:txBody>
          <a:bodyPr rtlCol="0" anchor="ctr"/>
          <a:lstStyle/>
          <a:p>
            <a:pPr algn="ctr"/>
            <a:endParaRPr/>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b="1" dirty="0"/>
              <a:t>8</a:t>
            </a:r>
            <a:r>
              <a:rPr lang="en-US" sz="3000" b="1" i="0" dirty="0">
                <a:solidFill>
                  <a:srgbClr val="000000"/>
                </a:solidFill>
                <a:latin typeface="Radio Canada" pitchFamily="34" charset="0"/>
                <a:ea typeface="Radio Canada" pitchFamily="34" charset="-122"/>
                <a:cs typeface="Radio Canada" pitchFamily="34" charset="-120"/>
              </a:rPr>
              <a:t>. The test</a:t>
            </a:r>
            <a:endParaRPr lang="en-US" sz="3000" dirty="0"/>
          </a:p>
        </p:txBody>
      </p:sp>
      <p:sp>
        <p:nvSpPr>
          <p:cNvPr id="8" name="Rectangle 7"/>
          <p:cNvSpPr/>
          <p:nvPr/>
        </p:nvSpPr>
        <p:spPr>
          <a:xfrm>
            <a:off x="768350" y="1530350"/>
            <a:ext cx="10655300" cy="622300"/>
          </a:xfrm>
          <a:prstGeom prst="rect">
            <a:avLst/>
          </a:prstGeom>
          <a:solidFill>
            <a:srgbClr val="FFFFFF"/>
          </a:solidFill>
          <a:ln>
            <a:noFill/>
          </a:ln>
        </p:spPr>
        <p:txBody>
          <a:bodyPr rtlCol="0" anchor="ctr"/>
          <a:lstStyle/>
          <a:p>
            <a:pPr algn="ctr"/>
            <a:endParaRPr/>
          </a:p>
        </p:txBody>
      </p:sp>
      <p:sp>
        <p:nvSpPr>
          <p:cNvPr id="9" name="TextBox 8"/>
          <p:cNvSpPr txBox="1"/>
          <p:nvPr/>
        </p:nvSpPr>
        <p:spPr>
          <a:xfrm>
            <a:off x="831850" y="1530350"/>
            <a:ext cx="10528300" cy="622300"/>
          </a:xfrm>
          <a:prstGeom prst="rect">
            <a:avLst/>
          </a:prstGeom>
          <a:noFill/>
        </p:spPr>
        <p:txBody>
          <a:bodyPr wrap="square" lIns="0" tIns="0" rIns="0" bIns="0" anchor="ctr">
            <a:noAutofit/>
          </a:bodyPr>
          <a:lstStyle/>
          <a:p>
            <a:pPr algn="ctr"/>
            <a:r>
              <a:rPr sz="1800" b="1">
                <a:solidFill>
                  <a:srgbClr val="222836"/>
                </a:solidFill>
                <a:latin typeface="Radio Canada"/>
              </a:rPr>
              <a:t>32 held-out tickets × 2 tries each · same agent · same instructions</a:t>
            </a:r>
          </a:p>
        </p:txBody>
      </p:sp>
      <p:sp>
        <p:nvSpPr>
          <p:cNvPr id="10" name="TextBox 9"/>
          <p:cNvSpPr txBox="1"/>
          <p:nvPr/>
        </p:nvSpPr>
        <p:spPr>
          <a:xfrm>
            <a:off x="5213350" y="2228850"/>
            <a:ext cx="1397000" cy="254000"/>
          </a:xfrm>
          <a:prstGeom prst="rect">
            <a:avLst/>
          </a:prstGeom>
          <a:noFill/>
        </p:spPr>
        <p:txBody>
          <a:bodyPr wrap="square" lIns="0" tIns="0" rIns="0" bIns="0" anchor="ctr">
            <a:noAutofit/>
          </a:bodyPr>
          <a:lstStyle/>
          <a:p>
            <a:pPr algn="ctr"/>
            <a:r>
              <a:rPr sz="1600" b="1">
                <a:solidFill>
                  <a:srgbClr val="222836"/>
                </a:solidFill>
                <a:latin typeface="Radio Canada"/>
              </a:rPr>
              <a:t>Before</a:t>
            </a:r>
          </a:p>
        </p:txBody>
      </p:sp>
      <p:sp>
        <p:nvSpPr>
          <p:cNvPr id="11" name="TextBox 10"/>
          <p:cNvSpPr txBox="1"/>
          <p:nvPr/>
        </p:nvSpPr>
        <p:spPr>
          <a:xfrm>
            <a:off x="7372350" y="2228850"/>
            <a:ext cx="1397000" cy="254000"/>
          </a:xfrm>
          <a:prstGeom prst="rect">
            <a:avLst/>
          </a:prstGeom>
          <a:noFill/>
        </p:spPr>
        <p:txBody>
          <a:bodyPr wrap="square" lIns="0" tIns="0" rIns="0" bIns="0" anchor="ctr">
            <a:noAutofit/>
          </a:bodyPr>
          <a:lstStyle/>
          <a:p>
            <a:pPr algn="ctr"/>
            <a:r>
              <a:rPr sz="1600" b="1">
                <a:solidFill>
                  <a:srgbClr val="222836"/>
                </a:solidFill>
                <a:latin typeface="Radio Canada"/>
              </a:rPr>
              <a:t>After</a:t>
            </a:r>
          </a:p>
        </p:txBody>
      </p:sp>
      <p:sp>
        <p:nvSpPr>
          <p:cNvPr id="12" name="Rectangle 11"/>
          <p:cNvSpPr/>
          <p:nvPr/>
        </p:nvSpPr>
        <p:spPr>
          <a:xfrm>
            <a:off x="768350" y="2546350"/>
            <a:ext cx="10655300" cy="698500"/>
          </a:xfrm>
          <a:prstGeom prst="rect">
            <a:avLst/>
          </a:prstGeom>
          <a:solidFill>
            <a:srgbClr val="FFFFFF"/>
          </a:solidFill>
          <a:ln>
            <a:noFill/>
          </a:ln>
        </p:spPr>
        <p:txBody>
          <a:bodyPr rtlCol="0" anchor="ctr"/>
          <a:lstStyle/>
          <a:p>
            <a:pPr algn="ctr"/>
            <a:endParaRPr/>
          </a:p>
        </p:txBody>
      </p:sp>
      <p:sp>
        <p:nvSpPr>
          <p:cNvPr id="13" name="TextBox 12"/>
          <p:cNvSpPr txBox="1"/>
          <p:nvPr/>
        </p:nvSpPr>
        <p:spPr>
          <a:xfrm>
            <a:off x="958850" y="2546350"/>
            <a:ext cx="4064000" cy="698500"/>
          </a:xfrm>
          <a:prstGeom prst="rect">
            <a:avLst/>
          </a:prstGeom>
          <a:noFill/>
        </p:spPr>
        <p:txBody>
          <a:bodyPr wrap="square" lIns="0" tIns="0" rIns="0" bIns="0" anchor="ctr">
            <a:noAutofit/>
          </a:bodyPr>
          <a:lstStyle/>
          <a:p>
            <a:pPr algn="l"/>
            <a:r>
              <a:rPr sz="2100" b="1">
                <a:solidFill>
                  <a:srgbClr val="000000"/>
                </a:solidFill>
                <a:latin typeface="Radio Canada"/>
              </a:rPr>
              <a:t>Fully solved (pass@1)</a:t>
            </a:r>
          </a:p>
        </p:txBody>
      </p:sp>
      <p:sp>
        <p:nvSpPr>
          <p:cNvPr id="14" name="TextBox 13"/>
          <p:cNvSpPr txBox="1"/>
          <p:nvPr/>
        </p:nvSpPr>
        <p:spPr>
          <a:xfrm>
            <a:off x="5213350" y="2546350"/>
            <a:ext cx="1397000" cy="698500"/>
          </a:xfrm>
          <a:prstGeom prst="rect">
            <a:avLst/>
          </a:prstGeom>
          <a:noFill/>
        </p:spPr>
        <p:txBody>
          <a:bodyPr wrap="square" lIns="0" tIns="0" rIns="0" bIns="0" anchor="ctr">
            <a:noAutofit/>
          </a:bodyPr>
          <a:lstStyle/>
          <a:p>
            <a:pPr algn="ctr"/>
            <a:r>
              <a:rPr sz="3200" b="1">
                <a:solidFill>
                  <a:srgbClr val="9E9E9E"/>
                </a:solidFill>
                <a:latin typeface="Radio Canada"/>
              </a:rPr>
              <a:t>0.58</a:t>
            </a:r>
          </a:p>
        </p:txBody>
      </p:sp>
      <p:cxnSp>
        <p:nvCxnSpPr>
          <p:cNvPr id="15" name="Connector 14"/>
          <p:cNvCxnSpPr/>
          <p:nvPr/>
        </p:nvCxnSpPr>
        <p:spPr>
          <a:xfrm>
            <a:off x="6673850" y="2895600"/>
            <a:ext cx="635000" cy="0"/>
          </a:xfrm>
          <a:prstGeom prst="line">
            <a:avLst/>
          </a:prstGeom>
          <a:ln w="57150">
            <a:solidFill>
              <a:srgbClr val="222836"/>
            </a:solidFill>
            <a:tailEnd type="triangle" w="med" len="med"/>
          </a:ln>
        </p:spPr>
      </p:cxnSp>
      <p:sp>
        <p:nvSpPr>
          <p:cNvPr id="16" name="TextBox 15"/>
          <p:cNvSpPr txBox="1"/>
          <p:nvPr/>
        </p:nvSpPr>
        <p:spPr>
          <a:xfrm>
            <a:off x="7372350" y="2546350"/>
            <a:ext cx="1397000" cy="698500"/>
          </a:xfrm>
          <a:prstGeom prst="rect">
            <a:avLst/>
          </a:prstGeom>
          <a:noFill/>
        </p:spPr>
        <p:txBody>
          <a:bodyPr wrap="square" lIns="0" tIns="0" rIns="0" bIns="0" anchor="ctr">
            <a:noAutofit/>
          </a:bodyPr>
          <a:lstStyle/>
          <a:p>
            <a:pPr algn="ctr"/>
            <a:r>
              <a:rPr sz="3200" b="1">
                <a:solidFill>
                  <a:srgbClr val="F09601"/>
                </a:solidFill>
                <a:latin typeface="Radio Canada"/>
              </a:rPr>
              <a:t>0.78</a:t>
            </a:r>
          </a:p>
        </p:txBody>
      </p:sp>
      <p:sp>
        <p:nvSpPr>
          <p:cNvPr id="17" name="TextBox 16"/>
          <p:cNvSpPr txBox="1"/>
          <p:nvPr/>
        </p:nvSpPr>
        <p:spPr>
          <a:xfrm>
            <a:off x="8896350" y="2546350"/>
            <a:ext cx="2413000" cy="698500"/>
          </a:xfrm>
          <a:prstGeom prst="rect">
            <a:avLst/>
          </a:prstGeom>
          <a:noFill/>
        </p:spPr>
        <p:txBody>
          <a:bodyPr wrap="square" lIns="0" tIns="0" rIns="0" bIns="0" anchor="ctr">
            <a:noAutofit/>
          </a:bodyPr>
          <a:lstStyle/>
          <a:p>
            <a:pPr algn="ctr"/>
            <a:r>
              <a:rPr sz="1600" b="0">
                <a:solidFill>
                  <a:srgbClr val="222836"/>
                </a:solidFill>
                <a:latin typeface="Radio Canada"/>
              </a:rPr>
              <a:t>37 → 50 chats solved</a:t>
            </a:r>
          </a:p>
        </p:txBody>
      </p:sp>
      <p:sp>
        <p:nvSpPr>
          <p:cNvPr id="18" name="Rectangle 17"/>
          <p:cNvSpPr/>
          <p:nvPr/>
        </p:nvSpPr>
        <p:spPr>
          <a:xfrm>
            <a:off x="768350" y="3308350"/>
            <a:ext cx="10655300" cy="698500"/>
          </a:xfrm>
          <a:prstGeom prst="rect">
            <a:avLst/>
          </a:prstGeom>
          <a:solidFill>
            <a:srgbClr val="FFFFFF"/>
          </a:solidFill>
          <a:ln>
            <a:noFill/>
          </a:ln>
        </p:spPr>
        <p:txBody>
          <a:bodyPr rtlCol="0" anchor="ctr"/>
          <a:lstStyle/>
          <a:p>
            <a:pPr algn="ctr"/>
            <a:endParaRPr/>
          </a:p>
        </p:txBody>
      </p:sp>
      <p:sp>
        <p:nvSpPr>
          <p:cNvPr id="19" name="TextBox 18"/>
          <p:cNvSpPr txBox="1"/>
          <p:nvPr/>
        </p:nvSpPr>
        <p:spPr>
          <a:xfrm>
            <a:off x="958850" y="3308350"/>
            <a:ext cx="4064000" cy="698500"/>
          </a:xfrm>
          <a:prstGeom prst="rect">
            <a:avLst/>
          </a:prstGeom>
          <a:noFill/>
        </p:spPr>
        <p:txBody>
          <a:bodyPr wrap="square" lIns="0" tIns="0" rIns="0" bIns="0" anchor="ctr">
            <a:noAutofit/>
          </a:bodyPr>
          <a:lstStyle/>
          <a:p>
            <a:pPr algn="l"/>
            <a:r>
              <a:rPr sz="2100" b="1">
                <a:solidFill>
                  <a:srgbClr val="000000"/>
                </a:solidFill>
                <a:latin typeface="Radio Canada"/>
              </a:rPr>
              <a:t>Solved in 1 of 2 tries (pass@2)</a:t>
            </a:r>
          </a:p>
        </p:txBody>
      </p:sp>
      <p:sp>
        <p:nvSpPr>
          <p:cNvPr id="20" name="TextBox 19"/>
          <p:cNvSpPr txBox="1"/>
          <p:nvPr/>
        </p:nvSpPr>
        <p:spPr>
          <a:xfrm>
            <a:off x="5213350" y="3308350"/>
            <a:ext cx="1397000" cy="698500"/>
          </a:xfrm>
          <a:prstGeom prst="rect">
            <a:avLst/>
          </a:prstGeom>
          <a:noFill/>
        </p:spPr>
        <p:txBody>
          <a:bodyPr wrap="square" lIns="0" tIns="0" rIns="0" bIns="0" anchor="ctr">
            <a:noAutofit/>
          </a:bodyPr>
          <a:lstStyle/>
          <a:p>
            <a:pPr algn="ctr"/>
            <a:r>
              <a:rPr sz="3200" b="1">
                <a:solidFill>
                  <a:srgbClr val="9E9E9E"/>
                </a:solidFill>
                <a:latin typeface="Radio Canada"/>
              </a:rPr>
              <a:t>0.81</a:t>
            </a:r>
          </a:p>
        </p:txBody>
      </p:sp>
      <p:cxnSp>
        <p:nvCxnSpPr>
          <p:cNvPr id="21" name="Connector 20"/>
          <p:cNvCxnSpPr/>
          <p:nvPr/>
        </p:nvCxnSpPr>
        <p:spPr>
          <a:xfrm>
            <a:off x="6673850" y="3657600"/>
            <a:ext cx="635000" cy="0"/>
          </a:xfrm>
          <a:prstGeom prst="line">
            <a:avLst/>
          </a:prstGeom>
          <a:ln w="57150">
            <a:solidFill>
              <a:srgbClr val="222836"/>
            </a:solidFill>
            <a:tailEnd type="triangle" w="med" len="med"/>
          </a:ln>
        </p:spPr>
      </p:cxnSp>
      <p:sp>
        <p:nvSpPr>
          <p:cNvPr id="22" name="TextBox 21"/>
          <p:cNvSpPr txBox="1"/>
          <p:nvPr/>
        </p:nvSpPr>
        <p:spPr>
          <a:xfrm>
            <a:off x="7372350" y="3308350"/>
            <a:ext cx="1397000" cy="698500"/>
          </a:xfrm>
          <a:prstGeom prst="rect">
            <a:avLst/>
          </a:prstGeom>
          <a:noFill/>
        </p:spPr>
        <p:txBody>
          <a:bodyPr wrap="square" lIns="0" tIns="0" rIns="0" bIns="0" anchor="ctr">
            <a:noAutofit/>
          </a:bodyPr>
          <a:lstStyle/>
          <a:p>
            <a:pPr algn="ctr"/>
            <a:r>
              <a:rPr sz="3200" b="1">
                <a:solidFill>
                  <a:srgbClr val="F09601"/>
                </a:solidFill>
                <a:latin typeface="Radio Canada"/>
              </a:rPr>
              <a:t>0.94</a:t>
            </a:r>
          </a:p>
        </p:txBody>
      </p:sp>
      <p:sp>
        <p:nvSpPr>
          <p:cNvPr id="23" name="TextBox 22"/>
          <p:cNvSpPr txBox="1"/>
          <p:nvPr/>
        </p:nvSpPr>
        <p:spPr>
          <a:xfrm>
            <a:off x="8896350" y="3308350"/>
            <a:ext cx="2413000" cy="698500"/>
          </a:xfrm>
          <a:prstGeom prst="rect">
            <a:avLst/>
          </a:prstGeom>
          <a:noFill/>
        </p:spPr>
        <p:txBody>
          <a:bodyPr wrap="square" lIns="0" tIns="0" rIns="0" bIns="0" anchor="ctr">
            <a:noAutofit/>
          </a:bodyPr>
          <a:lstStyle/>
          <a:p>
            <a:pPr algn="ctr"/>
            <a:r>
              <a:rPr sz="1600" b="0">
                <a:solidFill>
                  <a:srgbClr val="222836"/>
                </a:solidFill>
                <a:latin typeface="Radio Canada"/>
              </a:rPr>
              <a:t>26 → 30 tickets</a:t>
            </a:r>
          </a:p>
        </p:txBody>
      </p:sp>
      <p:sp>
        <p:nvSpPr>
          <p:cNvPr id="24" name="Rectangle 23"/>
          <p:cNvSpPr/>
          <p:nvPr/>
        </p:nvSpPr>
        <p:spPr>
          <a:xfrm>
            <a:off x="768350" y="4070350"/>
            <a:ext cx="10655300" cy="698500"/>
          </a:xfrm>
          <a:prstGeom prst="rect">
            <a:avLst/>
          </a:prstGeom>
          <a:solidFill>
            <a:srgbClr val="FFFFFF"/>
          </a:solidFill>
          <a:ln>
            <a:noFill/>
          </a:ln>
        </p:spPr>
        <p:txBody>
          <a:bodyPr rtlCol="0" anchor="ctr"/>
          <a:lstStyle/>
          <a:p>
            <a:pPr algn="ctr"/>
            <a:endParaRPr/>
          </a:p>
        </p:txBody>
      </p:sp>
      <p:sp>
        <p:nvSpPr>
          <p:cNvPr id="25" name="TextBox 24"/>
          <p:cNvSpPr txBox="1"/>
          <p:nvPr/>
        </p:nvSpPr>
        <p:spPr>
          <a:xfrm>
            <a:off x="958850" y="4070350"/>
            <a:ext cx="4064000" cy="698500"/>
          </a:xfrm>
          <a:prstGeom prst="rect">
            <a:avLst/>
          </a:prstGeom>
          <a:noFill/>
        </p:spPr>
        <p:txBody>
          <a:bodyPr wrap="square" lIns="0" tIns="0" rIns="0" bIns="0" anchor="ctr">
            <a:noAutofit/>
          </a:bodyPr>
          <a:lstStyle/>
          <a:p>
            <a:pPr algn="l"/>
            <a:r>
              <a:rPr sz="2100" b="1">
                <a:solidFill>
                  <a:srgbClr val="000000"/>
                </a:solidFill>
                <a:latin typeface="Radio Canada"/>
              </a:rPr>
              <a:t>Mean reward (with partial credit)</a:t>
            </a:r>
          </a:p>
        </p:txBody>
      </p:sp>
      <p:sp>
        <p:nvSpPr>
          <p:cNvPr id="26" name="TextBox 25"/>
          <p:cNvSpPr txBox="1"/>
          <p:nvPr/>
        </p:nvSpPr>
        <p:spPr>
          <a:xfrm>
            <a:off x="5213350" y="4070350"/>
            <a:ext cx="1397000" cy="698500"/>
          </a:xfrm>
          <a:prstGeom prst="rect">
            <a:avLst/>
          </a:prstGeom>
          <a:noFill/>
        </p:spPr>
        <p:txBody>
          <a:bodyPr wrap="square" lIns="0" tIns="0" rIns="0" bIns="0" anchor="ctr">
            <a:noAutofit/>
          </a:bodyPr>
          <a:lstStyle/>
          <a:p>
            <a:pPr algn="ctr"/>
            <a:r>
              <a:rPr sz="3200" b="1">
                <a:solidFill>
                  <a:srgbClr val="9E9E9E"/>
                </a:solidFill>
                <a:latin typeface="Radio Canada"/>
              </a:rPr>
              <a:t>0.88</a:t>
            </a:r>
          </a:p>
        </p:txBody>
      </p:sp>
      <p:cxnSp>
        <p:nvCxnSpPr>
          <p:cNvPr id="27" name="Connector 26"/>
          <p:cNvCxnSpPr/>
          <p:nvPr/>
        </p:nvCxnSpPr>
        <p:spPr>
          <a:xfrm>
            <a:off x="6673850" y="4419600"/>
            <a:ext cx="635000" cy="0"/>
          </a:xfrm>
          <a:prstGeom prst="line">
            <a:avLst/>
          </a:prstGeom>
          <a:ln w="57150">
            <a:solidFill>
              <a:srgbClr val="222836"/>
            </a:solidFill>
            <a:tailEnd type="triangle" w="med" len="med"/>
          </a:ln>
        </p:spPr>
      </p:cxnSp>
      <p:sp>
        <p:nvSpPr>
          <p:cNvPr id="28" name="TextBox 27"/>
          <p:cNvSpPr txBox="1"/>
          <p:nvPr/>
        </p:nvSpPr>
        <p:spPr>
          <a:xfrm>
            <a:off x="7372350" y="4070350"/>
            <a:ext cx="1397000" cy="698500"/>
          </a:xfrm>
          <a:prstGeom prst="rect">
            <a:avLst/>
          </a:prstGeom>
          <a:noFill/>
        </p:spPr>
        <p:txBody>
          <a:bodyPr wrap="square" lIns="0" tIns="0" rIns="0" bIns="0" anchor="ctr">
            <a:noAutofit/>
          </a:bodyPr>
          <a:lstStyle/>
          <a:p>
            <a:pPr algn="ctr"/>
            <a:r>
              <a:rPr sz="3200" b="1">
                <a:solidFill>
                  <a:srgbClr val="F09601"/>
                </a:solidFill>
                <a:latin typeface="Radio Canada"/>
              </a:rPr>
              <a:t>0.93</a:t>
            </a:r>
          </a:p>
        </p:txBody>
      </p:sp>
      <p:sp>
        <p:nvSpPr>
          <p:cNvPr id="29" name="TextBox 28"/>
          <p:cNvSpPr txBox="1"/>
          <p:nvPr/>
        </p:nvSpPr>
        <p:spPr>
          <a:xfrm>
            <a:off x="8896350" y="4070350"/>
            <a:ext cx="2413000" cy="698500"/>
          </a:xfrm>
          <a:prstGeom prst="rect">
            <a:avLst/>
          </a:prstGeom>
          <a:noFill/>
        </p:spPr>
        <p:txBody>
          <a:bodyPr wrap="square" lIns="0" tIns="0" rIns="0" bIns="0" anchor="ctr">
            <a:noAutofit/>
          </a:bodyPr>
          <a:lstStyle/>
          <a:p>
            <a:pPr algn="ctr"/>
            <a:r>
              <a:rPr sz="1600" b="0">
                <a:solidFill>
                  <a:srgbClr val="222836"/>
                </a:solidFill>
                <a:latin typeface="Radio Canada"/>
              </a:rPr>
              <a:t>partial credit included</a:t>
            </a:r>
          </a:p>
        </p:txBody>
      </p:sp>
      <p:sp>
        <p:nvSpPr>
          <p:cNvPr id="30" name="Rectangle 29"/>
          <p:cNvSpPr/>
          <p:nvPr/>
        </p:nvSpPr>
        <p:spPr>
          <a:xfrm>
            <a:off x="768350" y="5340350"/>
            <a:ext cx="10655300" cy="749300"/>
          </a:xfrm>
          <a:prstGeom prst="rect">
            <a:avLst/>
          </a:prstGeom>
          <a:solidFill>
            <a:srgbClr val="222836"/>
          </a:solidFill>
          <a:ln>
            <a:noFill/>
          </a:ln>
        </p:spPr>
        <p:txBody>
          <a:bodyPr wrap="square" lIns="0" tIns="0" rIns="0" bIns="0" rtlCol="0" anchor="ctr">
            <a:noAutofit/>
          </a:bodyPr>
          <a:lstStyle/>
          <a:p>
            <a:pPr algn="ctr"/>
            <a:r>
              <a:rPr sz="2100" b="0">
                <a:solidFill>
                  <a:srgbClr val="FFFFFF"/>
                </a:solidFill>
                <a:latin typeface="Radio Canada"/>
              </a:rPr>
              <a:t>+20 points on tickets </a:t>
            </a:r>
            <a:r>
              <a:rPr sz="2100" b="0">
                <a:solidFill>
                  <a:srgbClr val="F09601"/>
                </a:solidFill>
                <a:latin typeface="Radio Canada"/>
              </a:rPr>
              <a:t>it never saw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768325" y="768325"/>
            <a:ext cx="10655267" cy="749274"/>
          </a:xfrm>
          <a:prstGeom prst="rect">
            <a:avLst/>
          </a:prstGeom>
          <a:solidFill>
            <a:srgbClr val="FFFFFF"/>
          </a:solidFill>
          <a:ln/>
        </p:spPr>
        <p:txBody>
          <a:bodyPr/>
          <a:lstStyle/>
          <a:p>
            <a:endParaRPr lang="en-AE"/>
          </a:p>
        </p:txBody>
      </p:sp>
      <p:sp>
        <p:nvSpPr>
          <p:cNvPr id="4" name="Text 1"/>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Not magic: ticket by ticket</a:t>
            </a:r>
            <a:endParaRPr lang="en-US" sz="3000" dirty="0"/>
          </a:p>
        </p:txBody>
      </p:sp>
      <p:sp>
        <p:nvSpPr>
          <p:cNvPr id="5" name="Shape 2"/>
          <p:cNvSpPr/>
          <p:nvPr/>
        </p:nvSpPr>
        <p:spPr>
          <a:xfrm>
            <a:off x="768325" y="1530344"/>
            <a:ext cx="10655267" cy="1511294"/>
          </a:xfrm>
          <a:prstGeom prst="rect">
            <a:avLst/>
          </a:prstGeom>
          <a:solidFill>
            <a:srgbClr val="FFFFFF"/>
          </a:solidFill>
          <a:ln/>
        </p:spPr>
        <p:txBody>
          <a:bodyPr/>
          <a:lstStyle/>
          <a:p>
            <a:endParaRPr lang="en-AE"/>
          </a:p>
        </p:txBody>
      </p:sp>
      <p:sp>
        <p:nvSpPr>
          <p:cNvPr id="6" name="Text 3"/>
          <p:cNvSpPr/>
          <p:nvPr/>
        </p:nvSpPr>
        <p:spPr>
          <a:xfrm>
            <a:off x="1054061"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7" name="Text 4"/>
          <p:cNvSpPr/>
          <p:nvPr/>
        </p:nvSpPr>
        <p:spPr>
          <a:xfrm>
            <a:off x="1689027"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8" name="Text 5"/>
          <p:cNvSpPr/>
          <p:nvPr/>
        </p:nvSpPr>
        <p:spPr>
          <a:xfrm>
            <a:off x="2323992"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9" name="Text 6"/>
          <p:cNvSpPr/>
          <p:nvPr/>
        </p:nvSpPr>
        <p:spPr>
          <a:xfrm>
            <a:off x="2958958"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0" name="Text 7"/>
          <p:cNvSpPr/>
          <p:nvPr/>
        </p:nvSpPr>
        <p:spPr>
          <a:xfrm>
            <a:off x="3593924"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1" name="Text 8"/>
          <p:cNvSpPr/>
          <p:nvPr/>
        </p:nvSpPr>
        <p:spPr>
          <a:xfrm>
            <a:off x="4228889"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2" name="Text 9"/>
          <p:cNvSpPr/>
          <p:nvPr/>
        </p:nvSpPr>
        <p:spPr>
          <a:xfrm>
            <a:off x="4863855"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3" name="Text 10"/>
          <p:cNvSpPr/>
          <p:nvPr/>
        </p:nvSpPr>
        <p:spPr>
          <a:xfrm>
            <a:off x="5498820"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4" name="Text 11"/>
          <p:cNvSpPr/>
          <p:nvPr/>
        </p:nvSpPr>
        <p:spPr>
          <a:xfrm>
            <a:off x="6133786"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5" name="Text 12"/>
          <p:cNvSpPr/>
          <p:nvPr/>
        </p:nvSpPr>
        <p:spPr>
          <a:xfrm>
            <a:off x="6768751"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6" name="Text 13"/>
          <p:cNvSpPr/>
          <p:nvPr/>
        </p:nvSpPr>
        <p:spPr>
          <a:xfrm>
            <a:off x="7403716"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7" name="Text 14"/>
          <p:cNvSpPr/>
          <p:nvPr/>
        </p:nvSpPr>
        <p:spPr>
          <a:xfrm>
            <a:off x="8038682"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8" name="Text 15"/>
          <p:cNvSpPr/>
          <p:nvPr/>
        </p:nvSpPr>
        <p:spPr>
          <a:xfrm>
            <a:off x="8673647" y="1689094"/>
            <a:ext cx="558794" cy="558794"/>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000000"/>
                </a:solidFill>
                <a:latin typeface="Radio Canada" pitchFamily="34" charset="0"/>
                <a:ea typeface="Radio Canada" pitchFamily="34" charset="-122"/>
                <a:cs typeface="Radio Canada" pitchFamily="34" charset="-120"/>
              </a:rPr>
              <a:t>+</a:t>
            </a:r>
            <a:endParaRPr lang="en-US" sz="2100" dirty="0"/>
          </a:p>
        </p:txBody>
      </p:sp>
      <p:sp>
        <p:nvSpPr>
          <p:cNvPr id="19" name="Text 16"/>
          <p:cNvSpPr/>
          <p:nvPr/>
        </p:nvSpPr>
        <p:spPr>
          <a:xfrm>
            <a:off x="9318138" y="1698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0" name="Text 17"/>
          <p:cNvSpPr/>
          <p:nvPr/>
        </p:nvSpPr>
        <p:spPr>
          <a:xfrm>
            <a:off x="9953104" y="1698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1" name="Text 18"/>
          <p:cNvSpPr/>
          <p:nvPr/>
        </p:nvSpPr>
        <p:spPr>
          <a:xfrm>
            <a:off x="10588069" y="1698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2" name="Text 19"/>
          <p:cNvSpPr/>
          <p:nvPr/>
        </p:nvSpPr>
        <p:spPr>
          <a:xfrm>
            <a:off x="1063586"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3" name="Text 20"/>
          <p:cNvSpPr/>
          <p:nvPr/>
        </p:nvSpPr>
        <p:spPr>
          <a:xfrm>
            <a:off x="1698552"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4" name="Text 21"/>
          <p:cNvSpPr/>
          <p:nvPr/>
        </p:nvSpPr>
        <p:spPr>
          <a:xfrm>
            <a:off x="2333517"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5" name="Text 22"/>
          <p:cNvSpPr/>
          <p:nvPr/>
        </p:nvSpPr>
        <p:spPr>
          <a:xfrm>
            <a:off x="2968483"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6" name="Text 23"/>
          <p:cNvSpPr/>
          <p:nvPr/>
        </p:nvSpPr>
        <p:spPr>
          <a:xfrm>
            <a:off x="3603449"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7" name="Text 24"/>
          <p:cNvSpPr/>
          <p:nvPr/>
        </p:nvSpPr>
        <p:spPr>
          <a:xfrm>
            <a:off x="4238414"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8" name="Text 25"/>
          <p:cNvSpPr/>
          <p:nvPr/>
        </p:nvSpPr>
        <p:spPr>
          <a:xfrm>
            <a:off x="4873380"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29" name="Text 26"/>
          <p:cNvSpPr/>
          <p:nvPr/>
        </p:nvSpPr>
        <p:spPr>
          <a:xfrm>
            <a:off x="5508345"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30" name="Text 27"/>
          <p:cNvSpPr/>
          <p:nvPr/>
        </p:nvSpPr>
        <p:spPr>
          <a:xfrm>
            <a:off x="6143311"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31" name="Text 28"/>
          <p:cNvSpPr/>
          <p:nvPr/>
        </p:nvSpPr>
        <p:spPr>
          <a:xfrm>
            <a:off x="6778276" y="2333619"/>
            <a:ext cx="539744" cy="539744"/>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2100"/>
              </a:lnSpc>
              <a:buNone/>
            </a:pPr>
            <a:r>
              <a:rPr lang="en-US" sz="2100" b="1" dirty="0">
                <a:solidFill>
                  <a:srgbClr val="222836"/>
                </a:solidFill>
                <a:latin typeface="Radio Canada" pitchFamily="34" charset="0"/>
                <a:ea typeface="Radio Canada" pitchFamily="34" charset="-122"/>
                <a:cs typeface="Radio Canada" pitchFamily="34" charset="-120"/>
              </a:rPr>
              <a:t>=</a:t>
            </a:r>
            <a:endParaRPr lang="en-US" sz="2100" dirty="0"/>
          </a:p>
        </p:txBody>
      </p:sp>
      <p:sp>
        <p:nvSpPr>
          <p:cNvPr id="32" name="Text 29"/>
          <p:cNvSpPr/>
          <p:nvPr/>
        </p:nvSpPr>
        <p:spPr>
          <a:xfrm>
            <a:off x="7403716" y="2324094"/>
            <a:ext cx="558794" cy="558794"/>
          </a:xfrm>
          <a:prstGeom prst="rect">
            <a:avLst/>
          </a:prstGeom>
          <a:solidFill>
            <a:srgbClr val="222836"/>
          </a:solidFill>
          <a:ln/>
        </p:spPr>
        <p:txBody>
          <a:bodyPr wrap="square" lIns="0" tIns="0" rIns="0" bIns="0" rtlCol="0" anchor="ctr">
            <a:normAutofit/>
          </a:bodyPr>
          <a:lstStyle/>
          <a:p>
            <a:pPr marL="0" indent="0" algn="ctr">
              <a:lnSpc>
                <a:spcPts val="2100"/>
              </a:lnSpc>
              <a:buNone/>
            </a:pPr>
            <a:r>
              <a:rPr lang="en-US" sz="2100" b="1" dirty="0">
                <a:solidFill>
                  <a:srgbClr val="FFFFFF"/>
                </a:solidFill>
                <a:latin typeface="Radio Canada" pitchFamily="34" charset="0"/>
                <a:ea typeface="Radio Canada" pitchFamily="34" charset="-122"/>
                <a:cs typeface="Radio Canada" pitchFamily="34" charset="-120"/>
              </a:rPr>
              <a:t>−</a:t>
            </a:r>
            <a:endParaRPr lang="en-US" sz="2100" dirty="0"/>
          </a:p>
        </p:txBody>
      </p:sp>
      <p:sp>
        <p:nvSpPr>
          <p:cNvPr id="33" name="Text 30"/>
          <p:cNvSpPr/>
          <p:nvPr/>
        </p:nvSpPr>
        <p:spPr>
          <a:xfrm>
            <a:off x="8038682" y="2324094"/>
            <a:ext cx="558794" cy="558794"/>
          </a:xfrm>
          <a:prstGeom prst="rect">
            <a:avLst/>
          </a:prstGeom>
          <a:solidFill>
            <a:srgbClr val="222836"/>
          </a:solidFill>
          <a:ln/>
        </p:spPr>
        <p:txBody>
          <a:bodyPr wrap="square" lIns="0" tIns="0" rIns="0" bIns="0" rtlCol="0" anchor="ctr">
            <a:normAutofit/>
          </a:bodyPr>
          <a:lstStyle/>
          <a:p>
            <a:pPr marL="0" indent="0" algn="ctr">
              <a:lnSpc>
                <a:spcPts val="2100"/>
              </a:lnSpc>
              <a:buNone/>
            </a:pPr>
            <a:r>
              <a:rPr lang="en-US" sz="2100" b="1" dirty="0">
                <a:solidFill>
                  <a:srgbClr val="FFFFFF"/>
                </a:solidFill>
                <a:latin typeface="Radio Canada" pitchFamily="34" charset="0"/>
                <a:ea typeface="Radio Canada" pitchFamily="34" charset="-122"/>
                <a:cs typeface="Radio Canada" pitchFamily="34" charset="-120"/>
              </a:rPr>
              <a:t>−</a:t>
            </a:r>
            <a:endParaRPr lang="en-US" sz="2100" dirty="0"/>
          </a:p>
        </p:txBody>
      </p:sp>
      <p:sp>
        <p:nvSpPr>
          <p:cNvPr id="34" name="Text 31"/>
          <p:cNvSpPr/>
          <p:nvPr/>
        </p:nvSpPr>
        <p:spPr>
          <a:xfrm>
            <a:off x="8673647" y="2324094"/>
            <a:ext cx="558794" cy="558794"/>
          </a:xfrm>
          <a:prstGeom prst="rect">
            <a:avLst/>
          </a:prstGeom>
          <a:solidFill>
            <a:srgbClr val="222836"/>
          </a:solidFill>
          <a:ln/>
        </p:spPr>
        <p:txBody>
          <a:bodyPr wrap="square" lIns="0" tIns="0" rIns="0" bIns="0" rtlCol="0" anchor="ctr">
            <a:normAutofit/>
          </a:bodyPr>
          <a:lstStyle/>
          <a:p>
            <a:pPr marL="0" indent="0" algn="ctr">
              <a:lnSpc>
                <a:spcPts val="2100"/>
              </a:lnSpc>
              <a:buNone/>
            </a:pPr>
            <a:r>
              <a:rPr lang="en-US" sz="2100" b="1" dirty="0">
                <a:solidFill>
                  <a:srgbClr val="FFFFFF"/>
                </a:solidFill>
                <a:latin typeface="Radio Canada" pitchFamily="34" charset="0"/>
                <a:ea typeface="Radio Canada" pitchFamily="34" charset="-122"/>
                <a:cs typeface="Radio Canada" pitchFamily="34" charset="-120"/>
              </a:rPr>
              <a:t>−</a:t>
            </a:r>
            <a:endParaRPr lang="en-US" sz="2100" dirty="0"/>
          </a:p>
        </p:txBody>
      </p:sp>
      <p:sp>
        <p:nvSpPr>
          <p:cNvPr id="35" name="Text 32"/>
          <p:cNvSpPr/>
          <p:nvPr/>
        </p:nvSpPr>
        <p:spPr>
          <a:xfrm>
            <a:off x="9308613" y="2324094"/>
            <a:ext cx="558794" cy="558794"/>
          </a:xfrm>
          <a:prstGeom prst="rect">
            <a:avLst/>
          </a:prstGeom>
          <a:solidFill>
            <a:srgbClr val="222836"/>
          </a:solidFill>
          <a:ln/>
        </p:spPr>
        <p:txBody>
          <a:bodyPr wrap="square" lIns="0" tIns="0" rIns="0" bIns="0" rtlCol="0" anchor="ctr">
            <a:normAutofit/>
          </a:bodyPr>
          <a:lstStyle/>
          <a:p>
            <a:pPr marL="0" indent="0" algn="ctr">
              <a:lnSpc>
                <a:spcPts val="2100"/>
              </a:lnSpc>
              <a:buNone/>
            </a:pPr>
            <a:r>
              <a:rPr lang="en-US" sz="2100" b="1" dirty="0">
                <a:solidFill>
                  <a:srgbClr val="FFFFFF"/>
                </a:solidFill>
                <a:latin typeface="Radio Canada" pitchFamily="34" charset="0"/>
                <a:ea typeface="Radio Canada" pitchFamily="34" charset="-122"/>
                <a:cs typeface="Radio Canada" pitchFamily="34" charset="-120"/>
              </a:rPr>
              <a:t>−</a:t>
            </a:r>
            <a:endParaRPr lang="en-US" sz="2100" dirty="0"/>
          </a:p>
        </p:txBody>
      </p:sp>
      <p:sp>
        <p:nvSpPr>
          <p:cNvPr id="36" name="Text 33"/>
          <p:cNvSpPr/>
          <p:nvPr/>
        </p:nvSpPr>
        <p:spPr>
          <a:xfrm>
            <a:off x="9943579" y="2324094"/>
            <a:ext cx="558794" cy="558794"/>
          </a:xfrm>
          <a:prstGeom prst="rect">
            <a:avLst/>
          </a:prstGeom>
          <a:solidFill>
            <a:srgbClr val="222836"/>
          </a:solidFill>
          <a:ln/>
        </p:spPr>
        <p:txBody>
          <a:bodyPr wrap="square" lIns="0" tIns="0" rIns="0" bIns="0" rtlCol="0" anchor="ctr">
            <a:normAutofit/>
          </a:bodyPr>
          <a:lstStyle/>
          <a:p>
            <a:pPr marL="0" indent="0" algn="ctr">
              <a:lnSpc>
                <a:spcPts val="2100"/>
              </a:lnSpc>
              <a:buNone/>
            </a:pPr>
            <a:r>
              <a:rPr lang="en-US" sz="2100" b="1" dirty="0">
                <a:solidFill>
                  <a:srgbClr val="FFFFFF"/>
                </a:solidFill>
                <a:latin typeface="Radio Canada" pitchFamily="34" charset="0"/>
                <a:ea typeface="Radio Canada" pitchFamily="34" charset="-122"/>
                <a:cs typeface="Radio Canada" pitchFamily="34" charset="-120"/>
              </a:rPr>
              <a:t>−</a:t>
            </a:r>
            <a:endParaRPr lang="en-US" sz="2100" dirty="0"/>
          </a:p>
        </p:txBody>
      </p:sp>
      <p:sp>
        <p:nvSpPr>
          <p:cNvPr id="37" name="Text 34"/>
          <p:cNvSpPr/>
          <p:nvPr/>
        </p:nvSpPr>
        <p:spPr>
          <a:xfrm>
            <a:off x="10578544" y="2324094"/>
            <a:ext cx="558794" cy="558794"/>
          </a:xfrm>
          <a:prstGeom prst="rect">
            <a:avLst/>
          </a:prstGeom>
          <a:solidFill>
            <a:srgbClr val="222836"/>
          </a:solidFill>
          <a:ln/>
        </p:spPr>
        <p:txBody>
          <a:bodyPr wrap="square" lIns="0" tIns="0" rIns="0" bIns="0" rtlCol="0" anchor="ctr">
            <a:normAutofit/>
          </a:bodyPr>
          <a:lstStyle/>
          <a:p>
            <a:pPr marL="0" indent="0" algn="ctr">
              <a:lnSpc>
                <a:spcPts val="2100"/>
              </a:lnSpc>
              <a:buNone/>
            </a:pPr>
            <a:r>
              <a:rPr lang="en-US" sz="2100" b="1" dirty="0">
                <a:solidFill>
                  <a:srgbClr val="FFFFFF"/>
                </a:solidFill>
                <a:latin typeface="Radio Canada" pitchFamily="34" charset="0"/>
                <a:ea typeface="Radio Canada" pitchFamily="34" charset="-122"/>
                <a:cs typeface="Radio Canada" pitchFamily="34" charset="-120"/>
              </a:rPr>
              <a:t>−</a:t>
            </a:r>
            <a:endParaRPr lang="en-US" sz="2100" dirty="0"/>
          </a:p>
        </p:txBody>
      </p:sp>
      <p:sp>
        <p:nvSpPr>
          <p:cNvPr id="38" name="Shape 35"/>
          <p:cNvSpPr/>
          <p:nvPr/>
        </p:nvSpPr>
        <p:spPr>
          <a:xfrm>
            <a:off x="768325" y="3054319"/>
            <a:ext cx="3035267" cy="1511294"/>
          </a:xfrm>
          <a:prstGeom prst="rect">
            <a:avLst/>
          </a:prstGeom>
          <a:solidFill>
            <a:srgbClr val="FFFFFF"/>
          </a:solidFill>
          <a:ln/>
        </p:spPr>
        <p:txBody>
          <a:bodyPr/>
          <a:lstStyle/>
          <a:p>
            <a:endParaRPr lang="en-AE"/>
          </a:p>
        </p:txBody>
      </p:sp>
      <p:sp>
        <p:nvSpPr>
          <p:cNvPr id="39" name="Text 36"/>
          <p:cNvSpPr/>
          <p:nvPr/>
        </p:nvSpPr>
        <p:spPr>
          <a:xfrm>
            <a:off x="958804" y="3251547"/>
            <a:ext cx="2733937" cy="787386"/>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F7322"/>
                </a:solidFill>
                <a:latin typeface="Radio Canada" pitchFamily="34" charset="0"/>
                <a:ea typeface="Radio Canada" pitchFamily="34" charset="-122"/>
                <a:cs typeface="Radio Canada" pitchFamily="34" charset="-120"/>
              </a:rPr>
              <a:t>13</a:t>
            </a:r>
            <a:endParaRPr lang="en-US" sz="6000" dirty="0"/>
          </a:p>
        </p:txBody>
      </p:sp>
      <p:sp>
        <p:nvSpPr>
          <p:cNvPr id="40" name="Text 37"/>
          <p:cNvSpPr/>
          <p:nvPr/>
        </p:nvSpPr>
        <p:spPr>
          <a:xfrm>
            <a:off x="958804" y="4089326"/>
            <a:ext cx="253972" cy="253972"/>
          </a:xfrm>
          <a:prstGeom prst="rect">
            <a:avLst/>
          </a:prstGeom>
          <a:solidFill>
            <a:srgbClr val="F09601"/>
          </a:solidFill>
          <a:ln/>
        </p:spPr>
        <p:txBody>
          <a:bodyPr wrap="square" lIns="0" tIns="0" rIns="0" bIns="0" rtlCol="0" anchor="ctr">
            <a:normAutofit/>
          </a:bodyPr>
          <a:lstStyle/>
          <a:p>
            <a:pPr marL="0" indent="0" algn="ctr">
              <a:lnSpc>
                <a:spcPts val="1400"/>
              </a:lnSpc>
              <a:buNone/>
            </a:pPr>
            <a:r>
              <a:rPr lang="en-US" sz="1400" b="1" dirty="0">
                <a:solidFill>
                  <a:srgbClr val="000000"/>
                </a:solidFill>
                <a:latin typeface="Radio Canada" pitchFamily="34" charset="0"/>
                <a:ea typeface="Radio Canada" pitchFamily="34" charset="-122"/>
                <a:cs typeface="Radio Canada" pitchFamily="34" charset="-120"/>
              </a:rPr>
              <a:t>+</a:t>
            </a:r>
            <a:endParaRPr lang="en-US" sz="1400" dirty="0"/>
          </a:p>
        </p:txBody>
      </p:sp>
      <p:sp>
        <p:nvSpPr>
          <p:cNvPr id="41" name="Text 38"/>
          <p:cNvSpPr/>
          <p:nvPr/>
        </p:nvSpPr>
        <p:spPr>
          <a:xfrm>
            <a:off x="1307999" y="4064316"/>
            <a:ext cx="781844"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000000"/>
                </a:solidFill>
                <a:latin typeface="Radio Canada" pitchFamily="34" charset="0"/>
                <a:ea typeface="Radio Canada" pitchFamily="34" charset="-122"/>
                <a:cs typeface="Radio Canada" pitchFamily="34" charset="-120"/>
              </a:rPr>
              <a:t>better</a:t>
            </a:r>
            <a:endParaRPr lang="en-US" sz="1800" dirty="0"/>
          </a:p>
        </p:txBody>
      </p:sp>
      <p:sp>
        <p:nvSpPr>
          <p:cNvPr id="42" name="Shape 39"/>
          <p:cNvSpPr/>
          <p:nvPr/>
        </p:nvSpPr>
        <p:spPr>
          <a:xfrm>
            <a:off x="4578325" y="3054319"/>
            <a:ext cx="3035267" cy="1511294"/>
          </a:xfrm>
          <a:prstGeom prst="rect">
            <a:avLst/>
          </a:prstGeom>
          <a:solidFill>
            <a:srgbClr val="FFFFFF"/>
          </a:solidFill>
          <a:ln/>
        </p:spPr>
        <p:txBody>
          <a:bodyPr/>
          <a:lstStyle/>
          <a:p>
            <a:endParaRPr lang="en-AE"/>
          </a:p>
        </p:txBody>
      </p:sp>
      <p:sp>
        <p:nvSpPr>
          <p:cNvPr id="43" name="Text 40"/>
          <p:cNvSpPr/>
          <p:nvPr/>
        </p:nvSpPr>
        <p:spPr>
          <a:xfrm>
            <a:off x="4768804" y="3251547"/>
            <a:ext cx="2733937" cy="787386"/>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0000"/>
                </a:solidFill>
                <a:latin typeface="Radio Canada" pitchFamily="34" charset="0"/>
                <a:ea typeface="Radio Canada" pitchFamily="34" charset="-122"/>
                <a:cs typeface="Radio Canada" pitchFamily="34" charset="-120"/>
              </a:rPr>
              <a:t>13</a:t>
            </a:r>
            <a:endParaRPr lang="en-US" sz="6000" dirty="0"/>
          </a:p>
        </p:txBody>
      </p:sp>
      <p:sp>
        <p:nvSpPr>
          <p:cNvPr id="44" name="Text 41"/>
          <p:cNvSpPr/>
          <p:nvPr/>
        </p:nvSpPr>
        <p:spPr>
          <a:xfrm>
            <a:off x="4778329" y="4098851"/>
            <a:ext cx="234922" cy="234922"/>
          </a:xfrm>
          <a:prstGeom prst="rect">
            <a:avLst/>
          </a:prstGeom>
          <a:solidFill>
            <a:srgbClr val="FFFFFF"/>
          </a:solidFill>
          <a:ln w="19050">
            <a:solidFill>
              <a:srgbClr val="222836"/>
            </a:solidFill>
            <a:prstDash val="solid"/>
          </a:ln>
        </p:spPr>
        <p:txBody>
          <a:bodyPr wrap="square" lIns="8114" tIns="8114" rIns="8114" bIns="8114" rtlCol="0" anchor="ctr">
            <a:normAutofit/>
          </a:bodyPr>
          <a:lstStyle/>
          <a:p>
            <a:pPr marL="0" indent="0" algn="ctr">
              <a:lnSpc>
                <a:spcPts val="1400"/>
              </a:lnSpc>
              <a:buNone/>
            </a:pPr>
            <a:r>
              <a:rPr lang="en-US" sz="1400" b="1" dirty="0">
                <a:solidFill>
                  <a:srgbClr val="222836"/>
                </a:solidFill>
                <a:latin typeface="Radio Canada" pitchFamily="34" charset="0"/>
                <a:ea typeface="Radio Canada" pitchFamily="34" charset="-122"/>
                <a:cs typeface="Radio Canada" pitchFamily="34" charset="-120"/>
              </a:rPr>
              <a:t>=</a:t>
            </a:r>
            <a:endParaRPr lang="en-US" sz="1400" dirty="0"/>
          </a:p>
        </p:txBody>
      </p:sp>
      <p:sp>
        <p:nvSpPr>
          <p:cNvPr id="45" name="Text 42"/>
          <p:cNvSpPr/>
          <p:nvPr/>
        </p:nvSpPr>
        <p:spPr>
          <a:xfrm>
            <a:off x="5117999" y="4064316"/>
            <a:ext cx="1173840"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000000"/>
                </a:solidFill>
                <a:latin typeface="Radio Canada" pitchFamily="34" charset="0"/>
                <a:ea typeface="Radio Canada" pitchFamily="34" charset="-122"/>
                <a:cs typeface="Radio Canada" pitchFamily="34" charset="-120"/>
              </a:rPr>
              <a:t>the same</a:t>
            </a:r>
            <a:endParaRPr lang="en-US" sz="1800" dirty="0"/>
          </a:p>
        </p:txBody>
      </p:sp>
      <p:sp>
        <p:nvSpPr>
          <p:cNvPr id="46" name="Shape 43"/>
          <p:cNvSpPr/>
          <p:nvPr/>
        </p:nvSpPr>
        <p:spPr>
          <a:xfrm>
            <a:off x="8388325" y="3054319"/>
            <a:ext cx="3035267" cy="1511294"/>
          </a:xfrm>
          <a:prstGeom prst="rect">
            <a:avLst/>
          </a:prstGeom>
          <a:solidFill>
            <a:srgbClr val="FFFFFF"/>
          </a:solidFill>
          <a:ln/>
        </p:spPr>
        <p:txBody>
          <a:bodyPr/>
          <a:lstStyle/>
          <a:p>
            <a:endParaRPr lang="en-AE"/>
          </a:p>
        </p:txBody>
      </p:sp>
      <p:sp>
        <p:nvSpPr>
          <p:cNvPr id="47" name="Text 44"/>
          <p:cNvSpPr/>
          <p:nvPr/>
        </p:nvSpPr>
        <p:spPr>
          <a:xfrm>
            <a:off x="8578804" y="3251547"/>
            <a:ext cx="2733937" cy="787386"/>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0000"/>
                </a:solidFill>
                <a:latin typeface="Radio Canada" pitchFamily="34" charset="0"/>
                <a:ea typeface="Radio Canada" pitchFamily="34" charset="-122"/>
                <a:cs typeface="Radio Canada" pitchFamily="34" charset="-120"/>
              </a:rPr>
              <a:t>6</a:t>
            </a:r>
            <a:endParaRPr lang="en-US" sz="6000" dirty="0"/>
          </a:p>
        </p:txBody>
      </p:sp>
      <p:sp>
        <p:nvSpPr>
          <p:cNvPr id="48" name="Text 45"/>
          <p:cNvSpPr/>
          <p:nvPr/>
        </p:nvSpPr>
        <p:spPr>
          <a:xfrm>
            <a:off x="8578804" y="4089326"/>
            <a:ext cx="253972" cy="253972"/>
          </a:xfrm>
          <a:prstGeom prst="rect">
            <a:avLst/>
          </a:prstGeom>
          <a:solidFill>
            <a:srgbClr val="222836"/>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Radio Canada" pitchFamily="34" charset="0"/>
                <a:ea typeface="Radio Canada" pitchFamily="34" charset="-122"/>
                <a:cs typeface="Radio Canada" pitchFamily="34" charset="-120"/>
              </a:rPr>
              <a:t>−</a:t>
            </a:r>
            <a:endParaRPr lang="en-US" sz="1400" dirty="0"/>
          </a:p>
        </p:txBody>
      </p:sp>
      <p:sp>
        <p:nvSpPr>
          <p:cNvPr id="49" name="Text 46"/>
          <p:cNvSpPr/>
          <p:nvPr/>
        </p:nvSpPr>
        <p:spPr>
          <a:xfrm>
            <a:off x="8927999" y="4064316"/>
            <a:ext cx="753029" cy="329430"/>
          </a:xfrm>
          <a:prstGeom prst="rect">
            <a:avLst/>
          </a:prstGeom>
          <a:noFill/>
          <a:ln/>
        </p:spPr>
        <p:txBody>
          <a:bodyPr wrap="square" lIns="0" tIns="0" rIns="0" bIns="0" rtlCol="0" anchor="t">
            <a:normAutofit/>
          </a:bodyPr>
          <a:lstStyle/>
          <a:p>
            <a:pPr marL="0" indent="0" algn="l">
              <a:lnSpc>
                <a:spcPts val="2394"/>
              </a:lnSpc>
              <a:buNone/>
            </a:pPr>
            <a:r>
              <a:rPr lang="en-US" sz="1800" dirty="0">
                <a:solidFill>
                  <a:srgbClr val="000000"/>
                </a:solidFill>
                <a:latin typeface="Radio Canada" pitchFamily="34" charset="0"/>
                <a:ea typeface="Radio Canada" pitchFamily="34" charset="-122"/>
                <a:cs typeface="Radio Canada" pitchFamily="34" charset="-120"/>
              </a:rPr>
              <a:t>worse</a:t>
            </a:r>
            <a:endParaRPr lang="en-US" sz="1800" dirty="0"/>
          </a:p>
        </p:txBody>
      </p:sp>
      <p:sp>
        <p:nvSpPr>
          <p:cNvPr id="50" name="Text 47"/>
          <p:cNvSpPr/>
          <p:nvPr/>
        </p:nvSpPr>
        <p:spPr>
          <a:xfrm>
            <a:off x="768325" y="5340344"/>
            <a:ext cx="10655267" cy="749274"/>
          </a:xfrm>
          <a:prstGeom prst="rect">
            <a:avLst/>
          </a:prstGeom>
          <a:solidFill>
            <a:srgbClr val="FFFFFF"/>
          </a:solidFill>
          <a:ln/>
        </p:spPr>
        <p:txBody>
          <a:bodyPr wrap="square" lIns="36365" tIns="0" rIns="36365" bIns="0" rtlCol="0" anchor="ctr">
            <a:normAutofit/>
          </a:bodyPr>
          <a:lstStyle/>
          <a:p>
            <a:pPr marL="0" indent="0" algn="ctr">
              <a:lnSpc>
                <a:spcPts val="2604"/>
              </a:lnSpc>
              <a:buNone/>
            </a:pPr>
            <a:r>
              <a:rPr lang="en-US" sz="2100" b="1" dirty="0">
                <a:solidFill>
                  <a:srgbClr val="000000"/>
                </a:solidFill>
                <a:latin typeface="Radio Canada" pitchFamily="34" charset="0"/>
                <a:ea typeface="Radio Canada" pitchFamily="34" charset="-122"/>
                <a:cs typeface="Radio Canada" pitchFamily="34" charset="-120"/>
              </a:rPr>
              <a:t>Like any team after a training day.</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3054319"/>
            <a:ext cx="749274" cy="749274"/>
          </a:xfrm>
          <a:prstGeom prst="rect">
            <a:avLst/>
          </a:prstGeom>
          <a:solidFill>
            <a:srgbClr val="F09601"/>
          </a:solidFill>
          <a:ln/>
        </p:spPr>
        <p:txBody>
          <a:bodyPr/>
          <a:lstStyle/>
          <a:p>
            <a:endParaRPr lang="en-AE"/>
          </a:p>
        </p:txBody>
      </p:sp>
      <p:sp>
        <p:nvSpPr>
          <p:cNvPr id="4" name="Shape 1"/>
          <p:cNvSpPr/>
          <p:nvPr/>
        </p:nvSpPr>
        <p:spPr>
          <a:xfrm>
            <a:off x="4578325" y="4578325"/>
            <a:ext cx="749274" cy="749274"/>
          </a:xfrm>
          <a:prstGeom prst="rect">
            <a:avLst/>
          </a:prstGeom>
          <a:solidFill>
            <a:srgbClr val="222836"/>
          </a:solidFill>
          <a:ln/>
        </p:spPr>
        <p:txBody>
          <a:bodyPr/>
          <a:lstStyle/>
          <a:p>
            <a:endParaRPr lang="en-AE"/>
          </a:p>
        </p:txBody>
      </p:sp>
      <p:sp>
        <p:nvSpPr>
          <p:cNvPr id="5" name="Shape 2"/>
          <p:cNvSpPr/>
          <p:nvPr/>
        </p:nvSpPr>
        <p:spPr>
          <a:xfrm>
            <a:off x="11436338" y="4578325"/>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6845267" cy="151129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6845267" cy="151129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Would you trust the trained agent to complete this task?</a:t>
            </a:r>
            <a:endParaRPr lang="en-US" sz="3000" dirty="0"/>
          </a:p>
        </p:txBody>
      </p:sp>
      <p:sp>
        <p:nvSpPr>
          <p:cNvPr id="8" name="Shape 5"/>
          <p:cNvSpPr/>
          <p:nvPr/>
        </p:nvSpPr>
        <p:spPr>
          <a:xfrm>
            <a:off x="768325" y="2292331"/>
            <a:ext cx="6845267" cy="2273281"/>
          </a:xfrm>
          <a:prstGeom prst="rect">
            <a:avLst/>
          </a:prstGeom>
          <a:solidFill>
            <a:srgbClr val="FFFFFF"/>
          </a:solidFill>
          <a:ln/>
        </p:spPr>
        <p:txBody>
          <a:bodyPr/>
          <a:lstStyle/>
          <a:p>
            <a:endParaRPr lang="en-AE"/>
          </a:p>
        </p:txBody>
      </p:sp>
      <p:sp>
        <p:nvSpPr>
          <p:cNvPr id="9" name="Text 6"/>
          <p:cNvSpPr/>
          <p:nvPr/>
        </p:nvSpPr>
        <p:spPr>
          <a:xfrm>
            <a:off x="958804" y="2540000"/>
            <a:ext cx="507979" cy="507979"/>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222836"/>
                </a:solidFill>
                <a:latin typeface="Poppins" pitchFamily="34" charset="0"/>
                <a:ea typeface="Poppins" pitchFamily="34" charset="-122"/>
                <a:cs typeface="Poppins" pitchFamily="34" charset="-120"/>
              </a:rPr>
              <a:t>A</a:t>
            </a:r>
            <a:endParaRPr lang="en-US" sz="2100" dirty="0"/>
          </a:p>
        </p:txBody>
      </p:sp>
      <p:sp>
        <p:nvSpPr>
          <p:cNvPr id="10" name="Text 7"/>
          <p:cNvSpPr/>
          <p:nvPr/>
        </p:nvSpPr>
        <p:spPr>
          <a:xfrm>
            <a:off x="1657263" y="2628640"/>
            <a:ext cx="1590931" cy="356060"/>
          </a:xfrm>
          <a:prstGeom prst="rect">
            <a:avLst/>
          </a:prstGeom>
          <a:noFill/>
          <a:ln/>
        </p:spPr>
        <p:txBody>
          <a:bodyPr wrap="square" lIns="0" tIns="0" rIns="0" bIns="0" rtlCol="0" anchor="t">
            <a:normAutofit/>
          </a:bodyPr>
          <a:lstStyle/>
          <a:p>
            <a:pPr marL="0" indent="0" algn="l">
              <a:lnSpc>
                <a:spcPts val="2604"/>
              </a:lnSpc>
              <a:buNone/>
            </a:pPr>
            <a:r>
              <a:rPr lang="en-US" sz="2100" dirty="0">
                <a:solidFill>
                  <a:srgbClr val="000000"/>
                </a:solidFill>
                <a:latin typeface="Radio Canada" pitchFamily="34" charset="0"/>
                <a:ea typeface="Radio Canada" pitchFamily="34" charset="-122"/>
                <a:cs typeface="Radio Canada" pitchFamily="34" charset="-120"/>
              </a:rPr>
              <a:t>Yes, ship it</a:t>
            </a:r>
            <a:endParaRPr lang="en-US" sz="2100" dirty="0"/>
          </a:p>
        </p:txBody>
      </p:sp>
      <p:sp>
        <p:nvSpPr>
          <p:cNvPr id="11" name="Text 8"/>
          <p:cNvSpPr/>
          <p:nvPr/>
        </p:nvSpPr>
        <p:spPr>
          <a:xfrm>
            <a:off x="958804" y="3174963"/>
            <a:ext cx="507979" cy="507979"/>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222836"/>
                </a:solidFill>
                <a:latin typeface="Poppins" pitchFamily="34" charset="0"/>
                <a:ea typeface="Poppins" pitchFamily="34" charset="-122"/>
                <a:cs typeface="Poppins" pitchFamily="34" charset="-120"/>
              </a:rPr>
              <a:t>B</a:t>
            </a:r>
            <a:endParaRPr lang="en-US" sz="2100" dirty="0"/>
          </a:p>
        </p:txBody>
      </p:sp>
      <p:sp>
        <p:nvSpPr>
          <p:cNvPr id="12" name="Text 9"/>
          <p:cNvSpPr/>
          <p:nvPr/>
        </p:nvSpPr>
        <p:spPr>
          <a:xfrm>
            <a:off x="1657263" y="3263609"/>
            <a:ext cx="1089753" cy="356060"/>
          </a:xfrm>
          <a:prstGeom prst="rect">
            <a:avLst/>
          </a:prstGeom>
          <a:noFill/>
          <a:ln/>
        </p:spPr>
        <p:txBody>
          <a:bodyPr wrap="square" lIns="0" tIns="0" rIns="0" bIns="0" rtlCol="0" anchor="t">
            <a:normAutofit/>
          </a:bodyPr>
          <a:lstStyle/>
          <a:p>
            <a:pPr marL="0" indent="0" algn="l">
              <a:lnSpc>
                <a:spcPts val="2604"/>
              </a:lnSpc>
              <a:buNone/>
            </a:pPr>
            <a:r>
              <a:rPr lang="en-US" sz="2100" dirty="0">
                <a:solidFill>
                  <a:srgbClr val="000000"/>
                </a:solidFill>
                <a:latin typeface="Radio Canada" pitchFamily="34" charset="0"/>
                <a:ea typeface="Radio Canada" pitchFamily="34" charset="-122"/>
                <a:cs typeface="Radio Canada" pitchFamily="34" charset="-120"/>
              </a:rPr>
              <a:t>Not yet</a:t>
            </a:r>
            <a:endParaRPr lang="en-US" sz="2100" dirty="0"/>
          </a:p>
        </p:txBody>
      </p:sp>
      <p:sp>
        <p:nvSpPr>
          <p:cNvPr id="13" name="Text 10"/>
          <p:cNvSpPr/>
          <p:nvPr/>
        </p:nvSpPr>
        <p:spPr>
          <a:xfrm>
            <a:off x="958804" y="3809932"/>
            <a:ext cx="507979" cy="507979"/>
          </a:xfrm>
          <a:prstGeom prst="rect">
            <a:avLst/>
          </a:prstGeom>
          <a:solidFill>
            <a:srgbClr val="F09601"/>
          </a:solidFill>
          <a:ln/>
        </p:spPr>
        <p:txBody>
          <a:bodyPr wrap="square" lIns="0" tIns="0" rIns="0" bIns="0" rtlCol="0" anchor="ctr">
            <a:normAutofit/>
          </a:bodyPr>
          <a:lstStyle/>
          <a:p>
            <a:pPr marL="0" indent="0" algn="ctr">
              <a:lnSpc>
                <a:spcPts val="2100"/>
              </a:lnSpc>
              <a:buNone/>
            </a:pPr>
            <a:r>
              <a:rPr lang="en-US" sz="2100" b="1" dirty="0">
                <a:solidFill>
                  <a:srgbClr val="222836"/>
                </a:solidFill>
                <a:latin typeface="Poppins" pitchFamily="34" charset="0"/>
                <a:ea typeface="Poppins" pitchFamily="34" charset="-122"/>
                <a:cs typeface="Poppins" pitchFamily="34" charset="-120"/>
              </a:rPr>
              <a:t>C</a:t>
            </a:r>
            <a:endParaRPr lang="en-US" sz="2100" dirty="0"/>
          </a:p>
        </p:txBody>
      </p:sp>
      <p:sp>
        <p:nvSpPr>
          <p:cNvPr id="14" name="Text 11"/>
          <p:cNvSpPr/>
          <p:nvPr/>
        </p:nvSpPr>
        <p:spPr>
          <a:xfrm>
            <a:off x="1657263" y="3898571"/>
            <a:ext cx="4207908" cy="356060"/>
          </a:xfrm>
          <a:prstGeom prst="rect">
            <a:avLst/>
          </a:prstGeom>
          <a:noFill/>
          <a:ln/>
        </p:spPr>
        <p:txBody>
          <a:bodyPr wrap="square" lIns="0" tIns="0" rIns="0" bIns="0" rtlCol="0" anchor="t">
            <a:normAutofit/>
          </a:bodyPr>
          <a:lstStyle/>
          <a:p>
            <a:pPr marL="0" indent="0" algn="l">
              <a:lnSpc>
                <a:spcPts val="2604"/>
              </a:lnSpc>
              <a:buNone/>
            </a:pPr>
            <a:r>
              <a:rPr lang="en-US" sz="2100" dirty="0">
                <a:solidFill>
                  <a:srgbClr val="000000"/>
                </a:solidFill>
                <a:latin typeface="Radio Canada" pitchFamily="34" charset="0"/>
                <a:ea typeface="Radio Canada" pitchFamily="34" charset="-122"/>
                <a:cs typeface="Radio Canada" pitchFamily="34" charset="-120"/>
              </a:rPr>
              <a:t>Only with a human watching</a:t>
            </a:r>
            <a:endParaRPr lang="en-US" sz="2100" dirty="0"/>
          </a:p>
        </p:txBody>
      </p:sp>
      <p:sp>
        <p:nvSpPr>
          <p:cNvPr id="15" name="Shape 12"/>
          <p:cNvSpPr/>
          <p:nvPr/>
        </p:nvSpPr>
        <p:spPr>
          <a:xfrm>
            <a:off x="7626338" y="768325"/>
            <a:ext cx="3797288" cy="3797288"/>
          </a:xfrm>
          <a:prstGeom prst="rect">
            <a:avLst/>
          </a:prstGeom>
          <a:solidFill>
            <a:srgbClr val="FFFFFF"/>
          </a:solidFill>
          <a:ln/>
        </p:spPr>
        <p:txBody>
          <a:bodyPr/>
          <a:lstStyle/>
          <a:p>
            <a:endParaRPr lang="en-AE"/>
          </a:p>
        </p:txBody>
      </p:sp>
      <p:pic>
        <p:nvPicPr>
          <p:cNvPr id="16" name="Image 1" descr="The robot sweating while it waits for your vote"/>
          <p:cNvPicPr>
            <a:picLocks noChangeAspect="1"/>
          </p:cNvPicPr>
          <p:nvPr/>
        </p:nvPicPr>
        <p:blipFill>
          <a:blip r:embed="rId4"/>
          <a:srcRect t="-68" b="-68"/>
          <a:stretch/>
        </p:blipFill>
        <p:spPr>
          <a:xfrm>
            <a:off x="8635993" y="1492207"/>
            <a:ext cx="1777979" cy="2349486"/>
          </a:xfrm>
          <a:prstGeom prst="rect">
            <a:avLst/>
          </a:prstGeom>
        </p:spPr>
      </p:pic>
      <p:sp>
        <p:nvSpPr>
          <p:cNvPr id="17" name="Text 13"/>
          <p:cNvSpPr/>
          <p:nvPr/>
        </p:nvSpPr>
        <p:spPr>
          <a:xfrm>
            <a:off x="768325" y="5340344"/>
            <a:ext cx="10655267" cy="749274"/>
          </a:xfrm>
          <a:prstGeom prst="rect">
            <a:avLst/>
          </a:prstGeom>
          <a:solidFill>
            <a:srgbClr val="222836"/>
          </a:solidFill>
          <a:ln/>
        </p:spPr>
        <p:txBody>
          <a:bodyPr wrap="square" lIns="36365" tIns="0" rIns="36365" bIns="0" rtlCol="0" anchor="ctr">
            <a:normAutofit/>
          </a:bodyPr>
          <a:lstStyle/>
          <a:p>
            <a:pPr marL="0" indent="0" algn="ctr">
              <a:lnSpc>
                <a:spcPts val="2604"/>
              </a:lnSpc>
              <a:buNone/>
            </a:pPr>
            <a:r>
              <a:rPr lang="en-US" sz="2100" dirty="0">
                <a:solidFill>
                  <a:srgbClr val="FFFFFF"/>
                </a:solidFill>
                <a:latin typeface="Radio Canada" pitchFamily="34" charset="0"/>
                <a:ea typeface="Radio Canada" pitchFamily="34" charset="-122"/>
                <a:cs typeface="Radio Canada" pitchFamily="34" charset="-120"/>
              </a:rPr>
              <a:t>Agent + rewards + SageMaker = </a:t>
            </a:r>
            <a:r>
              <a:rPr lang="en-US" sz="2100" b="1" dirty="0">
                <a:solidFill>
                  <a:srgbClr val="F09601"/>
                </a:solidFill>
                <a:latin typeface="Radio Canada" pitchFamily="34" charset="0"/>
                <a:ea typeface="Radio Canada" pitchFamily="34" charset="-122"/>
                <a:cs typeface="Radio Canada" pitchFamily="34" charset="-120"/>
              </a:rPr>
              <a:t>better decisions</a:t>
            </a:r>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86" cy="6857979"/>
          </a:xfrm>
          <a:prstGeom prst="rect">
            <a:avLst/>
          </a:prstGeom>
        </p:spPr>
      </p:pic>
      <p:sp>
        <p:nvSpPr>
          <p:cNvPr id="3" name="Shape 0"/>
          <p:cNvSpPr/>
          <p:nvPr/>
        </p:nvSpPr>
        <p:spPr>
          <a:xfrm>
            <a:off x="6339" y="1530344"/>
            <a:ext cx="749274" cy="749274"/>
          </a:xfrm>
          <a:prstGeom prst="rect">
            <a:avLst/>
          </a:prstGeom>
          <a:solidFill>
            <a:srgbClr val="F09601"/>
          </a:solidFill>
          <a:ln/>
        </p:spPr>
        <p:txBody>
          <a:bodyPr/>
          <a:lstStyle/>
          <a:p>
            <a:endParaRPr lang="en-AE"/>
          </a:p>
        </p:txBody>
      </p:sp>
      <p:sp>
        <p:nvSpPr>
          <p:cNvPr id="4" name="Shape 1"/>
          <p:cNvSpPr/>
          <p:nvPr/>
        </p:nvSpPr>
        <p:spPr>
          <a:xfrm>
            <a:off x="11436338" y="3816344"/>
            <a:ext cx="749274" cy="749274"/>
          </a:xfrm>
          <a:prstGeom prst="rect">
            <a:avLst/>
          </a:prstGeom>
          <a:solidFill>
            <a:srgbClr val="222836"/>
          </a:solidFill>
          <a:ln/>
        </p:spPr>
        <p:txBody>
          <a:bodyPr/>
          <a:lstStyle/>
          <a:p>
            <a:endParaRPr lang="en-AE"/>
          </a:p>
        </p:txBody>
      </p:sp>
      <p:sp>
        <p:nvSpPr>
          <p:cNvPr id="5" name="Shape 2"/>
          <p:cNvSpPr/>
          <p:nvPr/>
        </p:nvSpPr>
        <p:spPr>
          <a:xfrm>
            <a:off x="5340346" y="4578331"/>
            <a:ext cx="749274" cy="749274"/>
          </a:xfrm>
          <a:prstGeom prst="rect">
            <a:avLst/>
          </a:prstGeom>
          <a:solidFill>
            <a:srgbClr val="F09601"/>
          </a:solidFill>
          <a:ln/>
        </p:spPr>
        <p:txBody>
          <a:bodyPr/>
          <a:lstStyle/>
          <a:p>
            <a:endParaRPr lang="en-AE"/>
          </a:p>
        </p:txBody>
      </p:sp>
      <p:sp>
        <p:nvSpPr>
          <p:cNvPr id="6" name="Shape 3"/>
          <p:cNvSpPr/>
          <p:nvPr/>
        </p:nvSpPr>
        <p:spPr>
          <a:xfrm>
            <a:off x="768325" y="768325"/>
            <a:ext cx="10655267" cy="749274"/>
          </a:xfrm>
          <a:prstGeom prst="rect">
            <a:avLst/>
          </a:prstGeom>
          <a:solidFill>
            <a:srgbClr val="FFFFFF"/>
          </a:solidFill>
          <a:ln/>
        </p:spPr>
        <p:txBody>
          <a:bodyPr/>
          <a:lstStyle/>
          <a:p>
            <a:endParaRPr lang="en-AE"/>
          </a:p>
        </p:txBody>
      </p:sp>
      <p:sp>
        <p:nvSpPr>
          <p:cNvPr id="7" name="Text 4"/>
          <p:cNvSpPr>
            <a:spLocks noGrp="1"/>
          </p:cNvSpPr>
          <p:nvPr>
            <p:ph type="title"/>
          </p:nvPr>
        </p:nvSpPr>
        <p:spPr>
          <a:xfrm>
            <a:off x="768325" y="768325"/>
            <a:ext cx="10655267" cy="749274"/>
          </a:xfrm>
          <a:prstGeom prst="rect">
            <a:avLst/>
          </a:prstGeom>
          <a:noFill/>
          <a:ln/>
        </p:spPr>
        <p:txBody>
          <a:bodyPr wrap="square" lIns="190479" tIns="0" rIns="0" bIns="0" rtlCol="0" anchor="ctr">
            <a:normAutofit/>
          </a:bodyPr>
          <a:lstStyle/>
          <a:p>
            <a:pPr marL="0" indent="0" algn="l">
              <a:lnSpc>
                <a:spcPts val="3390"/>
              </a:lnSpc>
              <a:buNone/>
            </a:pPr>
            <a:r>
              <a:rPr lang="en-US" sz="3000" b="1" i="0" dirty="0">
                <a:solidFill>
                  <a:srgbClr val="000000"/>
                </a:solidFill>
                <a:latin typeface="Radio Canada" pitchFamily="34" charset="0"/>
                <a:ea typeface="Radio Canada" pitchFamily="34" charset="-122"/>
                <a:cs typeface="Radio Canada" pitchFamily="34" charset="-120"/>
              </a:rPr>
              <a:t>Where else could this work?</a:t>
            </a:r>
            <a:endParaRPr lang="en-US" sz="3000" dirty="0"/>
          </a:p>
        </p:txBody>
      </p:sp>
      <p:sp>
        <p:nvSpPr>
          <p:cNvPr id="8" name="Shape 5"/>
          <p:cNvSpPr/>
          <p:nvPr/>
        </p:nvSpPr>
        <p:spPr>
          <a:xfrm>
            <a:off x="768325" y="1530344"/>
            <a:ext cx="5321294" cy="1511294"/>
          </a:xfrm>
          <a:prstGeom prst="rect">
            <a:avLst/>
          </a:prstGeom>
          <a:solidFill>
            <a:srgbClr val="FFFFFF"/>
          </a:solidFill>
          <a:ln/>
        </p:spPr>
        <p:txBody>
          <a:bodyPr/>
          <a:lstStyle/>
          <a:p>
            <a:endParaRPr lang="en-AE"/>
          </a:p>
        </p:txBody>
      </p:sp>
      <p:pic>
        <p:nvPicPr>
          <p:cNvPr id="9" name="Image 1" descr="Settings"/>
          <p:cNvPicPr>
            <a:picLocks noChangeAspect="1"/>
          </p:cNvPicPr>
          <p:nvPr/>
        </p:nvPicPr>
        <p:blipFill>
          <a:blip r:embed="rId4"/>
          <a:srcRect/>
          <a:stretch/>
        </p:blipFill>
        <p:spPr>
          <a:xfrm>
            <a:off x="1022298" y="2031994"/>
            <a:ext cx="507979" cy="507979"/>
          </a:xfrm>
          <a:prstGeom prst="rect">
            <a:avLst/>
          </a:prstGeom>
        </p:spPr>
      </p:pic>
      <p:sp>
        <p:nvSpPr>
          <p:cNvPr id="10" name="Text 6"/>
          <p:cNvSpPr/>
          <p:nvPr/>
        </p:nvSpPr>
        <p:spPr>
          <a:xfrm>
            <a:off x="1720756" y="1980723"/>
            <a:ext cx="1842709"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000000"/>
                </a:solidFill>
                <a:latin typeface="Radio Canada" pitchFamily="34" charset="0"/>
                <a:ea typeface="Radio Canada" pitchFamily="34" charset="-122"/>
                <a:cs typeface="Radio Canada" pitchFamily="34" charset="-120"/>
              </a:rPr>
              <a:t>IT helpdesk</a:t>
            </a:r>
            <a:endParaRPr lang="en-US" sz="2100" dirty="0"/>
          </a:p>
        </p:txBody>
      </p:sp>
      <p:sp>
        <p:nvSpPr>
          <p:cNvPr id="11" name="Text 7"/>
          <p:cNvSpPr/>
          <p:nvPr/>
        </p:nvSpPr>
        <p:spPr>
          <a:xfrm>
            <a:off x="1720756" y="2349457"/>
            <a:ext cx="2146846"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222836"/>
                </a:solidFill>
                <a:latin typeface="Radio Canada" pitchFamily="34" charset="0"/>
                <a:ea typeface="Radio Canada" pitchFamily="34" charset="-122"/>
                <a:cs typeface="Radio Canada" pitchFamily="34" charset="-120"/>
              </a:rPr>
              <a:t>VPN, laptops, printers</a:t>
            </a:r>
            <a:endParaRPr lang="en-US" sz="1400" dirty="0"/>
          </a:p>
        </p:txBody>
      </p:sp>
      <p:sp>
        <p:nvSpPr>
          <p:cNvPr id="12" name="Shape 8"/>
          <p:cNvSpPr/>
          <p:nvPr/>
        </p:nvSpPr>
        <p:spPr>
          <a:xfrm>
            <a:off x="6102332" y="1530344"/>
            <a:ext cx="5321294" cy="1511294"/>
          </a:xfrm>
          <a:prstGeom prst="rect">
            <a:avLst/>
          </a:prstGeom>
          <a:solidFill>
            <a:srgbClr val="FFFFFF"/>
          </a:solidFill>
          <a:ln/>
        </p:spPr>
        <p:txBody>
          <a:bodyPr/>
          <a:lstStyle/>
          <a:p>
            <a:endParaRPr lang="en-AE"/>
          </a:p>
        </p:txBody>
      </p:sp>
      <p:pic>
        <p:nvPicPr>
          <p:cNvPr id="13" name="Image 2" descr="Key"/>
          <p:cNvPicPr>
            <a:picLocks noChangeAspect="1"/>
          </p:cNvPicPr>
          <p:nvPr/>
        </p:nvPicPr>
        <p:blipFill>
          <a:blip r:embed="rId5"/>
          <a:srcRect/>
          <a:stretch/>
        </p:blipFill>
        <p:spPr>
          <a:xfrm>
            <a:off x="6356304" y="2031994"/>
            <a:ext cx="507979" cy="507979"/>
          </a:xfrm>
          <a:prstGeom prst="rect">
            <a:avLst/>
          </a:prstGeom>
        </p:spPr>
      </p:pic>
      <p:sp>
        <p:nvSpPr>
          <p:cNvPr id="14" name="Text 9"/>
          <p:cNvSpPr/>
          <p:nvPr/>
        </p:nvSpPr>
        <p:spPr>
          <a:xfrm>
            <a:off x="7054763" y="1980723"/>
            <a:ext cx="2780528"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000000"/>
                </a:solidFill>
                <a:latin typeface="Radio Canada" pitchFamily="34" charset="0"/>
                <a:ea typeface="Radio Canada" pitchFamily="34" charset="-122"/>
                <a:cs typeface="Radio Canada" pitchFamily="34" charset="-120"/>
              </a:rPr>
              <a:t>Account access</a:t>
            </a:r>
            <a:endParaRPr lang="en-US" sz="2100" dirty="0"/>
          </a:p>
        </p:txBody>
      </p:sp>
      <p:sp>
        <p:nvSpPr>
          <p:cNvPr id="15" name="Text 10"/>
          <p:cNvSpPr/>
          <p:nvPr/>
        </p:nvSpPr>
        <p:spPr>
          <a:xfrm>
            <a:off x="7054763" y="2349457"/>
            <a:ext cx="3239451"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222836"/>
                </a:solidFill>
                <a:latin typeface="Radio Canada" pitchFamily="34" charset="0"/>
                <a:ea typeface="Radio Canada" pitchFamily="34" charset="-122"/>
                <a:cs typeface="Radio Canada" pitchFamily="34" charset="-120"/>
              </a:rPr>
              <a:t>Locked out? Step by step back in</a:t>
            </a:r>
            <a:endParaRPr lang="en-US" sz="1400" dirty="0"/>
          </a:p>
        </p:txBody>
      </p:sp>
      <p:sp>
        <p:nvSpPr>
          <p:cNvPr id="16" name="Shape 11"/>
          <p:cNvSpPr/>
          <p:nvPr/>
        </p:nvSpPr>
        <p:spPr>
          <a:xfrm>
            <a:off x="768325" y="3054319"/>
            <a:ext cx="5321294" cy="1511294"/>
          </a:xfrm>
          <a:prstGeom prst="rect">
            <a:avLst/>
          </a:prstGeom>
          <a:solidFill>
            <a:srgbClr val="FFFFFF"/>
          </a:solidFill>
          <a:ln/>
        </p:spPr>
        <p:txBody>
          <a:bodyPr/>
          <a:lstStyle/>
          <a:p>
            <a:endParaRPr lang="en-AE"/>
          </a:p>
        </p:txBody>
      </p:sp>
      <p:pic>
        <p:nvPicPr>
          <p:cNvPr id="17" name="Image 3" descr="PaperPlane"/>
          <p:cNvPicPr>
            <a:picLocks noChangeAspect="1"/>
          </p:cNvPicPr>
          <p:nvPr/>
        </p:nvPicPr>
        <p:blipFill>
          <a:blip r:embed="rId6"/>
          <a:srcRect/>
          <a:stretch/>
        </p:blipFill>
        <p:spPr>
          <a:xfrm>
            <a:off x="1022298" y="3555957"/>
            <a:ext cx="507979" cy="507979"/>
          </a:xfrm>
          <a:prstGeom prst="rect">
            <a:avLst/>
          </a:prstGeom>
        </p:spPr>
      </p:pic>
      <p:sp>
        <p:nvSpPr>
          <p:cNvPr id="18" name="Text 12"/>
          <p:cNvSpPr/>
          <p:nvPr/>
        </p:nvSpPr>
        <p:spPr>
          <a:xfrm>
            <a:off x="1720756" y="3504698"/>
            <a:ext cx="2287364"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000000"/>
                </a:solidFill>
                <a:latin typeface="Radio Canada" pitchFamily="34" charset="0"/>
                <a:ea typeface="Radio Canada" pitchFamily="34" charset="-122"/>
                <a:cs typeface="Radio Canada" pitchFamily="34" charset="-120"/>
              </a:rPr>
              <a:t>Travel changes</a:t>
            </a:r>
            <a:endParaRPr lang="en-US" sz="2100" dirty="0"/>
          </a:p>
        </p:txBody>
      </p:sp>
      <p:sp>
        <p:nvSpPr>
          <p:cNvPr id="19" name="Text 13"/>
          <p:cNvSpPr/>
          <p:nvPr/>
        </p:nvSpPr>
        <p:spPr>
          <a:xfrm>
            <a:off x="1720756" y="3873432"/>
            <a:ext cx="2287364"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222836"/>
                </a:solidFill>
                <a:latin typeface="Radio Canada" pitchFamily="34" charset="0"/>
                <a:ea typeface="Radio Canada" pitchFamily="34" charset="-122"/>
                <a:cs typeface="Radio Canada" pitchFamily="34" charset="-120"/>
              </a:rPr>
              <a:t>Rebook a missed flight</a:t>
            </a:r>
            <a:endParaRPr lang="en-US" sz="1400" dirty="0"/>
          </a:p>
        </p:txBody>
      </p:sp>
      <p:sp>
        <p:nvSpPr>
          <p:cNvPr id="20" name="Shape 14"/>
          <p:cNvSpPr/>
          <p:nvPr/>
        </p:nvSpPr>
        <p:spPr>
          <a:xfrm>
            <a:off x="6102332" y="3054319"/>
            <a:ext cx="5321294" cy="1511294"/>
          </a:xfrm>
          <a:prstGeom prst="rect">
            <a:avLst/>
          </a:prstGeom>
          <a:solidFill>
            <a:srgbClr val="FFFFFF"/>
          </a:solidFill>
          <a:ln/>
        </p:spPr>
        <p:txBody>
          <a:bodyPr/>
          <a:lstStyle/>
          <a:p>
            <a:endParaRPr lang="en-AE"/>
          </a:p>
        </p:txBody>
      </p:sp>
      <p:pic>
        <p:nvPicPr>
          <p:cNvPr id="21" name="Image 4" descr="Users"/>
          <p:cNvPicPr>
            <a:picLocks noChangeAspect="1"/>
          </p:cNvPicPr>
          <p:nvPr/>
        </p:nvPicPr>
        <p:blipFill>
          <a:blip r:embed="rId7"/>
          <a:srcRect/>
          <a:stretch/>
        </p:blipFill>
        <p:spPr>
          <a:xfrm>
            <a:off x="6356304" y="3555957"/>
            <a:ext cx="507979" cy="507979"/>
          </a:xfrm>
          <a:prstGeom prst="rect">
            <a:avLst/>
          </a:prstGeom>
        </p:spPr>
      </p:pic>
      <p:sp>
        <p:nvSpPr>
          <p:cNvPr id="22" name="Text 15"/>
          <p:cNvSpPr/>
          <p:nvPr/>
        </p:nvSpPr>
        <p:spPr>
          <a:xfrm>
            <a:off x="7054763" y="3504698"/>
            <a:ext cx="3039494" cy="356060"/>
          </a:xfrm>
          <a:prstGeom prst="rect">
            <a:avLst/>
          </a:prstGeom>
          <a:noFill/>
          <a:ln/>
        </p:spPr>
        <p:txBody>
          <a:bodyPr wrap="square" lIns="0" tIns="0" rIns="0" bIns="0" rtlCol="0" anchor="t">
            <a:normAutofit/>
          </a:bodyPr>
          <a:lstStyle/>
          <a:p>
            <a:pPr marL="0" indent="0" algn="l">
              <a:lnSpc>
                <a:spcPts val="2604"/>
              </a:lnSpc>
              <a:buNone/>
            </a:pPr>
            <a:r>
              <a:rPr lang="en-US" sz="2100" b="1" dirty="0">
                <a:solidFill>
                  <a:srgbClr val="000000"/>
                </a:solidFill>
                <a:latin typeface="Radio Canada" pitchFamily="34" charset="0"/>
                <a:ea typeface="Radio Canada" pitchFamily="34" charset="-122"/>
                <a:cs typeface="Radio Canada" pitchFamily="34" charset="-120"/>
              </a:rPr>
              <a:t>New joiners</a:t>
            </a:r>
            <a:endParaRPr lang="en-US" sz="2100" dirty="0"/>
          </a:p>
        </p:txBody>
      </p:sp>
      <p:sp>
        <p:nvSpPr>
          <p:cNvPr id="23" name="Text 16"/>
          <p:cNvSpPr/>
          <p:nvPr/>
        </p:nvSpPr>
        <p:spPr>
          <a:xfrm>
            <a:off x="7054763" y="3873432"/>
            <a:ext cx="3541159" cy="267177"/>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222836"/>
                </a:solidFill>
                <a:latin typeface="Radio Canada" pitchFamily="34" charset="0"/>
                <a:ea typeface="Radio Canada" pitchFamily="34" charset="-122"/>
                <a:cs typeface="Radio Canada" pitchFamily="34" charset="-120"/>
              </a:rPr>
              <a:t>Laptop, email and badge on day one</a:t>
            </a:r>
            <a:endParaRPr lang="en-US" sz="1400" dirty="0"/>
          </a:p>
        </p:txBody>
      </p:sp>
      <p:sp>
        <p:nvSpPr>
          <p:cNvPr id="24" name="Text 17"/>
          <p:cNvSpPr/>
          <p:nvPr/>
        </p:nvSpPr>
        <p:spPr>
          <a:xfrm>
            <a:off x="768325" y="5340344"/>
            <a:ext cx="10655267" cy="749274"/>
          </a:xfrm>
          <a:prstGeom prst="rect">
            <a:avLst/>
          </a:prstGeom>
          <a:solidFill>
            <a:srgbClr val="222836"/>
          </a:solidFill>
          <a:ln/>
        </p:spPr>
        <p:txBody>
          <a:bodyPr wrap="square" lIns="36365" tIns="0" rIns="36365" bIns="0" rtlCol="0" anchor="ctr">
            <a:normAutofit/>
          </a:bodyPr>
          <a:lstStyle/>
          <a:p>
            <a:pPr marL="0" indent="0" algn="ctr">
              <a:lnSpc>
                <a:spcPts val="2604"/>
              </a:lnSpc>
              <a:buNone/>
            </a:pPr>
            <a:r>
              <a:rPr lang="en-US" sz="2100" dirty="0">
                <a:solidFill>
                  <a:srgbClr val="FFFFFF"/>
                </a:solidFill>
                <a:latin typeface="Radio Canada" pitchFamily="34" charset="0"/>
                <a:ea typeface="Radio Canada" pitchFamily="34" charset="-122"/>
                <a:cs typeface="Radio Canada" pitchFamily="34" charset="-120"/>
              </a:rPr>
              <a:t>Any job with several steps and </a:t>
            </a:r>
            <a:r>
              <a:rPr lang="en-US" sz="2100" b="1" dirty="0">
                <a:solidFill>
                  <a:srgbClr val="F09601"/>
                </a:solidFill>
                <a:latin typeface="Radio Canada" pitchFamily="34" charset="0"/>
                <a:ea typeface="Radio Canada" pitchFamily="34" charset="-122"/>
                <a:cs typeface="Radio Canada" pitchFamily="34" charset="-120"/>
              </a:rPr>
              <a:t>a clear finish line.</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222836"/>
        </a:solidFill>
        <a:effectLst/>
      </p:bgPr>
    </p:bg>
    <p:spTree>
      <p:nvGrpSpPr>
        <p:cNvPr id="1" name=""/>
        <p:cNvGrpSpPr/>
        <p:nvPr/>
      </p:nvGrpSpPr>
      <p:grpSpPr>
        <a:xfrm>
          <a:off x="0" y="0"/>
          <a:ext cx="0" cy="0"/>
          <a:chOff x="0" y="0"/>
          <a:chExt cx="0" cy="0"/>
        </a:xfrm>
      </p:grpSpPr>
      <p:sp>
        <p:nvSpPr>
          <p:cNvPr id="2" name="Shape 0"/>
          <p:cNvSpPr/>
          <p:nvPr/>
        </p:nvSpPr>
        <p:spPr>
          <a:xfrm>
            <a:off x="11436338" y="6338"/>
            <a:ext cx="749274" cy="749274"/>
          </a:xfrm>
          <a:prstGeom prst="rect">
            <a:avLst/>
          </a:prstGeom>
          <a:solidFill>
            <a:srgbClr val="F09601"/>
          </a:solidFill>
          <a:ln/>
        </p:spPr>
        <p:txBody>
          <a:bodyPr/>
          <a:lstStyle/>
          <a:p>
            <a:endParaRPr lang="en-AE"/>
          </a:p>
        </p:txBody>
      </p:sp>
      <p:sp>
        <p:nvSpPr>
          <p:cNvPr id="3" name="Shape 1"/>
          <p:cNvSpPr/>
          <p:nvPr/>
        </p:nvSpPr>
        <p:spPr>
          <a:xfrm>
            <a:off x="6339" y="6102331"/>
            <a:ext cx="749274" cy="749274"/>
          </a:xfrm>
          <a:prstGeom prst="rect">
            <a:avLst/>
          </a:prstGeom>
          <a:solidFill>
            <a:srgbClr val="F09601"/>
          </a:solidFill>
          <a:ln/>
        </p:spPr>
        <p:txBody>
          <a:bodyPr/>
          <a:lstStyle/>
          <a:p>
            <a:endParaRPr lang="en-AE"/>
          </a:p>
        </p:txBody>
      </p:sp>
      <p:sp>
        <p:nvSpPr>
          <p:cNvPr id="4" name="Text 2"/>
          <p:cNvSpPr>
            <a:spLocks noGrp="1"/>
          </p:cNvSpPr>
          <p:nvPr>
            <p:ph type="title"/>
          </p:nvPr>
        </p:nvSpPr>
        <p:spPr>
          <a:xfrm>
            <a:off x="761986" y="888969"/>
            <a:ext cx="9156700" cy="886398"/>
          </a:xfrm>
          <a:prstGeom prst="rect">
            <a:avLst/>
          </a:prstGeom>
          <a:noFill/>
          <a:ln/>
        </p:spPr>
        <p:txBody>
          <a:bodyPr wrap="square" lIns="0" tIns="0" rIns="0" bIns="0" rtlCol="0" anchor="t">
            <a:normAutofit/>
          </a:bodyPr>
          <a:lstStyle/>
          <a:p>
            <a:pPr marL="0" indent="0" algn="l">
              <a:lnSpc>
                <a:spcPts val="3390"/>
              </a:lnSpc>
              <a:buNone/>
            </a:pPr>
            <a:r>
              <a:rPr lang="en-US" sz="3000" b="1" i="0" dirty="0">
                <a:solidFill>
                  <a:srgbClr val="FFFFFF"/>
                </a:solidFill>
                <a:latin typeface="Radio Canada" pitchFamily="34" charset="0"/>
                <a:ea typeface="Radio Canada" pitchFamily="34" charset="-122"/>
                <a:cs typeface="Radio Canada" pitchFamily="34" charset="-120"/>
              </a:rPr>
              <a:t>Three things to remember</a:t>
            </a:r>
            <a:endParaRPr lang="en-US" sz="3000" dirty="0"/>
          </a:p>
        </p:txBody>
      </p:sp>
      <p:sp>
        <p:nvSpPr>
          <p:cNvPr id="5" name="Shape 3"/>
          <p:cNvSpPr/>
          <p:nvPr/>
        </p:nvSpPr>
        <p:spPr>
          <a:xfrm>
            <a:off x="762000" y="1866900"/>
            <a:ext cx="152400" cy="152400"/>
          </a:xfrm>
          <a:prstGeom prst="rect">
            <a:avLst/>
          </a:prstGeom>
          <a:solidFill>
            <a:srgbClr val="F09601"/>
          </a:solidFill>
          <a:ln/>
        </p:spPr>
        <p:txBody>
          <a:bodyPr/>
          <a:lstStyle/>
          <a:p>
            <a:endParaRPr lang="en-AE"/>
          </a:p>
        </p:txBody>
      </p:sp>
      <p:sp>
        <p:nvSpPr>
          <p:cNvPr id="6" name="Text 4"/>
          <p:cNvSpPr/>
          <p:nvPr/>
        </p:nvSpPr>
        <p:spPr>
          <a:xfrm>
            <a:off x="1041400" y="1778000"/>
            <a:ext cx="4953000" cy="330200"/>
          </a:xfrm>
          <a:prstGeom prst="rect">
            <a:avLst/>
          </a:prstGeom>
          <a:noFill/>
          <a:ln/>
        </p:spPr>
        <p:txBody>
          <a:bodyPr wrap="none" lIns="0" tIns="0" rIns="0" bIns="0" rtlCol="0" anchor="t">
            <a:normAutofit/>
          </a:bodyPr>
          <a:lstStyle/>
          <a:p>
            <a:pPr marL="0" indent="0" algn="l">
              <a:lnSpc>
                <a:spcPts val="2394"/>
              </a:lnSpc>
              <a:buNone/>
            </a:pPr>
            <a:r>
              <a:rPr lang="en-US" sz="1800" b="1" dirty="0">
                <a:solidFill>
                  <a:srgbClr val="FFFFFF"/>
                </a:solidFill>
                <a:latin typeface="Radio Canada" pitchFamily="34" charset="0"/>
                <a:ea typeface="Radio Canada" pitchFamily="34" charset="-122"/>
                <a:cs typeface="Radio Canada" pitchFamily="34" charset="-120"/>
              </a:rPr>
              <a:t>Learn from feedback</a:t>
            </a:r>
            <a:endParaRPr lang="en-US" sz="1800" dirty="0"/>
          </a:p>
        </p:txBody>
      </p:sp>
      <p:sp>
        <p:nvSpPr>
          <p:cNvPr id="7" name="Shape 5"/>
          <p:cNvSpPr/>
          <p:nvPr/>
        </p:nvSpPr>
        <p:spPr>
          <a:xfrm>
            <a:off x="762000" y="2311400"/>
            <a:ext cx="152400" cy="152400"/>
          </a:xfrm>
          <a:prstGeom prst="rect">
            <a:avLst/>
          </a:prstGeom>
          <a:solidFill>
            <a:srgbClr val="F09601"/>
          </a:solidFill>
          <a:ln/>
        </p:spPr>
        <p:txBody>
          <a:bodyPr/>
          <a:lstStyle/>
          <a:p>
            <a:endParaRPr lang="en-AE"/>
          </a:p>
        </p:txBody>
      </p:sp>
      <p:sp>
        <p:nvSpPr>
          <p:cNvPr id="8" name="Text 6"/>
          <p:cNvSpPr/>
          <p:nvPr/>
        </p:nvSpPr>
        <p:spPr>
          <a:xfrm>
            <a:off x="1041400" y="2222500"/>
            <a:ext cx="4953000" cy="330200"/>
          </a:xfrm>
          <a:prstGeom prst="rect">
            <a:avLst/>
          </a:prstGeom>
          <a:noFill/>
          <a:ln/>
        </p:spPr>
        <p:txBody>
          <a:bodyPr wrap="none" lIns="0" tIns="0" rIns="0" bIns="0" rtlCol="0" anchor="t">
            <a:normAutofit/>
          </a:bodyPr>
          <a:lstStyle/>
          <a:p>
            <a:pPr marL="0" indent="0" algn="l">
              <a:lnSpc>
                <a:spcPts val="2394"/>
              </a:lnSpc>
              <a:buNone/>
            </a:pPr>
            <a:r>
              <a:rPr lang="en-US" sz="1800" b="1" dirty="0">
                <a:solidFill>
                  <a:srgbClr val="FFFFFF"/>
                </a:solidFill>
                <a:latin typeface="Radio Canada" pitchFamily="34" charset="0"/>
                <a:ea typeface="Radio Canada" pitchFamily="34" charset="-122"/>
                <a:cs typeface="Radio Canada" pitchFamily="34" charset="-120"/>
              </a:rPr>
              <a:t>Improve across turns</a:t>
            </a:r>
            <a:endParaRPr lang="en-US" sz="1800" dirty="0"/>
          </a:p>
        </p:txBody>
      </p:sp>
      <p:sp>
        <p:nvSpPr>
          <p:cNvPr id="9" name="Shape 7"/>
          <p:cNvSpPr/>
          <p:nvPr/>
        </p:nvSpPr>
        <p:spPr>
          <a:xfrm>
            <a:off x="762000" y="2755900"/>
            <a:ext cx="152400" cy="152400"/>
          </a:xfrm>
          <a:prstGeom prst="rect">
            <a:avLst/>
          </a:prstGeom>
          <a:solidFill>
            <a:srgbClr val="F09601"/>
          </a:solidFill>
          <a:ln/>
        </p:spPr>
        <p:txBody>
          <a:bodyPr/>
          <a:lstStyle/>
          <a:p>
            <a:endParaRPr lang="en-AE"/>
          </a:p>
        </p:txBody>
      </p:sp>
      <p:sp>
        <p:nvSpPr>
          <p:cNvPr id="10" name="Text 8"/>
          <p:cNvSpPr/>
          <p:nvPr/>
        </p:nvSpPr>
        <p:spPr>
          <a:xfrm>
            <a:off x="1041400" y="2667000"/>
            <a:ext cx="4953000" cy="330200"/>
          </a:xfrm>
          <a:prstGeom prst="rect">
            <a:avLst/>
          </a:prstGeom>
          <a:noFill/>
          <a:ln/>
        </p:spPr>
        <p:txBody>
          <a:bodyPr wrap="none" lIns="0" tIns="0" rIns="0" bIns="0" rtlCol="0" anchor="t">
            <a:normAutofit/>
          </a:bodyPr>
          <a:lstStyle/>
          <a:p>
            <a:pPr marL="0" indent="0" algn="l">
              <a:lnSpc>
                <a:spcPts val="2394"/>
              </a:lnSpc>
              <a:buNone/>
            </a:pPr>
            <a:r>
              <a:rPr lang="en-US" sz="1800" b="1" dirty="0">
                <a:solidFill>
                  <a:srgbClr val="FFFFFF"/>
                </a:solidFill>
                <a:latin typeface="Radio Canada" pitchFamily="34" charset="0"/>
                <a:ea typeface="Radio Canada" pitchFamily="34" charset="-122"/>
                <a:cs typeface="Radio Canada" pitchFamily="34" charset="-120"/>
              </a:rPr>
              <a:t>Continue to Train</a:t>
            </a:r>
            <a:endParaRPr lang="en-US" sz="1800" dirty="0"/>
          </a:p>
        </p:txBody>
      </p:sp>
      <p:sp>
        <p:nvSpPr>
          <p:cNvPr id="11" name="Shape 9"/>
          <p:cNvSpPr/>
          <p:nvPr/>
        </p:nvSpPr>
        <p:spPr>
          <a:xfrm>
            <a:off x="762000" y="3213100"/>
            <a:ext cx="1524000" cy="25400"/>
          </a:xfrm>
          <a:prstGeom prst="rect">
            <a:avLst/>
          </a:prstGeom>
          <a:solidFill>
            <a:srgbClr val="F09601"/>
          </a:solidFill>
          <a:ln/>
        </p:spPr>
        <p:txBody>
          <a:bodyPr/>
          <a:lstStyle/>
          <a:p>
            <a:endParaRPr lang="en-AE"/>
          </a:p>
        </p:txBody>
      </p:sp>
      <p:sp>
        <p:nvSpPr>
          <p:cNvPr id="12" name="Text 10"/>
          <p:cNvSpPr/>
          <p:nvPr/>
        </p:nvSpPr>
        <p:spPr>
          <a:xfrm>
            <a:off x="762000" y="3429000"/>
            <a:ext cx="5334000" cy="1905000"/>
          </a:xfrm>
          <a:prstGeom prst="rect">
            <a:avLst/>
          </a:prstGeom>
          <a:noFill/>
          <a:ln/>
        </p:spPr>
        <p:txBody>
          <a:bodyPr wrap="square" lIns="0" tIns="0" rIns="0" bIns="0" rtlCol="0" anchor="t">
            <a:normAutofit/>
          </a:bodyPr>
          <a:lstStyle/>
          <a:p>
            <a:pPr marL="0" indent="0" algn="l">
              <a:lnSpc>
                <a:spcPts val="3390"/>
              </a:lnSpc>
              <a:buNone/>
            </a:pPr>
            <a:r>
              <a:rPr lang="en-US" sz="2400" i="1" dirty="0">
                <a:solidFill>
                  <a:srgbClr val="FFFFFF"/>
                </a:solidFill>
                <a:latin typeface="Radio Canada" pitchFamily="34" charset="0"/>
                <a:ea typeface="Radio Canada" pitchFamily="34" charset="-122"/>
                <a:cs typeface="Radio Canada" pitchFamily="34" charset="-120"/>
              </a:rPr>
              <a:t>“The goal isn’t just to build AI that gives better answers. It’s to build AI that makes better decisions throughout an entire interaction.”</a:t>
            </a:r>
            <a:endParaRPr lang="en-US" sz="3000" dirty="0"/>
          </a:p>
        </p:txBody>
      </p:sp>
      <p:sp>
        <p:nvSpPr>
          <p:cNvPr id="14" name="Text 11"/>
          <p:cNvSpPr/>
          <p:nvPr/>
        </p:nvSpPr>
        <p:spPr>
          <a:xfrm>
            <a:off x="761986" y="5626460"/>
            <a:ext cx="3273226" cy="329430"/>
          </a:xfrm>
          <a:prstGeom prst="rect">
            <a:avLst/>
          </a:prstGeom>
          <a:noFill/>
          <a:ln/>
        </p:spPr>
        <p:txBody>
          <a:bodyPr wrap="square" lIns="0" tIns="0" rIns="0" bIns="0" rtlCol="0" anchor="t">
            <a:normAutofit/>
          </a:bodyPr>
          <a:lstStyle/>
          <a:p>
            <a:pPr marL="0" indent="0" algn="l">
              <a:lnSpc>
                <a:spcPts val="2394"/>
              </a:lnSpc>
              <a:buNone/>
            </a:pPr>
            <a:r>
              <a:rPr lang="en-US" sz="1800" b="1" dirty="0">
                <a:solidFill>
                  <a:srgbClr val="FFFFFF"/>
                </a:solidFill>
                <a:latin typeface="Radio Canada" pitchFamily="34" charset="0"/>
                <a:ea typeface="Radio Canada" pitchFamily="34" charset="-122"/>
                <a:cs typeface="Radio Canada" pitchFamily="34" charset="-120"/>
              </a:rPr>
              <a:t>Thank you!</a:t>
            </a:r>
            <a:r>
              <a:rPr lang="en-US" sz="1800" dirty="0">
                <a:solidFill>
                  <a:srgbClr val="D3D7E3"/>
                </a:solidFill>
                <a:latin typeface="Radio Canada" pitchFamily="34" charset="0"/>
                <a:ea typeface="Radio Canada" pitchFamily="34" charset="-122"/>
                <a:cs typeface="Radio Canada" pitchFamily="34" charset="-120"/>
              </a:rPr>
              <a:t> </a:t>
            </a:r>
            <a:endParaRPr lang="en-US" sz="1800" dirty="0"/>
          </a:p>
        </p:txBody>
      </p:sp>
      <p:sp>
        <p:nvSpPr>
          <p:cNvPr id="15" name="Text 12"/>
          <p:cNvSpPr/>
          <p:nvPr/>
        </p:nvSpPr>
        <p:spPr>
          <a:xfrm>
            <a:off x="10092062" y="5588217"/>
            <a:ext cx="1337903" cy="380476"/>
          </a:xfrm>
          <a:custGeom>
            <a:avLst/>
            <a:gdLst/>
            <a:ahLst/>
            <a:cxnLst/>
            <a:rect l="l" t="t" r="r" b="b"/>
            <a:pathLst>
              <a:path w="1337903" h="380476">
                <a:moveTo>
                  <a:pt x="190238" y="0"/>
                </a:moveTo>
                <a:lnTo>
                  <a:pt x="1147665" y="0"/>
                </a:lnTo>
                <a:arcTo wR="190238" hR="190238" stAng="16200000" swAng="5400000"/>
                <a:lnTo>
                  <a:pt x="1337903" y="190238"/>
                </a:lnTo>
                <a:arcTo wR="190238" hR="190238" stAng="0" swAng="5400000"/>
                <a:lnTo>
                  <a:pt x="190238" y="380476"/>
                </a:lnTo>
                <a:arcTo wR="190238" hR="190238" stAng="5400000" swAng="5400000"/>
                <a:lnTo>
                  <a:pt x="0" y="190238"/>
                </a:lnTo>
                <a:arcTo wR="190238" hR="190238" stAng="10800000" swAng="5400000"/>
                <a:close/>
              </a:path>
            </a:pathLst>
          </a:custGeom>
          <a:solidFill>
            <a:srgbClr val="F09601"/>
          </a:solidFill>
          <a:ln/>
          <a:effectLst>
            <a:outerShdw blurRad="12700" dir="60000" algn="bl" rotWithShape="0">
              <a:srgbClr val="000000">
                <a:alpha val="30000"/>
              </a:srgbClr>
            </a:outerShdw>
          </a:effectLst>
        </p:spPr>
        <p:txBody>
          <a:bodyPr wrap="none" lIns="0" tIns="0" rIns="0" bIns="0" rtlCol="0" anchor="ctr">
            <a:normAutofit/>
          </a:bodyPr>
          <a:lstStyle/>
          <a:p>
            <a:pPr marL="0" indent="0" algn="ctr">
              <a:lnSpc>
                <a:spcPts val="2996"/>
              </a:lnSpc>
              <a:buNone/>
            </a:pPr>
            <a:r>
              <a:rPr lang="en-US" sz="1400" b="1" dirty="0">
                <a:solidFill>
                  <a:srgbClr val="222836"/>
                </a:solidFill>
                <a:latin typeface="Radio Canada" pitchFamily="34" charset="0"/>
                <a:ea typeface="Radio Canada" pitchFamily="34" charset="-122"/>
                <a:cs typeface="Radio Canada" pitchFamily="34" charset="-120"/>
              </a:rPr>
              <a:t>Questions?</a:t>
            </a:r>
            <a:endParaRPr lang="en-US" sz="1400" dirty="0"/>
          </a:p>
        </p:txBody>
      </p:sp>
      <p:sp>
        <p:nvSpPr>
          <p:cNvPr id="16" name="TextBox 15"/>
          <p:cNvSpPr txBox="1"/>
          <p:nvPr/>
        </p:nvSpPr>
        <p:spPr>
          <a:xfrm>
            <a:off x="6350000" y="1614802"/>
            <a:ext cx="2476500" cy="330200"/>
          </a:xfrm>
          <a:prstGeom prst="rect">
            <a:avLst/>
          </a:prstGeom>
          <a:noFill/>
        </p:spPr>
        <p:txBody>
          <a:bodyPr wrap="square" lIns="0" tIns="0" rIns="0" bIns="0" anchor="t">
            <a:noAutofit/>
          </a:bodyPr>
          <a:lstStyle/>
          <a:p>
            <a:pPr algn="ctr"/>
            <a:r>
              <a:rPr sz="1800" b="1" dirty="0">
                <a:solidFill>
                  <a:srgbClr val="F09601"/>
                </a:solidFill>
                <a:latin typeface="Radio Canada"/>
              </a:rPr>
              <a:t>Get the code</a:t>
            </a:r>
          </a:p>
        </p:txBody>
      </p:sp>
      <p:pic>
        <p:nvPicPr>
          <p:cNvPr id="17" name="Picture 16" descr="QR code for https://github.com/di37/aws-rl-workshop"/>
          <p:cNvPicPr>
            <a:picLocks noChangeAspect="1"/>
          </p:cNvPicPr>
          <p:nvPr/>
        </p:nvPicPr>
        <p:blipFill>
          <a:blip r:embed="rId3"/>
          <a:stretch>
            <a:fillRect/>
          </a:stretch>
        </p:blipFill>
        <p:spPr>
          <a:xfrm>
            <a:off x="6350000" y="2095500"/>
            <a:ext cx="2476500" cy="2476500"/>
          </a:xfrm>
          <a:prstGeom prst="rect">
            <a:avLst/>
          </a:prstGeom>
        </p:spPr>
      </p:pic>
      <p:sp>
        <p:nvSpPr>
          <p:cNvPr id="18" name="TextBox 17"/>
          <p:cNvSpPr txBox="1"/>
          <p:nvPr/>
        </p:nvSpPr>
        <p:spPr>
          <a:xfrm>
            <a:off x="6350000" y="4648200"/>
            <a:ext cx="2476500" cy="190500"/>
          </a:xfrm>
          <a:prstGeom prst="rect">
            <a:avLst/>
          </a:prstGeom>
          <a:noFill/>
        </p:spPr>
        <p:txBody>
          <a:bodyPr wrap="square" lIns="0" tIns="0" rIns="0" bIns="0" anchor="t">
            <a:noAutofit/>
          </a:bodyPr>
          <a:lstStyle/>
          <a:p>
            <a:pPr algn="ctr"/>
            <a:r>
              <a:rPr sz="1200" b="0">
                <a:solidFill>
                  <a:srgbClr val="FFFFFF"/>
                </a:solidFill>
                <a:latin typeface="Radio Canada"/>
              </a:rPr>
              <a:t>github.com/di37/aws-rl-workshop</a:t>
            </a:r>
          </a:p>
        </p:txBody>
      </p:sp>
      <p:sp>
        <p:nvSpPr>
          <p:cNvPr id="19" name="TextBox 18"/>
          <p:cNvSpPr txBox="1"/>
          <p:nvPr/>
        </p:nvSpPr>
        <p:spPr>
          <a:xfrm>
            <a:off x="8953500" y="1516332"/>
            <a:ext cx="2476500" cy="541067"/>
          </a:xfrm>
          <a:prstGeom prst="rect">
            <a:avLst/>
          </a:prstGeom>
          <a:noFill/>
        </p:spPr>
        <p:txBody>
          <a:bodyPr wrap="square" lIns="0" tIns="0" rIns="0" bIns="0" anchor="t">
            <a:noAutofit/>
          </a:bodyPr>
          <a:lstStyle/>
          <a:p>
            <a:pPr algn="ctr"/>
            <a:r>
              <a:rPr sz="1800" b="1" dirty="0">
                <a:solidFill>
                  <a:srgbClr val="F09601"/>
                </a:solidFill>
                <a:latin typeface="Radio Canada"/>
              </a:rPr>
              <a:t>Connect on Linked</a:t>
            </a:r>
            <a:r>
              <a:rPr lang="en-US" sz="1800" b="1" dirty="0">
                <a:solidFill>
                  <a:srgbClr val="F09601"/>
                </a:solidFill>
                <a:latin typeface="Radio Canada"/>
              </a:rPr>
              <a:t>In to keep up with AI</a:t>
            </a:r>
            <a:endParaRPr sz="1800" b="1" dirty="0">
              <a:solidFill>
                <a:srgbClr val="F09601"/>
              </a:solidFill>
              <a:latin typeface="Radio Canada"/>
            </a:endParaRPr>
          </a:p>
        </p:txBody>
      </p:sp>
      <p:pic>
        <p:nvPicPr>
          <p:cNvPr id="20" name="Picture 19" descr="QR code for https://www.linkedin.com/in/isham-rashik-5a547711b/"/>
          <p:cNvPicPr>
            <a:picLocks noChangeAspect="1"/>
          </p:cNvPicPr>
          <p:nvPr/>
        </p:nvPicPr>
        <p:blipFill>
          <a:blip r:embed="rId4"/>
          <a:stretch>
            <a:fillRect/>
          </a:stretch>
        </p:blipFill>
        <p:spPr>
          <a:xfrm>
            <a:off x="8953500" y="2095500"/>
            <a:ext cx="2476500" cy="2476500"/>
          </a:xfrm>
          <a:prstGeom prst="rect">
            <a:avLst/>
          </a:prstGeom>
        </p:spPr>
      </p:pic>
      <p:sp>
        <p:nvSpPr>
          <p:cNvPr id="21" name="TextBox 20"/>
          <p:cNvSpPr txBox="1"/>
          <p:nvPr/>
        </p:nvSpPr>
        <p:spPr>
          <a:xfrm>
            <a:off x="8953500" y="4648200"/>
            <a:ext cx="2476500" cy="190500"/>
          </a:xfrm>
          <a:prstGeom prst="rect">
            <a:avLst/>
          </a:prstGeom>
          <a:noFill/>
        </p:spPr>
        <p:txBody>
          <a:bodyPr wrap="square" lIns="0" tIns="0" rIns="0" bIns="0" anchor="t">
            <a:noAutofit/>
          </a:bodyPr>
          <a:lstStyle/>
          <a:p>
            <a:pPr algn="ctr"/>
            <a:r>
              <a:rPr sz="1200" b="0">
                <a:solidFill>
                  <a:srgbClr val="FFFFFF"/>
                </a:solidFill>
                <a:latin typeface="Radio Canada"/>
              </a:rPr>
              <a:t>linkedin.com/in/isham-rashik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theme/theme1.xml><?xml version="1.0" encoding="utf-8"?>
<a:theme xmlns:a="http://schemas.openxmlformats.org/drawingml/2006/main" name="Multi-Turn RL on SageMaker AI">
  <a:themeElements>
    <a:clrScheme name="Multi-Turn RL on SageMaker AI">
      <a:dk1>
        <a:srgbClr val="141413"/>
      </a:dk1>
      <a:lt1>
        <a:srgbClr val="FFFFFF"/>
      </a:lt1>
      <a:dk2>
        <a:srgbClr val="4F4F4E"/>
      </a:dk2>
      <a:lt2>
        <a:srgbClr val="E8E8E7"/>
      </a:lt2>
      <a:accent1>
        <a:srgbClr val="F09601"/>
      </a:accent1>
      <a:accent2>
        <a:srgbClr val="CF7322"/>
      </a:accent2>
      <a:accent3>
        <a:srgbClr val="FF9900"/>
      </a:accent3>
      <a:accent4>
        <a:srgbClr val="222836"/>
      </a:accent4>
      <a:accent5>
        <a:srgbClr val="D3D7E3"/>
      </a:accent5>
      <a:accent6>
        <a:srgbClr val="161E2D"/>
      </a:accent6>
      <a:hlink>
        <a:srgbClr val="0563C1"/>
      </a:hlink>
      <a:folHlink>
        <a:srgbClr val="954F72"/>
      </a:folHlink>
    </a:clrScheme>
    <a:fontScheme name="Multi-Turn RL on SageMaker AI">
      <a:majorFont>
        <a:latin typeface="Radio Canad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dio Canad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TotalTime>
  <Words>4340</Words>
  <Application>Microsoft Macintosh PowerPoint</Application>
  <PresentationFormat>Widescreen</PresentationFormat>
  <Paragraphs>452</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Poppins</vt:lpstr>
      <vt:lpstr>Radio Canada</vt:lpstr>
      <vt:lpstr>Multi-Turn RL on SageMaker AI</vt:lpstr>
      <vt:lpstr>Multi-Turn Reinforcement Learning on Amazon SageMaker</vt:lpstr>
      <vt:lpstr>Introduction to Reinforcement Learning</vt:lpstr>
      <vt:lpstr>Three ways machines learn</vt:lpstr>
      <vt:lpstr>Learning by trial and error</vt:lpstr>
      <vt:lpstr>The RL loop aka MDP – Markov Decision Process</vt:lpstr>
      <vt:lpstr>Why not just…?</vt:lpstr>
      <vt:lpstr>How RL shaped the LLMs you use</vt:lpstr>
      <vt:lpstr>Same loop, two famous models</vt:lpstr>
      <vt:lpstr>One answer vs a whole conversation</vt:lpstr>
      <vt:lpstr>Demo: RL meets SageMaker</vt:lpstr>
      <vt:lpstr>Meet our support agent</vt:lpstr>
      <vt:lpstr>Our support agent MDP</vt:lpstr>
      <vt:lpstr>The training loop on SageMaker</vt:lpstr>
      <vt:lpstr>1. The data</vt:lpstr>
      <vt:lpstr>2. The training loop</vt:lpstr>
      <vt:lpstr>3. One conversation</vt:lpstr>
      <vt:lpstr>4. The simulator</vt:lpstr>
      <vt:lpstr>5. The reward</vt:lpstr>
      <vt:lpstr>6. How it learns from 4 tries</vt:lpstr>
      <vt:lpstr>7. The Training results</vt:lpstr>
      <vt:lpstr>8. The test</vt:lpstr>
      <vt:lpstr>Not magic: ticket by ticket</vt:lpstr>
      <vt:lpstr>Would you trust the trained agent to complete this task?</vt:lpstr>
      <vt:lpstr>Where else could this work?</vt:lpstr>
      <vt:lpstr>Three things to remember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Multi-Turn RL on SageMaker AI</dc:title>
  <dc:subject/>
  <dc:creator/>
  <cp:lastModifiedBy>Isham Rashik</cp:lastModifiedBy>
  <cp:revision>15</cp:revision>
  <dcterms:created xsi:type="dcterms:W3CDTF">2026-10-02T15:13:42Z</dcterms:created>
  <dcterms:modified xsi:type="dcterms:W3CDTF">2026-10-03T09:46:56Z</dcterms:modified>
</cp:coreProperties>
</file>